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Canva Sans Bold" panose="020B0604020202020204" charset="0"/>
      <p:regular r:id="rId12"/>
    </p:embeddedFont>
    <p:embeddedFont>
      <p:font typeface="Poppins" panose="00000500000000000000" pitchFamily="2" charset="0"/>
      <p:regular r:id="rId13"/>
      <p:bold r:id="rId14"/>
      <p:italic r:id="rId15"/>
    </p:embeddedFont>
    <p:embeddedFont>
      <p:font typeface="Poppins Bold" panose="000008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80853" y="3892270"/>
            <a:ext cx="5028802" cy="6841907"/>
          </a:xfrm>
          <a:custGeom>
            <a:avLst/>
            <a:gdLst/>
            <a:ahLst/>
            <a:cxnLst/>
            <a:rect l="l" t="t" r="r" b="b"/>
            <a:pathLst>
              <a:path w="5028802" h="6841907">
                <a:moveTo>
                  <a:pt x="0" y="0"/>
                </a:moveTo>
                <a:lnTo>
                  <a:pt x="5028802" y="0"/>
                </a:lnTo>
                <a:lnTo>
                  <a:pt x="5028802" y="6841907"/>
                </a:lnTo>
                <a:lnTo>
                  <a:pt x="0" y="6841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521655" y="-447177"/>
            <a:ext cx="5028802" cy="6841907"/>
          </a:xfrm>
          <a:custGeom>
            <a:avLst/>
            <a:gdLst/>
            <a:ahLst/>
            <a:cxnLst/>
            <a:rect l="l" t="t" r="r" b="b"/>
            <a:pathLst>
              <a:path w="5028802" h="6841907">
                <a:moveTo>
                  <a:pt x="5028802" y="6841907"/>
                </a:moveTo>
                <a:lnTo>
                  <a:pt x="0" y="6841907"/>
                </a:lnTo>
                <a:lnTo>
                  <a:pt x="0" y="0"/>
                </a:lnTo>
                <a:lnTo>
                  <a:pt x="5028802" y="0"/>
                </a:lnTo>
                <a:lnTo>
                  <a:pt x="5028802" y="6841907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557004" y="1382928"/>
            <a:ext cx="9173992" cy="882128"/>
            <a:chOff x="0" y="0"/>
            <a:chExt cx="2416195" cy="2323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6195" cy="232330"/>
            </a:xfrm>
            <a:custGeom>
              <a:avLst/>
              <a:gdLst/>
              <a:ahLst/>
              <a:cxnLst/>
              <a:rect l="l" t="t" r="r" b="b"/>
              <a:pathLst>
                <a:path w="2416195" h="232330">
                  <a:moveTo>
                    <a:pt x="43039" y="0"/>
                  </a:moveTo>
                  <a:lnTo>
                    <a:pt x="2373157" y="0"/>
                  </a:lnTo>
                  <a:cubicBezTo>
                    <a:pt x="2396926" y="0"/>
                    <a:pt x="2416195" y="19269"/>
                    <a:pt x="2416195" y="43039"/>
                  </a:cubicBezTo>
                  <a:lnTo>
                    <a:pt x="2416195" y="189291"/>
                  </a:lnTo>
                  <a:cubicBezTo>
                    <a:pt x="2416195" y="213061"/>
                    <a:pt x="2396926" y="232330"/>
                    <a:pt x="2373157" y="232330"/>
                  </a:cubicBezTo>
                  <a:lnTo>
                    <a:pt x="43039" y="232330"/>
                  </a:lnTo>
                  <a:cubicBezTo>
                    <a:pt x="31624" y="232330"/>
                    <a:pt x="20677" y="227796"/>
                    <a:pt x="12606" y="219724"/>
                  </a:cubicBezTo>
                  <a:cubicBezTo>
                    <a:pt x="4534" y="211653"/>
                    <a:pt x="0" y="200706"/>
                    <a:pt x="0" y="189291"/>
                  </a:cubicBezTo>
                  <a:lnTo>
                    <a:pt x="0" y="43039"/>
                  </a:lnTo>
                  <a:cubicBezTo>
                    <a:pt x="0" y="31624"/>
                    <a:pt x="4534" y="20677"/>
                    <a:pt x="12606" y="12606"/>
                  </a:cubicBezTo>
                  <a:cubicBezTo>
                    <a:pt x="20677" y="4534"/>
                    <a:pt x="31624" y="0"/>
                    <a:pt x="43039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16195" cy="270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862497" y="5083354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0" y="0"/>
                </a:moveTo>
                <a:lnTo>
                  <a:pt x="5924848" y="0"/>
                </a:lnTo>
                <a:lnTo>
                  <a:pt x="5924848" y="5650823"/>
                </a:lnTo>
                <a:lnTo>
                  <a:pt x="0" y="56508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35337" y="3117850"/>
            <a:ext cx="15005467" cy="389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OPTIMASI ARSITEKTUR LONG SHORT-TERM MEMORY (LSTM) MENGGUNAKAN GATED RECURRENT UNIT (GRU) UNTUK ESTIMASI HARGA SAHAM</a:t>
            </a:r>
          </a:p>
        </p:txBody>
      </p:sp>
      <p:sp>
        <p:nvSpPr>
          <p:cNvPr id="11" name="Freeform 11"/>
          <p:cNvSpPr/>
          <p:nvPr/>
        </p:nvSpPr>
        <p:spPr>
          <a:xfrm flipH="1" flipV="1">
            <a:off x="13332830" y="-447177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5924848" y="5650823"/>
                </a:moveTo>
                <a:lnTo>
                  <a:pt x="0" y="5650823"/>
                </a:lnTo>
                <a:lnTo>
                  <a:pt x="0" y="0"/>
                </a:lnTo>
                <a:lnTo>
                  <a:pt x="5924848" y="0"/>
                </a:lnTo>
                <a:lnTo>
                  <a:pt x="5924848" y="56508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445432" y="7997825"/>
            <a:ext cx="9285564" cy="1596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0"/>
              </a:lnSpc>
            </a:pPr>
            <a:r>
              <a:rPr lang="en-US" sz="3429">
                <a:solidFill>
                  <a:srgbClr val="0D2A5B"/>
                </a:solidFill>
                <a:latin typeface="Poppins"/>
                <a:ea typeface="Poppins"/>
                <a:cs typeface="Poppins"/>
                <a:sym typeface="Poppins"/>
              </a:rPr>
              <a:t>Disusun Oleh: </a:t>
            </a:r>
          </a:p>
          <a:p>
            <a:pPr algn="ctr">
              <a:lnSpc>
                <a:spcPts val="4150"/>
              </a:lnSpc>
            </a:pPr>
            <a:r>
              <a:rPr lang="en-US" sz="3429" b="1">
                <a:solidFill>
                  <a:srgbClr val="0D2A5B"/>
                </a:solidFill>
                <a:latin typeface="Poppins Bold"/>
                <a:ea typeface="Poppins Bold"/>
                <a:cs typeface="Poppins Bold"/>
                <a:sym typeface="Poppins Bold"/>
              </a:rPr>
              <a:t>Adi Cahyono | 250605210001</a:t>
            </a:r>
          </a:p>
          <a:p>
            <a:pPr algn="ctr">
              <a:lnSpc>
                <a:spcPts val="4150"/>
              </a:lnSpc>
            </a:pPr>
            <a:r>
              <a:rPr lang="en-US" sz="3429" b="1">
                <a:solidFill>
                  <a:srgbClr val="0D2A5B"/>
                </a:solidFill>
                <a:latin typeface="Poppins Bold"/>
                <a:ea typeface="Poppins Bold"/>
                <a:cs typeface="Poppins Bold"/>
                <a:sym typeface="Poppins Bold"/>
              </a:rPr>
              <a:t>Magister Informatika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90892" y="1573447"/>
            <a:ext cx="7694357" cy="47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8"/>
              </a:lnSpc>
            </a:pPr>
            <a:r>
              <a:rPr lang="en-US" sz="2941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UIN MAULANA MALIK IBRAHIM MALANG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80853" y="3892270"/>
            <a:ext cx="5028802" cy="6841907"/>
          </a:xfrm>
          <a:custGeom>
            <a:avLst/>
            <a:gdLst/>
            <a:ahLst/>
            <a:cxnLst/>
            <a:rect l="l" t="t" r="r" b="b"/>
            <a:pathLst>
              <a:path w="5028802" h="6841907">
                <a:moveTo>
                  <a:pt x="0" y="0"/>
                </a:moveTo>
                <a:lnTo>
                  <a:pt x="5028802" y="0"/>
                </a:lnTo>
                <a:lnTo>
                  <a:pt x="5028802" y="6841907"/>
                </a:lnTo>
                <a:lnTo>
                  <a:pt x="0" y="6841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7881" y="1341243"/>
            <a:ext cx="12870479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3037207" y="-545917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5924848" y="5650824"/>
                </a:moveTo>
                <a:lnTo>
                  <a:pt x="0" y="5650824"/>
                </a:lnTo>
                <a:lnTo>
                  <a:pt x="0" y="0"/>
                </a:lnTo>
                <a:lnTo>
                  <a:pt x="5924848" y="0"/>
                </a:lnTo>
                <a:lnTo>
                  <a:pt x="5924848" y="5650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32667" y="473033"/>
            <a:ext cx="2222666" cy="555667"/>
          </a:xfrm>
          <a:custGeom>
            <a:avLst/>
            <a:gdLst/>
            <a:ahLst/>
            <a:cxnLst/>
            <a:rect l="l" t="t" r="r" b="b"/>
            <a:pathLst>
              <a:path w="2222666" h="555667">
                <a:moveTo>
                  <a:pt x="0" y="0"/>
                </a:moveTo>
                <a:lnTo>
                  <a:pt x="2222666" y="0"/>
                </a:lnTo>
                <a:lnTo>
                  <a:pt x="2222666" y="555667"/>
                </a:lnTo>
                <a:lnTo>
                  <a:pt x="0" y="555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128218" y="2792218"/>
            <a:ext cx="9817977" cy="5934614"/>
          </a:xfrm>
          <a:custGeom>
            <a:avLst/>
            <a:gdLst/>
            <a:ahLst/>
            <a:cxnLst/>
            <a:rect l="l" t="t" r="r" b="b"/>
            <a:pathLst>
              <a:path w="9817977" h="5934614">
                <a:moveTo>
                  <a:pt x="0" y="0"/>
                </a:moveTo>
                <a:lnTo>
                  <a:pt x="9817977" y="0"/>
                </a:lnTo>
                <a:lnTo>
                  <a:pt x="9817977" y="5934614"/>
                </a:lnTo>
                <a:lnTo>
                  <a:pt x="0" y="5934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756" r="-4703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-521655" y="7313224"/>
            <a:ext cx="4623371" cy="4114800"/>
          </a:xfrm>
          <a:custGeom>
            <a:avLst/>
            <a:gdLst/>
            <a:ahLst/>
            <a:cxnLst/>
            <a:rect l="l" t="t" r="r" b="b"/>
            <a:pathLst>
              <a:path w="4623371" h="4114800">
                <a:moveTo>
                  <a:pt x="4623371" y="0"/>
                </a:moveTo>
                <a:lnTo>
                  <a:pt x="0" y="0"/>
                </a:lnTo>
                <a:lnTo>
                  <a:pt x="0" y="4114800"/>
                </a:lnTo>
                <a:lnTo>
                  <a:pt x="4623371" y="4114800"/>
                </a:lnTo>
                <a:lnTo>
                  <a:pt x="462337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2725543"/>
            <a:ext cx="6679160" cy="613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Jumlah investor pasar modal Indonesia terus meningkat</a:t>
            </a:r>
          </a:p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Harga saham memiliki karakteristik non-linear dan time series</a:t>
            </a:r>
          </a:p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Prediksi harga saham menjadi tantangan karena volatilitas pasar</a:t>
            </a:r>
          </a:p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 menjadi pendekatan yang banyak digunakan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144268" y="2564646"/>
            <a:ext cx="13021377" cy="2121228"/>
            <a:chOff x="0" y="0"/>
            <a:chExt cx="3429498" cy="5586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29498" cy="558677"/>
            </a:xfrm>
            <a:custGeom>
              <a:avLst/>
              <a:gdLst/>
              <a:ahLst/>
              <a:cxnLst/>
              <a:rect l="l" t="t" r="r" b="b"/>
              <a:pathLst>
                <a:path w="3429498" h="558677">
                  <a:moveTo>
                    <a:pt x="30322" y="0"/>
                  </a:moveTo>
                  <a:lnTo>
                    <a:pt x="3399176" y="0"/>
                  </a:lnTo>
                  <a:cubicBezTo>
                    <a:pt x="3407218" y="0"/>
                    <a:pt x="3414931" y="3195"/>
                    <a:pt x="3420617" y="8881"/>
                  </a:cubicBezTo>
                  <a:cubicBezTo>
                    <a:pt x="3426304" y="14568"/>
                    <a:pt x="3429498" y="22280"/>
                    <a:pt x="3429498" y="30322"/>
                  </a:cubicBezTo>
                  <a:lnTo>
                    <a:pt x="3429498" y="528355"/>
                  </a:lnTo>
                  <a:cubicBezTo>
                    <a:pt x="3429498" y="536397"/>
                    <a:pt x="3426304" y="544110"/>
                    <a:pt x="3420617" y="549796"/>
                  </a:cubicBezTo>
                  <a:cubicBezTo>
                    <a:pt x="3414931" y="555483"/>
                    <a:pt x="3407218" y="558677"/>
                    <a:pt x="3399176" y="558677"/>
                  </a:cubicBezTo>
                  <a:lnTo>
                    <a:pt x="30322" y="558677"/>
                  </a:lnTo>
                  <a:cubicBezTo>
                    <a:pt x="22280" y="558677"/>
                    <a:pt x="14568" y="555483"/>
                    <a:pt x="8881" y="549796"/>
                  </a:cubicBezTo>
                  <a:cubicBezTo>
                    <a:pt x="3195" y="544110"/>
                    <a:pt x="0" y="536397"/>
                    <a:pt x="0" y="528355"/>
                  </a:cubicBezTo>
                  <a:lnTo>
                    <a:pt x="0" y="30322"/>
                  </a:lnTo>
                  <a:cubicBezTo>
                    <a:pt x="0" y="22280"/>
                    <a:pt x="3195" y="14568"/>
                    <a:pt x="8881" y="8881"/>
                  </a:cubicBezTo>
                  <a:cubicBezTo>
                    <a:pt x="14568" y="3195"/>
                    <a:pt x="22280" y="0"/>
                    <a:pt x="30322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429498" cy="596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64536" y="2912790"/>
            <a:ext cx="11580841" cy="139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0D2A5B"/>
                </a:solidFill>
                <a:latin typeface="Poppins"/>
                <a:ea typeface="Poppins"/>
                <a:cs typeface="Poppins"/>
                <a:sym typeface="Poppins"/>
              </a:rPr>
              <a:t>Bagaimana kinerja arsitektur Long Short-Term Memory (LSTM) dalam melakukan prediksi harga saham berdasarkan data historis?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3037207" y="-545917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5924848" y="5650824"/>
                </a:moveTo>
                <a:lnTo>
                  <a:pt x="0" y="5650824"/>
                </a:lnTo>
                <a:lnTo>
                  <a:pt x="0" y="0"/>
                </a:lnTo>
                <a:lnTo>
                  <a:pt x="5924848" y="0"/>
                </a:lnTo>
                <a:lnTo>
                  <a:pt x="5924848" y="5650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818156" y="5646612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0" y="0"/>
                </a:moveTo>
                <a:lnTo>
                  <a:pt x="5924848" y="0"/>
                </a:lnTo>
                <a:lnTo>
                  <a:pt x="5924848" y="5650824"/>
                </a:lnTo>
                <a:lnTo>
                  <a:pt x="0" y="56508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787245" y="5263327"/>
            <a:ext cx="13021377" cy="2121228"/>
            <a:chOff x="0" y="0"/>
            <a:chExt cx="3429498" cy="5586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429498" cy="558677"/>
            </a:xfrm>
            <a:custGeom>
              <a:avLst/>
              <a:gdLst/>
              <a:ahLst/>
              <a:cxnLst/>
              <a:rect l="l" t="t" r="r" b="b"/>
              <a:pathLst>
                <a:path w="3429498" h="558677">
                  <a:moveTo>
                    <a:pt x="30322" y="0"/>
                  </a:moveTo>
                  <a:lnTo>
                    <a:pt x="3399176" y="0"/>
                  </a:lnTo>
                  <a:cubicBezTo>
                    <a:pt x="3407218" y="0"/>
                    <a:pt x="3414931" y="3195"/>
                    <a:pt x="3420617" y="8881"/>
                  </a:cubicBezTo>
                  <a:cubicBezTo>
                    <a:pt x="3426304" y="14568"/>
                    <a:pt x="3429498" y="22280"/>
                    <a:pt x="3429498" y="30322"/>
                  </a:cubicBezTo>
                  <a:lnTo>
                    <a:pt x="3429498" y="528355"/>
                  </a:lnTo>
                  <a:cubicBezTo>
                    <a:pt x="3429498" y="536397"/>
                    <a:pt x="3426304" y="544110"/>
                    <a:pt x="3420617" y="549796"/>
                  </a:cubicBezTo>
                  <a:cubicBezTo>
                    <a:pt x="3414931" y="555483"/>
                    <a:pt x="3407218" y="558677"/>
                    <a:pt x="3399176" y="558677"/>
                  </a:cubicBezTo>
                  <a:lnTo>
                    <a:pt x="30322" y="558677"/>
                  </a:lnTo>
                  <a:cubicBezTo>
                    <a:pt x="22280" y="558677"/>
                    <a:pt x="14568" y="555483"/>
                    <a:pt x="8881" y="549796"/>
                  </a:cubicBezTo>
                  <a:cubicBezTo>
                    <a:pt x="3195" y="544110"/>
                    <a:pt x="0" y="536397"/>
                    <a:pt x="0" y="528355"/>
                  </a:cubicBezTo>
                  <a:lnTo>
                    <a:pt x="0" y="30322"/>
                  </a:lnTo>
                  <a:cubicBezTo>
                    <a:pt x="0" y="22280"/>
                    <a:pt x="3195" y="14568"/>
                    <a:pt x="8881" y="8881"/>
                  </a:cubicBezTo>
                  <a:cubicBezTo>
                    <a:pt x="14568" y="3195"/>
                    <a:pt x="22280" y="0"/>
                    <a:pt x="30322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429498" cy="596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16239" y="5672178"/>
            <a:ext cx="11963388" cy="139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0D2A5B"/>
                </a:solidFill>
                <a:latin typeface="Poppins"/>
                <a:ea typeface="Poppins"/>
                <a:cs typeface="Poppins"/>
                <a:sym typeface="Poppins"/>
              </a:rPr>
              <a:t>Bagaimana mengoptimalkan arsitektur Long Short-Term Memory (LSTM) menggunakan Gated Recurrent Unit (GRU) untuk prediksi harga saham?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66551" y="1987192"/>
            <a:ext cx="997985" cy="1154907"/>
            <a:chOff x="0" y="0"/>
            <a:chExt cx="262844" cy="3041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2844" cy="304173"/>
            </a:xfrm>
            <a:custGeom>
              <a:avLst/>
              <a:gdLst/>
              <a:ahLst/>
              <a:cxnLst/>
              <a:rect l="l" t="t" r="r" b="b"/>
              <a:pathLst>
                <a:path w="262844" h="304173">
                  <a:moveTo>
                    <a:pt x="131422" y="0"/>
                  </a:moveTo>
                  <a:lnTo>
                    <a:pt x="131422" y="0"/>
                  </a:lnTo>
                  <a:cubicBezTo>
                    <a:pt x="166277" y="0"/>
                    <a:pt x="199705" y="13846"/>
                    <a:pt x="224351" y="38493"/>
                  </a:cubicBezTo>
                  <a:cubicBezTo>
                    <a:pt x="248997" y="63139"/>
                    <a:pt x="262844" y="96567"/>
                    <a:pt x="262844" y="131422"/>
                  </a:cubicBezTo>
                  <a:lnTo>
                    <a:pt x="262844" y="172751"/>
                  </a:lnTo>
                  <a:cubicBezTo>
                    <a:pt x="262844" y="207606"/>
                    <a:pt x="248997" y="241034"/>
                    <a:pt x="224351" y="265680"/>
                  </a:cubicBezTo>
                  <a:cubicBezTo>
                    <a:pt x="199705" y="290327"/>
                    <a:pt x="166277" y="304173"/>
                    <a:pt x="131422" y="304173"/>
                  </a:cubicBezTo>
                  <a:lnTo>
                    <a:pt x="131422" y="304173"/>
                  </a:lnTo>
                  <a:cubicBezTo>
                    <a:pt x="58840" y="304173"/>
                    <a:pt x="0" y="245333"/>
                    <a:pt x="0" y="172751"/>
                  </a:cubicBezTo>
                  <a:lnTo>
                    <a:pt x="0" y="131422"/>
                  </a:lnTo>
                  <a:cubicBezTo>
                    <a:pt x="0" y="58840"/>
                    <a:pt x="58840" y="0"/>
                    <a:pt x="131422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2844" cy="342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39003" y="866775"/>
            <a:ext cx="14009994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RUMUSAN MASALAH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6088354" y="4685873"/>
            <a:ext cx="997985" cy="1154907"/>
            <a:chOff x="0" y="0"/>
            <a:chExt cx="262844" cy="3041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2844" cy="304173"/>
            </a:xfrm>
            <a:custGeom>
              <a:avLst/>
              <a:gdLst/>
              <a:ahLst/>
              <a:cxnLst/>
              <a:rect l="l" t="t" r="r" b="b"/>
              <a:pathLst>
                <a:path w="262844" h="304173">
                  <a:moveTo>
                    <a:pt x="131422" y="0"/>
                  </a:moveTo>
                  <a:lnTo>
                    <a:pt x="131422" y="0"/>
                  </a:lnTo>
                  <a:cubicBezTo>
                    <a:pt x="166277" y="0"/>
                    <a:pt x="199705" y="13846"/>
                    <a:pt x="224351" y="38493"/>
                  </a:cubicBezTo>
                  <a:cubicBezTo>
                    <a:pt x="248997" y="63139"/>
                    <a:pt x="262844" y="96567"/>
                    <a:pt x="262844" y="131422"/>
                  </a:cubicBezTo>
                  <a:lnTo>
                    <a:pt x="262844" y="172751"/>
                  </a:lnTo>
                  <a:cubicBezTo>
                    <a:pt x="262844" y="207606"/>
                    <a:pt x="248997" y="241034"/>
                    <a:pt x="224351" y="265680"/>
                  </a:cubicBezTo>
                  <a:cubicBezTo>
                    <a:pt x="199705" y="290327"/>
                    <a:pt x="166277" y="304173"/>
                    <a:pt x="131422" y="304173"/>
                  </a:cubicBezTo>
                  <a:lnTo>
                    <a:pt x="131422" y="304173"/>
                  </a:lnTo>
                  <a:cubicBezTo>
                    <a:pt x="58840" y="304173"/>
                    <a:pt x="0" y="245333"/>
                    <a:pt x="0" y="172751"/>
                  </a:cubicBezTo>
                  <a:lnTo>
                    <a:pt x="0" y="131422"/>
                  </a:lnTo>
                  <a:cubicBezTo>
                    <a:pt x="0" y="58840"/>
                    <a:pt x="58840" y="0"/>
                    <a:pt x="131422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62844" cy="342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14263" y="2038485"/>
            <a:ext cx="702561" cy="9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8"/>
              </a:lnSpc>
            </a:pPr>
            <a:r>
              <a:rPr lang="en-US" sz="50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236065" y="4737167"/>
            <a:ext cx="702561" cy="9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8"/>
              </a:lnSpc>
            </a:pPr>
            <a:r>
              <a:rPr lang="en-US" sz="50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16824" y="7700137"/>
            <a:ext cx="13021377" cy="2121228"/>
            <a:chOff x="0" y="0"/>
            <a:chExt cx="3429498" cy="55867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29498" cy="558677"/>
            </a:xfrm>
            <a:custGeom>
              <a:avLst/>
              <a:gdLst/>
              <a:ahLst/>
              <a:cxnLst/>
              <a:rect l="l" t="t" r="r" b="b"/>
              <a:pathLst>
                <a:path w="3429498" h="558677">
                  <a:moveTo>
                    <a:pt x="30322" y="0"/>
                  </a:moveTo>
                  <a:lnTo>
                    <a:pt x="3399176" y="0"/>
                  </a:lnTo>
                  <a:cubicBezTo>
                    <a:pt x="3407218" y="0"/>
                    <a:pt x="3414931" y="3195"/>
                    <a:pt x="3420617" y="8881"/>
                  </a:cubicBezTo>
                  <a:cubicBezTo>
                    <a:pt x="3426304" y="14568"/>
                    <a:pt x="3429498" y="22280"/>
                    <a:pt x="3429498" y="30322"/>
                  </a:cubicBezTo>
                  <a:lnTo>
                    <a:pt x="3429498" y="528355"/>
                  </a:lnTo>
                  <a:cubicBezTo>
                    <a:pt x="3429498" y="536397"/>
                    <a:pt x="3426304" y="544110"/>
                    <a:pt x="3420617" y="549796"/>
                  </a:cubicBezTo>
                  <a:cubicBezTo>
                    <a:pt x="3414931" y="555483"/>
                    <a:pt x="3407218" y="558677"/>
                    <a:pt x="3399176" y="558677"/>
                  </a:cubicBezTo>
                  <a:lnTo>
                    <a:pt x="30322" y="558677"/>
                  </a:lnTo>
                  <a:cubicBezTo>
                    <a:pt x="22280" y="558677"/>
                    <a:pt x="14568" y="555483"/>
                    <a:pt x="8881" y="549796"/>
                  </a:cubicBezTo>
                  <a:cubicBezTo>
                    <a:pt x="3195" y="544110"/>
                    <a:pt x="0" y="536397"/>
                    <a:pt x="0" y="528355"/>
                  </a:cubicBezTo>
                  <a:lnTo>
                    <a:pt x="0" y="30322"/>
                  </a:lnTo>
                  <a:cubicBezTo>
                    <a:pt x="0" y="22280"/>
                    <a:pt x="3195" y="14568"/>
                    <a:pt x="8881" y="8881"/>
                  </a:cubicBezTo>
                  <a:cubicBezTo>
                    <a:pt x="14568" y="3195"/>
                    <a:pt x="22280" y="0"/>
                    <a:pt x="30322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429498" cy="596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45819" y="7794130"/>
            <a:ext cx="11963388" cy="1853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9"/>
              </a:lnSpc>
            </a:pPr>
            <a:r>
              <a:rPr lang="en-US" sz="3000">
                <a:solidFill>
                  <a:srgbClr val="0D2A5B"/>
                </a:solidFill>
                <a:latin typeface="Poppins"/>
                <a:ea typeface="Poppins"/>
                <a:cs typeface="Poppins"/>
                <a:sym typeface="Poppins"/>
              </a:rPr>
              <a:t>Bagaimana menganalisa kinerja model hasil optimasi arsitektur LSTM menggunakan GRU dibandingkan dengan model LSTM sebelum optimasi berdasarkan metrik evaluasi MAE, RMSE, dan MAPE?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365544" y="7245251"/>
            <a:ext cx="997985" cy="1154907"/>
            <a:chOff x="0" y="0"/>
            <a:chExt cx="262844" cy="3041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2844" cy="304173"/>
            </a:xfrm>
            <a:custGeom>
              <a:avLst/>
              <a:gdLst/>
              <a:ahLst/>
              <a:cxnLst/>
              <a:rect l="l" t="t" r="r" b="b"/>
              <a:pathLst>
                <a:path w="262844" h="304173">
                  <a:moveTo>
                    <a:pt x="131422" y="0"/>
                  </a:moveTo>
                  <a:lnTo>
                    <a:pt x="131422" y="0"/>
                  </a:lnTo>
                  <a:cubicBezTo>
                    <a:pt x="166277" y="0"/>
                    <a:pt x="199705" y="13846"/>
                    <a:pt x="224351" y="38493"/>
                  </a:cubicBezTo>
                  <a:cubicBezTo>
                    <a:pt x="248997" y="63139"/>
                    <a:pt x="262844" y="96567"/>
                    <a:pt x="262844" y="131422"/>
                  </a:cubicBezTo>
                  <a:lnTo>
                    <a:pt x="262844" y="172751"/>
                  </a:lnTo>
                  <a:cubicBezTo>
                    <a:pt x="262844" y="207606"/>
                    <a:pt x="248997" y="241034"/>
                    <a:pt x="224351" y="265680"/>
                  </a:cubicBezTo>
                  <a:cubicBezTo>
                    <a:pt x="199705" y="290327"/>
                    <a:pt x="166277" y="304173"/>
                    <a:pt x="131422" y="304173"/>
                  </a:cubicBezTo>
                  <a:lnTo>
                    <a:pt x="131422" y="304173"/>
                  </a:lnTo>
                  <a:cubicBezTo>
                    <a:pt x="58840" y="304173"/>
                    <a:pt x="0" y="245333"/>
                    <a:pt x="0" y="172751"/>
                  </a:cubicBezTo>
                  <a:lnTo>
                    <a:pt x="0" y="131422"/>
                  </a:lnTo>
                  <a:cubicBezTo>
                    <a:pt x="0" y="58840"/>
                    <a:pt x="58840" y="0"/>
                    <a:pt x="131422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62844" cy="342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13255" y="7296545"/>
            <a:ext cx="702561" cy="90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8"/>
              </a:lnSpc>
            </a:pPr>
            <a:r>
              <a:rPr lang="en-US" sz="50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7703" y="668338"/>
            <a:ext cx="15212594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PENELITIAN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820574"/>
            <a:ext cx="9708862" cy="1864131"/>
            <a:chOff x="0" y="0"/>
            <a:chExt cx="2557067" cy="4909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57067" cy="490964"/>
            </a:xfrm>
            <a:custGeom>
              <a:avLst/>
              <a:gdLst/>
              <a:ahLst/>
              <a:cxnLst/>
              <a:rect l="l" t="t" r="r" b="b"/>
              <a:pathLst>
                <a:path w="2557067" h="490964">
                  <a:moveTo>
                    <a:pt x="40668" y="0"/>
                  </a:moveTo>
                  <a:lnTo>
                    <a:pt x="2516399" y="0"/>
                  </a:lnTo>
                  <a:cubicBezTo>
                    <a:pt x="2538859" y="0"/>
                    <a:pt x="2557067" y="18208"/>
                    <a:pt x="2557067" y="40668"/>
                  </a:cubicBezTo>
                  <a:lnTo>
                    <a:pt x="2557067" y="450297"/>
                  </a:lnTo>
                  <a:cubicBezTo>
                    <a:pt x="2557067" y="461082"/>
                    <a:pt x="2552782" y="471426"/>
                    <a:pt x="2545155" y="479053"/>
                  </a:cubicBezTo>
                  <a:cubicBezTo>
                    <a:pt x="2537529" y="486680"/>
                    <a:pt x="2527185" y="490964"/>
                    <a:pt x="2516399" y="490964"/>
                  </a:cubicBezTo>
                  <a:lnTo>
                    <a:pt x="40668" y="490964"/>
                  </a:lnTo>
                  <a:cubicBezTo>
                    <a:pt x="29882" y="490964"/>
                    <a:pt x="19538" y="486680"/>
                    <a:pt x="11911" y="479053"/>
                  </a:cubicBezTo>
                  <a:cubicBezTo>
                    <a:pt x="4285" y="471426"/>
                    <a:pt x="0" y="461082"/>
                    <a:pt x="0" y="450297"/>
                  </a:cubicBezTo>
                  <a:lnTo>
                    <a:pt x="0" y="40668"/>
                  </a:lnTo>
                  <a:cubicBezTo>
                    <a:pt x="0" y="29882"/>
                    <a:pt x="4285" y="19538"/>
                    <a:pt x="11911" y="11911"/>
                  </a:cubicBezTo>
                  <a:cubicBezTo>
                    <a:pt x="19538" y="4285"/>
                    <a:pt x="29882" y="0"/>
                    <a:pt x="40668" y="0"/>
                  </a:cubicBezTo>
                  <a:close/>
                </a:path>
              </a:pathLst>
            </a:custGeom>
            <a:solidFill>
              <a:srgbClr val="0D2A5B"/>
            </a:solidFill>
            <a:ln w="85725" cap="rnd">
              <a:solidFill>
                <a:srgbClr val="FBB03B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57067" cy="52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9315" y="2111850"/>
            <a:ext cx="8987632" cy="1739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1Menganalisis kinerja arsitektur Long Short-Term Memory (LSTM) dalam melakukan prediksi harga saham berdasarkan data historis.</a:t>
            </a:r>
          </a:p>
          <a:p>
            <a:pPr algn="ctr">
              <a:lnSpc>
                <a:spcPts val="3387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1078239" y="2161916"/>
            <a:ext cx="5944272" cy="1228620"/>
            <a:chOff x="0" y="0"/>
            <a:chExt cx="1565570" cy="3235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5570" cy="323587"/>
            </a:xfrm>
            <a:custGeom>
              <a:avLst/>
              <a:gdLst/>
              <a:ahLst/>
              <a:cxnLst/>
              <a:rect l="l" t="t" r="r" b="b"/>
              <a:pathLst>
                <a:path w="1565570" h="323587">
                  <a:moveTo>
                    <a:pt x="66423" y="0"/>
                  </a:moveTo>
                  <a:lnTo>
                    <a:pt x="1499146" y="0"/>
                  </a:lnTo>
                  <a:cubicBezTo>
                    <a:pt x="1516763" y="0"/>
                    <a:pt x="1533658" y="6998"/>
                    <a:pt x="1546115" y="19455"/>
                  </a:cubicBezTo>
                  <a:cubicBezTo>
                    <a:pt x="1558572" y="31912"/>
                    <a:pt x="1565570" y="48807"/>
                    <a:pt x="1565570" y="66423"/>
                  </a:cubicBezTo>
                  <a:lnTo>
                    <a:pt x="1565570" y="257164"/>
                  </a:lnTo>
                  <a:cubicBezTo>
                    <a:pt x="1565570" y="274780"/>
                    <a:pt x="1558572" y="291675"/>
                    <a:pt x="1546115" y="304132"/>
                  </a:cubicBezTo>
                  <a:cubicBezTo>
                    <a:pt x="1533658" y="316589"/>
                    <a:pt x="1516763" y="323587"/>
                    <a:pt x="1499146" y="323587"/>
                  </a:cubicBezTo>
                  <a:lnTo>
                    <a:pt x="66423" y="323587"/>
                  </a:lnTo>
                  <a:cubicBezTo>
                    <a:pt x="29739" y="323587"/>
                    <a:pt x="0" y="293848"/>
                    <a:pt x="0" y="257164"/>
                  </a:cubicBezTo>
                  <a:lnTo>
                    <a:pt x="0" y="66423"/>
                  </a:lnTo>
                  <a:cubicBezTo>
                    <a:pt x="0" y="29739"/>
                    <a:pt x="29739" y="0"/>
                    <a:pt x="66423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565570" cy="36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29116" y="2216206"/>
            <a:ext cx="5089283" cy="108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6753" b="1">
                <a:solidFill>
                  <a:srgbClr val="0D2A5B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1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61771" y="2482058"/>
            <a:ext cx="982520" cy="588336"/>
            <a:chOff x="0" y="0"/>
            <a:chExt cx="258771" cy="1549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8771" cy="154953"/>
            </a:xfrm>
            <a:custGeom>
              <a:avLst/>
              <a:gdLst/>
              <a:ahLst/>
              <a:cxnLst/>
              <a:rect l="l" t="t" r="r" b="b"/>
              <a:pathLst>
                <a:path w="258771" h="154953">
                  <a:moveTo>
                    <a:pt x="77476" y="0"/>
                  </a:moveTo>
                  <a:lnTo>
                    <a:pt x="181294" y="0"/>
                  </a:lnTo>
                  <a:cubicBezTo>
                    <a:pt x="224083" y="0"/>
                    <a:pt x="258771" y="34687"/>
                    <a:pt x="258771" y="77476"/>
                  </a:cubicBezTo>
                  <a:lnTo>
                    <a:pt x="258771" y="77476"/>
                  </a:lnTo>
                  <a:cubicBezTo>
                    <a:pt x="258771" y="98024"/>
                    <a:pt x="250608" y="117731"/>
                    <a:pt x="236078" y="132260"/>
                  </a:cubicBezTo>
                  <a:cubicBezTo>
                    <a:pt x="221549" y="146790"/>
                    <a:pt x="201842" y="154953"/>
                    <a:pt x="181294" y="154953"/>
                  </a:cubicBezTo>
                  <a:lnTo>
                    <a:pt x="77476" y="154953"/>
                  </a:lnTo>
                  <a:cubicBezTo>
                    <a:pt x="34687" y="154953"/>
                    <a:pt x="0" y="120265"/>
                    <a:pt x="0" y="77476"/>
                  </a:cubicBezTo>
                  <a:lnTo>
                    <a:pt x="0" y="77476"/>
                  </a:lnTo>
                  <a:cubicBezTo>
                    <a:pt x="0" y="34687"/>
                    <a:pt x="34687" y="0"/>
                    <a:pt x="77476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58771" cy="193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4225730"/>
            <a:ext cx="9708862" cy="1864131"/>
            <a:chOff x="0" y="0"/>
            <a:chExt cx="2557067" cy="4909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57067" cy="490964"/>
            </a:xfrm>
            <a:custGeom>
              <a:avLst/>
              <a:gdLst/>
              <a:ahLst/>
              <a:cxnLst/>
              <a:rect l="l" t="t" r="r" b="b"/>
              <a:pathLst>
                <a:path w="2557067" h="490964">
                  <a:moveTo>
                    <a:pt x="40668" y="0"/>
                  </a:moveTo>
                  <a:lnTo>
                    <a:pt x="2516399" y="0"/>
                  </a:lnTo>
                  <a:cubicBezTo>
                    <a:pt x="2538859" y="0"/>
                    <a:pt x="2557067" y="18208"/>
                    <a:pt x="2557067" y="40668"/>
                  </a:cubicBezTo>
                  <a:lnTo>
                    <a:pt x="2557067" y="450297"/>
                  </a:lnTo>
                  <a:cubicBezTo>
                    <a:pt x="2557067" y="461082"/>
                    <a:pt x="2552782" y="471426"/>
                    <a:pt x="2545155" y="479053"/>
                  </a:cubicBezTo>
                  <a:cubicBezTo>
                    <a:pt x="2537529" y="486680"/>
                    <a:pt x="2527185" y="490964"/>
                    <a:pt x="2516399" y="490964"/>
                  </a:cubicBezTo>
                  <a:lnTo>
                    <a:pt x="40668" y="490964"/>
                  </a:lnTo>
                  <a:cubicBezTo>
                    <a:pt x="29882" y="490964"/>
                    <a:pt x="19538" y="486680"/>
                    <a:pt x="11911" y="479053"/>
                  </a:cubicBezTo>
                  <a:cubicBezTo>
                    <a:pt x="4285" y="471426"/>
                    <a:pt x="0" y="461082"/>
                    <a:pt x="0" y="450297"/>
                  </a:cubicBezTo>
                  <a:lnTo>
                    <a:pt x="0" y="40668"/>
                  </a:lnTo>
                  <a:cubicBezTo>
                    <a:pt x="0" y="29882"/>
                    <a:pt x="4285" y="19538"/>
                    <a:pt x="11911" y="11911"/>
                  </a:cubicBezTo>
                  <a:cubicBezTo>
                    <a:pt x="19538" y="4285"/>
                    <a:pt x="29882" y="0"/>
                    <a:pt x="40668" y="0"/>
                  </a:cubicBezTo>
                  <a:close/>
                </a:path>
              </a:pathLst>
            </a:custGeom>
            <a:solidFill>
              <a:srgbClr val="0D2A5B"/>
            </a:solidFill>
            <a:ln w="85725" cap="rnd">
              <a:solidFill>
                <a:srgbClr val="FBB03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557067" cy="5290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89315" y="4517006"/>
            <a:ext cx="8987632" cy="1739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1Mengembangkan model optimasi arsitektur Long Short-Term Memory (LSTM) menggunakan Gated Recurrent Unit (GRU) untuk prediksi harga saham.</a:t>
            </a:r>
          </a:p>
          <a:p>
            <a:pPr algn="ctr">
              <a:lnSpc>
                <a:spcPts val="3387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078239" y="4529190"/>
            <a:ext cx="5944272" cy="1228620"/>
            <a:chOff x="0" y="0"/>
            <a:chExt cx="1565570" cy="3235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5570" cy="323587"/>
            </a:xfrm>
            <a:custGeom>
              <a:avLst/>
              <a:gdLst/>
              <a:ahLst/>
              <a:cxnLst/>
              <a:rect l="l" t="t" r="r" b="b"/>
              <a:pathLst>
                <a:path w="1565570" h="323587">
                  <a:moveTo>
                    <a:pt x="66423" y="0"/>
                  </a:moveTo>
                  <a:lnTo>
                    <a:pt x="1499146" y="0"/>
                  </a:lnTo>
                  <a:cubicBezTo>
                    <a:pt x="1516763" y="0"/>
                    <a:pt x="1533658" y="6998"/>
                    <a:pt x="1546115" y="19455"/>
                  </a:cubicBezTo>
                  <a:cubicBezTo>
                    <a:pt x="1558572" y="31912"/>
                    <a:pt x="1565570" y="48807"/>
                    <a:pt x="1565570" y="66423"/>
                  </a:cubicBezTo>
                  <a:lnTo>
                    <a:pt x="1565570" y="257164"/>
                  </a:lnTo>
                  <a:cubicBezTo>
                    <a:pt x="1565570" y="274780"/>
                    <a:pt x="1558572" y="291675"/>
                    <a:pt x="1546115" y="304132"/>
                  </a:cubicBezTo>
                  <a:cubicBezTo>
                    <a:pt x="1533658" y="316589"/>
                    <a:pt x="1516763" y="323587"/>
                    <a:pt x="1499146" y="323587"/>
                  </a:cubicBezTo>
                  <a:lnTo>
                    <a:pt x="66423" y="323587"/>
                  </a:lnTo>
                  <a:cubicBezTo>
                    <a:pt x="29739" y="323587"/>
                    <a:pt x="0" y="293848"/>
                    <a:pt x="0" y="257164"/>
                  </a:cubicBezTo>
                  <a:lnTo>
                    <a:pt x="0" y="66423"/>
                  </a:lnTo>
                  <a:cubicBezTo>
                    <a:pt x="0" y="29739"/>
                    <a:pt x="29739" y="0"/>
                    <a:pt x="66423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65570" cy="36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29116" y="4583480"/>
            <a:ext cx="5089283" cy="108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6753" b="1">
                <a:solidFill>
                  <a:srgbClr val="0D2A5B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2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461771" y="4849332"/>
            <a:ext cx="982520" cy="588336"/>
            <a:chOff x="0" y="0"/>
            <a:chExt cx="258771" cy="1549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8771" cy="154953"/>
            </a:xfrm>
            <a:custGeom>
              <a:avLst/>
              <a:gdLst/>
              <a:ahLst/>
              <a:cxnLst/>
              <a:rect l="l" t="t" r="r" b="b"/>
              <a:pathLst>
                <a:path w="258771" h="154953">
                  <a:moveTo>
                    <a:pt x="77476" y="0"/>
                  </a:moveTo>
                  <a:lnTo>
                    <a:pt x="181294" y="0"/>
                  </a:lnTo>
                  <a:cubicBezTo>
                    <a:pt x="224083" y="0"/>
                    <a:pt x="258771" y="34687"/>
                    <a:pt x="258771" y="77476"/>
                  </a:cubicBezTo>
                  <a:lnTo>
                    <a:pt x="258771" y="77476"/>
                  </a:lnTo>
                  <a:cubicBezTo>
                    <a:pt x="258771" y="98024"/>
                    <a:pt x="250608" y="117731"/>
                    <a:pt x="236078" y="132260"/>
                  </a:cubicBezTo>
                  <a:cubicBezTo>
                    <a:pt x="221549" y="146790"/>
                    <a:pt x="201842" y="154953"/>
                    <a:pt x="181294" y="154953"/>
                  </a:cubicBezTo>
                  <a:lnTo>
                    <a:pt x="77476" y="154953"/>
                  </a:lnTo>
                  <a:cubicBezTo>
                    <a:pt x="34687" y="154953"/>
                    <a:pt x="0" y="120265"/>
                    <a:pt x="0" y="77476"/>
                  </a:cubicBezTo>
                  <a:lnTo>
                    <a:pt x="0" y="77476"/>
                  </a:lnTo>
                  <a:cubicBezTo>
                    <a:pt x="0" y="34687"/>
                    <a:pt x="34687" y="0"/>
                    <a:pt x="77476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58771" cy="193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799450"/>
            <a:ext cx="9708862" cy="2499641"/>
            <a:chOff x="0" y="0"/>
            <a:chExt cx="2557067" cy="6583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57067" cy="658342"/>
            </a:xfrm>
            <a:custGeom>
              <a:avLst/>
              <a:gdLst/>
              <a:ahLst/>
              <a:cxnLst/>
              <a:rect l="l" t="t" r="r" b="b"/>
              <a:pathLst>
                <a:path w="2557067" h="658342">
                  <a:moveTo>
                    <a:pt x="40668" y="0"/>
                  </a:moveTo>
                  <a:lnTo>
                    <a:pt x="2516399" y="0"/>
                  </a:lnTo>
                  <a:cubicBezTo>
                    <a:pt x="2538859" y="0"/>
                    <a:pt x="2557067" y="18208"/>
                    <a:pt x="2557067" y="40668"/>
                  </a:cubicBezTo>
                  <a:lnTo>
                    <a:pt x="2557067" y="617674"/>
                  </a:lnTo>
                  <a:cubicBezTo>
                    <a:pt x="2557067" y="628460"/>
                    <a:pt x="2552782" y="638804"/>
                    <a:pt x="2545155" y="646430"/>
                  </a:cubicBezTo>
                  <a:cubicBezTo>
                    <a:pt x="2537529" y="654057"/>
                    <a:pt x="2527185" y="658342"/>
                    <a:pt x="2516399" y="658342"/>
                  </a:cubicBezTo>
                  <a:lnTo>
                    <a:pt x="40668" y="658342"/>
                  </a:lnTo>
                  <a:cubicBezTo>
                    <a:pt x="29882" y="658342"/>
                    <a:pt x="19538" y="654057"/>
                    <a:pt x="11911" y="646430"/>
                  </a:cubicBezTo>
                  <a:cubicBezTo>
                    <a:pt x="4285" y="638804"/>
                    <a:pt x="0" y="628460"/>
                    <a:pt x="0" y="617674"/>
                  </a:cubicBezTo>
                  <a:lnTo>
                    <a:pt x="0" y="40668"/>
                  </a:lnTo>
                  <a:cubicBezTo>
                    <a:pt x="0" y="29882"/>
                    <a:pt x="4285" y="19538"/>
                    <a:pt x="11911" y="11911"/>
                  </a:cubicBezTo>
                  <a:cubicBezTo>
                    <a:pt x="19538" y="4285"/>
                    <a:pt x="29882" y="0"/>
                    <a:pt x="40668" y="0"/>
                  </a:cubicBezTo>
                  <a:close/>
                </a:path>
              </a:pathLst>
            </a:custGeom>
            <a:solidFill>
              <a:srgbClr val="0D2A5B"/>
            </a:solidFill>
            <a:ln w="85725" cap="rnd">
              <a:solidFill>
                <a:srgbClr val="FBB03B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57067" cy="696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89315" y="7090726"/>
            <a:ext cx="8987632" cy="216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1Menganalisis kinerja model hasil optimasi arsitektur LSTM menggunakan GRU dibandingkan dengan model LSTM sebelum optimasi berdasarkan metrik evaluasi MAE, RMSE, dan MAPE.</a:t>
            </a:r>
          </a:p>
          <a:p>
            <a:pPr algn="ctr">
              <a:lnSpc>
                <a:spcPts val="3387"/>
              </a:lnSpc>
            </a:pPr>
            <a:endParaRPr lang="en-US" sz="27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11101622" y="7434961"/>
            <a:ext cx="5944272" cy="1228620"/>
            <a:chOff x="0" y="0"/>
            <a:chExt cx="1565570" cy="32358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65570" cy="323587"/>
            </a:xfrm>
            <a:custGeom>
              <a:avLst/>
              <a:gdLst/>
              <a:ahLst/>
              <a:cxnLst/>
              <a:rect l="l" t="t" r="r" b="b"/>
              <a:pathLst>
                <a:path w="1565570" h="323587">
                  <a:moveTo>
                    <a:pt x="66423" y="0"/>
                  </a:moveTo>
                  <a:lnTo>
                    <a:pt x="1499146" y="0"/>
                  </a:lnTo>
                  <a:cubicBezTo>
                    <a:pt x="1516763" y="0"/>
                    <a:pt x="1533658" y="6998"/>
                    <a:pt x="1546115" y="19455"/>
                  </a:cubicBezTo>
                  <a:cubicBezTo>
                    <a:pt x="1558572" y="31912"/>
                    <a:pt x="1565570" y="48807"/>
                    <a:pt x="1565570" y="66423"/>
                  </a:cubicBezTo>
                  <a:lnTo>
                    <a:pt x="1565570" y="257164"/>
                  </a:lnTo>
                  <a:cubicBezTo>
                    <a:pt x="1565570" y="274780"/>
                    <a:pt x="1558572" y="291675"/>
                    <a:pt x="1546115" y="304132"/>
                  </a:cubicBezTo>
                  <a:cubicBezTo>
                    <a:pt x="1533658" y="316589"/>
                    <a:pt x="1516763" y="323587"/>
                    <a:pt x="1499146" y="323587"/>
                  </a:cubicBezTo>
                  <a:lnTo>
                    <a:pt x="66423" y="323587"/>
                  </a:lnTo>
                  <a:cubicBezTo>
                    <a:pt x="29739" y="323587"/>
                    <a:pt x="0" y="293848"/>
                    <a:pt x="0" y="257164"/>
                  </a:cubicBezTo>
                  <a:lnTo>
                    <a:pt x="0" y="66423"/>
                  </a:lnTo>
                  <a:cubicBezTo>
                    <a:pt x="0" y="29739"/>
                    <a:pt x="29739" y="0"/>
                    <a:pt x="66423" y="0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65570" cy="361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552499" y="7489250"/>
            <a:ext cx="5089283" cy="1086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72"/>
              </a:lnSpc>
            </a:pPr>
            <a:r>
              <a:rPr lang="en-US" sz="6753" b="1">
                <a:solidFill>
                  <a:srgbClr val="0D2A5B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3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376947" y="7776575"/>
            <a:ext cx="982520" cy="588336"/>
            <a:chOff x="0" y="0"/>
            <a:chExt cx="258771" cy="15495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58771" cy="154953"/>
            </a:xfrm>
            <a:custGeom>
              <a:avLst/>
              <a:gdLst/>
              <a:ahLst/>
              <a:cxnLst/>
              <a:rect l="l" t="t" r="r" b="b"/>
              <a:pathLst>
                <a:path w="258771" h="154953">
                  <a:moveTo>
                    <a:pt x="77476" y="0"/>
                  </a:moveTo>
                  <a:lnTo>
                    <a:pt x="181294" y="0"/>
                  </a:lnTo>
                  <a:cubicBezTo>
                    <a:pt x="224083" y="0"/>
                    <a:pt x="258771" y="34687"/>
                    <a:pt x="258771" y="77476"/>
                  </a:cubicBezTo>
                  <a:lnTo>
                    <a:pt x="258771" y="77476"/>
                  </a:lnTo>
                  <a:cubicBezTo>
                    <a:pt x="258771" y="98024"/>
                    <a:pt x="250608" y="117731"/>
                    <a:pt x="236078" y="132260"/>
                  </a:cubicBezTo>
                  <a:cubicBezTo>
                    <a:pt x="221549" y="146790"/>
                    <a:pt x="201842" y="154953"/>
                    <a:pt x="181294" y="154953"/>
                  </a:cubicBezTo>
                  <a:lnTo>
                    <a:pt x="77476" y="154953"/>
                  </a:lnTo>
                  <a:cubicBezTo>
                    <a:pt x="34687" y="154953"/>
                    <a:pt x="0" y="120265"/>
                    <a:pt x="0" y="77476"/>
                  </a:cubicBezTo>
                  <a:lnTo>
                    <a:pt x="0" y="77476"/>
                  </a:lnTo>
                  <a:cubicBezTo>
                    <a:pt x="0" y="34687"/>
                    <a:pt x="34687" y="0"/>
                    <a:pt x="77476" y="0"/>
                  </a:cubicBezTo>
                  <a:close/>
                </a:path>
              </a:pathLst>
            </a:custGeom>
            <a:solidFill>
              <a:srgbClr val="003691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58771" cy="1930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80853" y="3892270"/>
            <a:ext cx="5028802" cy="6841907"/>
          </a:xfrm>
          <a:custGeom>
            <a:avLst/>
            <a:gdLst/>
            <a:ahLst/>
            <a:cxnLst/>
            <a:rect l="l" t="t" r="r" b="b"/>
            <a:pathLst>
              <a:path w="5028802" h="6841907">
                <a:moveTo>
                  <a:pt x="0" y="0"/>
                </a:moveTo>
                <a:lnTo>
                  <a:pt x="5028802" y="0"/>
                </a:lnTo>
                <a:lnTo>
                  <a:pt x="5028802" y="6841907"/>
                </a:lnTo>
                <a:lnTo>
                  <a:pt x="0" y="6841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7881" y="1341243"/>
            <a:ext cx="12870479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BATASAN PENELITIAN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3037207" y="-545917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5924848" y="5650824"/>
                </a:moveTo>
                <a:lnTo>
                  <a:pt x="0" y="5650824"/>
                </a:lnTo>
                <a:lnTo>
                  <a:pt x="0" y="0"/>
                </a:lnTo>
                <a:lnTo>
                  <a:pt x="5924848" y="0"/>
                </a:lnTo>
                <a:lnTo>
                  <a:pt x="5924848" y="5650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32667" y="473033"/>
            <a:ext cx="2222666" cy="555667"/>
          </a:xfrm>
          <a:custGeom>
            <a:avLst/>
            <a:gdLst/>
            <a:ahLst/>
            <a:cxnLst/>
            <a:rect l="l" t="t" r="r" b="b"/>
            <a:pathLst>
              <a:path w="2222666" h="555667">
                <a:moveTo>
                  <a:pt x="0" y="0"/>
                </a:moveTo>
                <a:lnTo>
                  <a:pt x="2222666" y="0"/>
                </a:lnTo>
                <a:lnTo>
                  <a:pt x="2222666" y="555667"/>
                </a:lnTo>
                <a:lnTo>
                  <a:pt x="0" y="555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3535751"/>
            <a:ext cx="15026762" cy="4454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Penelitian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mengggunakan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lima data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perusahaan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yaitu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PT Bank Rakyat Indonesia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Mandiri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(Persero)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Negara Indonesia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Central Asia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dan PT Bank Tabungan Negara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yang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digunakan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selama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lima tahun, mulai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Januari 2021 sampai dengan Desember 2025.</a:t>
            </a:r>
          </a:p>
          <a:p>
            <a:pPr marL="698746" lvl="1" indent="-349373" algn="l">
              <a:lnSpc>
                <a:spcPts val="4531"/>
              </a:lnSpc>
              <a:buFont typeface="Arial"/>
              <a:buChar char="•"/>
            </a:pP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prediksi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difokuskan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pada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harga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penutupan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(closing price)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7703" y="668338"/>
            <a:ext cx="15212594" cy="72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 dirty="0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PENELITIAN TERDAHULU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A2301E9-86C5-F31A-6656-DA290A9CE5EA}"/>
              </a:ext>
            </a:extLst>
          </p:cNvPr>
          <p:cNvSpPr txBox="1">
            <a:spLocks/>
          </p:cNvSpPr>
          <p:nvPr/>
        </p:nvSpPr>
        <p:spPr>
          <a:xfrm>
            <a:off x="457200" y="2171700"/>
            <a:ext cx="17221200" cy="77724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nva Sans Bold" panose="020B0604020202020204" charset="0"/>
              </a:rPr>
              <a:t>Budiharto, 2021 </a:t>
            </a:r>
            <a:r>
              <a:rPr lang="en-US" sz="2400" dirty="0" err="1">
                <a:latin typeface="Canva Sans Bold" panose="020B0604020202020204" charset="0"/>
              </a:rPr>
              <a:t>pemanfaatan</a:t>
            </a:r>
            <a:r>
              <a:rPr lang="en-US" sz="2400" dirty="0">
                <a:latin typeface="Canva Sans Bold" panose="020B0604020202020204" charset="0"/>
              </a:rPr>
              <a:t> data </a:t>
            </a:r>
            <a:r>
              <a:rPr lang="en-US" sz="2400" dirty="0" err="1">
                <a:latin typeface="Canva Sans Bold" panose="020B0604020202020204" charset="0"/>
              </a:rPr>
              <a:t>historis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jangka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pendek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selama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satu</a:t>
            </a:r>
            <a:r>
              <a:rPr lang="en-US" sz="2400" dirty="0">
                <a:latin typeface="Canva Sans Bold" panose="020B0604020202020204" charset="0"/>
              </a:rPr>
              <a:t> tahun </a:t>
            </a:r>
            <a:r>
              <a:rPr lang="en-US" sz="2400" dirty="0" err="1">
                <a:latin typeface="Canva Sans Bold" panose="020B0604020202020204" charset="0"/>
              </a:rPr>
              <a:t>memberikan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kinerja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prediksi</a:t>
            </a:r>
            <a:r>
              <a:rPr lang="en-US" sz="2400" dirty="0">
                <a:latin typeface="Canva Sans Bold" panose="020B0604020202020204" charset="0"/>
              </a:rPr>
              <a:t> yang paling optimal, dengan </a:t>
            </a:r>
            <a:r>
              <a:rPr lang="en-US" sz="2400" dirty="0" err="1">
                <a:latin typeface="Canva Sans Bold" panose="020B0604020202020204" charset="0"/>
              </a:rPr>
              <a:t>tingkat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akurasi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mencapai</a:t>
            </a:r>
            <a:r>
              <a:rPr lang="en-US" sz="2400" dirty="0">
                <a:latin typeface="Canva Sans Bold" panose="020B0604020202020204" charset="0"/>
              </a:rPr>
              <a:t> 94,59% </a:t>
            </a:r>
            <a:r>
              <a:rPr lang="en-US" sz="2400" dirty="0" err="1">
                <a:latin typeface="Canva Sans Bold" panose="020B0604020202020204" charset="0"/>
              </a:rPr>
              <a:t>ketika</a:t>
            </a:r>
            <a:r>
              <a:rPr lang="en-US" sz="2400" dirty="0">
                <a:latin typeface="Canva Sans Bold" panose="020B0604020202020204" charset="0"/>
              </a:rPr>
              <a:t> </a:t>
            </a:r>
            <a:r>
              <a:rPr lang="en-US" sz="2400" dirty="0" err="1">
                <a:latin typeface="Canva Sans Bold" panose="020B0604020202020204" charset="0"/>
              </a:rPr>
              <a:t>menggunakan</a:t>
            </a:r>
            <a:r>
              <a:rPr lang="en-US" sz="2400" dirty="0">
                <a:latin typeface="Canva Sans Bold" panose="020B0604020202020204" charset="0"/>
              </a:rPr>
              <a:t> model LSTM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latin typeface="Canva Sans Bold" panose="020B0604020202020204" charset="0"/>
              </a:rPr>
              <a:t>Dey et al., (2021) </a:t>
            </a:r>
            <a:r>
              <a:rPr lang="en-ID" sz="2400" dirty="0" err="1">
                <a:latin typeface="Canva Sans Bold" panose="020B0604020202020204" charset="0"/>
              </a:rPr>
              <a:t>membandingkan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kinerja</a:t>
            </a:r>
            <a:r>
              <a:rPr lang="en-ID" sz="2400" dirty="0">
                <a:latin typeface="Canva Sans Bold" panose="020B0604020202020204" charset="0"/>
              </a:rPr>
              <a:t> simple RNN, LSTM, dan GRU, </a:t>
            </a:r>
            <a:r>
              <a:rPr lang="en-ID" sz="2400" dirty="0" err="1">
                <a:latin typeface="Canva Sans Bold" panose="020B0604020202020204" charset="0"/>
              </a:rPr>
              <a:t>hasil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studi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menunjukkan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bahwa</a:t>
            </a:r>
            <a:r>
              <a:rPr lang="en-ID" sz="2400" dirty="0">
                <a:latin typeface="Canva Sans Bold" panose="020B0604020202020204" charset="0"/>
              </a:rPr>
              <a:t> LSTM dan GRU </a:t>
            </a:r>
            <a:r>
              <a:rPr lang="en-ID" sz="2400" dirty="0" err="1">
                <a:latin typeface="Canva Sans Bold" panose="020B0604020202020204" charset="0"/>
              </a:rPr>
              <a:t>secara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konsisten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lebih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akurat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dibanding</a:t>
            </a:r>
            <a:r>
              <a:rPr lang="en-ID" sz="2400" dirty="0">
                <a:latin typeface="Canva Sans Bold" panose="020B0604020202020204" charset="0"/>
              </a:rPr>
              <a:t> simple </a:t>
            </a:r>
            <a:r>
              <a:rPr lang="en-ID" sz="2400" dirty="0" err="1">
                <a:latin typeface="Canva Sans Bold" panose="020B0604020202020204" charset="0"/>
              </a:rPr>
              <a:t>RNNkarena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mampu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mengatasi</a:t>
            </a:r>
            <a:r>
              <a:rPr lang="en-ID" sz="2400" dirty="0">
                <a:latin typeface="Canva Sans Bold" panose="020B0604020202020204" charset="0"/>
              </a:rPr>
              <a:t> vanishing gradient </a:t>
            </a:r>
            <a:r>
              <a:rPr lang="en-ID" sz="2400" dirty="0" err="1">
                <a:latin typeface="Canva Sans Bold" panose="020B0604020202020204" charset="0"/>
              </a:rPr>
              <a:t>melalui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mekanisme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gerbang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memori</a:t>
            </a:r>
            <a:r>
              <a:rPr lang="en-ID" sz="2400" dirty="0">
                <a:latin typeface="Canva Sans Bold" panose="020B0604020202020204" charset="0"/>
              </a:rPr>
              <a:t>. GRU </a:t>
            </a:r>
            <a:r>
              <a:rPr lang="en-ID" sz="2400" dirty="0" err="1">
                <a:latin typeface="Canva Sans Bold" panose="020B0604020202020204" charset="0"/>
              </a:rPr>
              <a:t>memberikan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kesalahan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prediksi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terendah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terutama</a:t>
            </a:r>
            <a:r>
              <a:rPr lang="en-ID" sz="2400" dirty="0">
                <a:latin typeface="Canva Sans Bold" panose="020B0604020202020204" charset="0"/>
              </a:rPr>
              <a:t> pada </a:t>
            </a:r>
            <a:r>
              <a:rPr lang="en-ID" sz="2400" dirty="0" err="1">
                <a:latin typeface="Canva Sans Bold" panose="020B0604020202020204" charset="0"/>
              </a:rPr>
              <a:t>saham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dengan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fluktuasi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rendah</a:t>
            </a:r>
            <a:r>
              <a:rPr lang="en-ID" sz="2400" dirty="0">
                <a:latin typeface="Canva Sans Bold" panose="020B0604020202020204" charset="0"/>
              </a:rPr>
              <a:t> dan </a:t>
            </a:r>
            <a:r>
              <a:rPr lang="en-ID" sz="2400" dirty="0" err="1">
                <a:latin typeface="Canva Sans Bold" panose="020B0604020202020204" charset="0"/>
              </a:rPr>
              <a:t>tinggi</a:t>
            </a:r>
            <a:r>
              <a:rPr lang="en-ID" sz="2400" dirty="0">
                <a:latin typeface="Canva Sans Bold" panose="020B0604020202020204" charset="0"/>
              </a:rPr>
              <a:t>, </a:t>
            </a:r>
            <a:r>
              <a:rPr lang="en-ID" sz="2400" dirty="0" err="1">
                <a:latin typeface="Canva Sans Bold" panose="020B0604020202020204" charset="0"/>
              </a:rPr>
              <a:t>sedangkan</a:t>
            </a:r>
            <a:r>
              <a:rPr lang="en-ID" sz="2400" dirty="0">
                <a:latin typeface="Canva Sans Bold" panose="020B0604020202020204" charset="0"/>
              </a:rPr>
              <a:t> LSTM </a:t>
            </a:r>
            <a:r>
              <a:rPr lang="en-ID" sz="2400" dirty="0" err="1">
                <a:latin typeface="Canva Sans Bold" panose="020B0604020202020204" charset="0"/>
              </a:rPr>
              <a:t>unggul</a:t>
            </a:r>
            <a:r>
              <a:rPr lang="en-ID" sz="2400" dirty="0">
                <a:latin typeface="Canva Sans Bold" panose="020B0604020202020204" charset="0"/>
              </a:rPr>
              <a:t> pada </a:t>
            </a:r>
            <a:r>
              <a:rPr lang="en-ID" sz="2400" dirty="0" err="1">
                <a:latin typeface="Canva Sans Bold" panose="020B0604020202020204" charset="0"/>
              </a:rPr>
              <a:t>fluktuasi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moderat</a:t>
            </a:r>
            <a:r>
              <a:rPr lang="en-ID" sz="2400" dirty="0">
                <a:latin typeface="Canva Sans Bold" panose="020B0604020202020204" charset="0"/>
              </a:rPr>
              <a:t> 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latin typeface="Canva Sans Bold" panose="020B0604020202020204" charset="0"/>
              </a:rPr>
              <a:t>Joseph et al., (2023) </a:t>
            </a:r>
            <a:r>
              <a:rPr lang="en-ID" sz="2400" dirty="0" err="1">
                <a:latin typeface="Canva Sans Bold" panose="020B0604020202020204" charset="0"/>
              </a:rPr>
              <a:t>mengembangkan</a:t>
            </a:r>
            <a:r>
              <a:rPr lang="en-ID" sz="2400" dirty="0">
                <a:latin typeface="Canva Sans Bold" panose="020B0604020202020204" charset="0"/>
              </a:rPr>
              <a:t> model </a:t>
            </a:r>
            <a:r>
              <a:rPr lang="en-ID" sz="2400" dirty="0" err="1">
                <a:latin typeface="Canva Sans Bold" panose="020B0604020202020204" charset="0"/>
              </a:rPr>
              <a:t>prediksi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harga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saham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berbasis</a:t>
            </a:r>
            <a:r>
              <a:rPr lang="en-ID" sz="2400" dirty="0">
                <a:latin typeface="Canva Sans Bold" panose="020B0604020202020204" charset="0"/>
              </a:rPr>
              <a:t> deep learning </a:t>
            </a:r>
            <a:r>
              <a:rPr lang="en-ID" sz="2400" dirty="0" err="1">
                <a:latin typeface="Canva Sans Bold" panose="020B0604020202020204" charset="0"/>
              </a:rPr>
              <a:t>untuk</a:t>
            </a:r>
            <a:r>
              <a:rPr lang="en-ID" sz="2400" dirty="0">
                <a:latin typeface="Canva Sans Bold" panose="020B0604020202020204" charset="0"/>
              </a:rPr>
              <a:t> pasar </a:t>
            </a:r>
            <a:r>
              <a:rPr lang="en-ID" sz="2400" dirty="0" err="1">
                <a:latin typeface="Canva Sans Bold" panose="020B0604020202020204" charset="0"/>
              </a:rPr>
              <a:t>saham</a:t>
            </a:r>
            <a:r>
              <a:rPr lang="en-ID" sz="2400" dirty="0">
                <a:latin typeface="Canva Sans Bold" panose="020B0604020202020204" charset="0"/>
              </a:rPr>
              <a:t> Tanzania </a:t>
            </a:r>
            <a:r>
              <a:rPr lang="en-ID" sz="2400" dirty="0" err="1">
                <a:latin typeface="Canva Sans Bold" panose="020B0604020202020204" charset="0"/>
              </a:rPr>
              <a:t>dengan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memanfaatkan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arsitektur</a:t>
            </a:r>
            <a:r>
              <a:rPr lang="en-ID" sz="2400" dirty="0">
                <a:latin typeface="Canva Sans Bold" panose="020B0604020202020204" charset="0"/>
              </a:rPr>
              <a:t> Long Short-Term Memory (LSTM) dan Gated Recurrent Unit (GRU), </a:t>
            </a:r>
            <a:r>
              <a:rPr lang="en-ID" sz="2400" dirty="0" err="1">
                <a:latin typeface="Canva Sans Bold" panose="020B0604020202020204" charset="0"/>
              </a:rPr>
              <a:t>hasilnya</a:t>
            </a:r>
            <a:r>
              <a:rPr lang="en-ID" sz="2400" dirty="0">
                <a:latin typeface="Canva Sans Bold" panose="020B0604020202020204" charset="0"/>
              </a:rPr>
              <a:t> LSTM </a:t>
            </a:r>
            <a:r>
              <a:rPr lang="en-ID" sz="2400" dirty="0" err="1">
                <a:latin typeface="Canva Sans Bold" panose="020B0604020202020204" charset="0"/>
              </a:rPr>
              <a:t>menjadi</a:t>
            </a:r>
            <a:r>
              <a:rPr lang="en-ID" sz="2400" dirty="0">
                <a:latin typeface="Canva Sans Bold" panose="020B0604020202020204" charset="0"/>
              </a:rPr>
              <a:t> model </a:t>
            </a:r>
            <a:r>
              <a:rPr lang="en-ID" sz="2400" dirty="0" err="1">
                <a:latin typeface="Canva Sans Bold" panose="020B0604020202020204" charset="0"/>
              </a:rPr>
              <a:t>dengan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performa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terbaik</a:t>
            </a:r>
            <a:endParaRPr lang="en-ID" sz="2400" dirty="0">
              <a:latin typeface="Canva Sans Bold" panose="020B060402020202020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latin typeface="Canva Sans Bold" panose="020B0604020202020204" charset="0"/>
              </a:rPr>
              <a:t>Farhadi et al., (2025) </a:t>
            </a:r>
            <a:r>
              <a:rPr lang="en-ID" sz="2400" dirty="0" err="1">
                <a:latin typeface="Canva Sans Bold" panose="020B0604020202020204" charset="0"/>
              </a:rPr>
              <a:t>mengusulkan</a:t>
            </a:r>
            <a:r>
              <a:rPr lang="en-ID" sz="2400" dirty="0">
                <a:latin typeface="Canva Sans Bold" panose="020B0604020202020204" charset="0"/>
              </a:rPr>
              <a:t> model hybrid Long Short-Term Memory (LSTM) dan Gated Recurrent Unit (GRU) </a:t>
            </a:r>
            <a:r>
              <a:rPr lang="en-ID" sz="2400" dirty="0" err="1">
                <a:latin typeface="Canva Sans Bold" panose="020B0604020202020204" charset="0"/>
              </a:rPr>
              <a:t>untuk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meningkatkan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akurasi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prediksi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harga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saham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melalui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pemanfaatan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kekuatan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kedua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arsitektur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dalam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menangkap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pola</a:t>
            </a:r>
            <a:r>
              <a:rPr lang="en-ID" sz="2400" dirty="0">
                <a:latin typeface="Canva Sans Bold" panose="020B0604020202020204" charset="0"/>
              </a:rPr>
              <a:t> non-linear dan </a:t>
            </a:r>
            <a:r>
              <a:rPr lang="en-ID" sz="2400" dirty="0" err="1">
                <a:latin typeface="Canva Sans Bold" panose="020B0604020202020204" charset="0"/>
              </a:rPr>
              <a:t>dependensi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jangka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panjang</a:t>
            </a:r>
            <a:r>
              <a:rPr lang="en-ID" sz="2400" dirty="0">
                <a:latin typeface="Canva Sans Bold" panose="020B0604020202020204" charset="0"/>
              </a:rPr>
              <a:t> pada data </a:t>
            </a:r>
            <a:r>
              <a:rPr lang="en-ID" sz="2400" dirty="0" err="1">
                <a:latin typeface="Canva Sans Bold" panose="020B0604020202020204" charset="0"/>
              </a:rPr>
              <a:t>deret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waktu</a:t>
            </a:r>
            <a:r>
              <a:rPr lang="en-ID" sz="2400" dirty="0">
                <a:latin typeface="Canva Sans Bold" panose="020B0604020202020204" charset="0"/>
              </a:rPr>
              <a:t>, </a:t>
            </a:r>
            <a:r>
              <a:rPr lang="en-ID" sz="2400" dirty="0" err="1">
                <a:latin typeface="Canva Sans Bold" panose="020B0604020202020204" charset="0"/>
              </a:rPr>
              <a:t>hasilnya</a:t>
            </a:r>
            <a:r>
              <a:rPr lang="en-ID" sz="2400" dirty="0">
                <a:latin typeface="Canva Sans Bold" panose="020B0604020202020204" charset="0"/>
              </a:rPr>
              <a:t> error </a:t>
            </a:r>
            <a:r>
              <a:rPr lang="en-ID" sz="2400" dirty="0" err="1">
                <a:latin typeface="Canva Sans Bold" panose="020B0604020202020204" charset="0"/>
              </a:rPr>
              <a:t>turun</a:t>
            </a:r>
            <a:endParaRPr lang="en-ID" sz="2400" dirty="0">
              <a:latin typeface="Canva Sans Bold" panose="020B0604020202020204" charset="0"/>
            </a:endParaRP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ID" sz="2400" dirty="0">
                <a:latin typeface="Canva Sans Bold" panose="020B0604020202020204" charset="0"/>
              </a:rPr>
              <a:t>Sezgin et al., (2025) </a:t>
            </a:r>
            <a:r>
              <a:rPr lang="en-ID" sz="2400" dirty="0" err="1">
                <a:latin typeface="Canva Sans Bold" panose="020B0604020202020204" charset="0"/>
              </a:rPr>
              <a:t>membandingkan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kinerja</a:t>
            </a:r>
            <a:r>
              <a:rPr lang="en-ID" sz="2400" dirty="0">
                <a:latin typeface="Canva Sans Bold" panose="020B0604020202020204" charset="0"/>
              </a:rPr>
              <a:t> model RNN, LSTM, dan GRU </a:t>
            </a:r>
            <a:r>
              <a:rPr lang="en-ID" sz="2400" dirty="0" err="1">
                <a:latin typeface="Canva Sans Bold" panose="020B0604020202020204" charset="0"/>
              </a:rPr>
              <a:t>dalam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memprediksi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harga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saham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sektor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penerbangan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menggunakan</a:t>
            </a:r>
            <a:r>
              <a:rPr lang="en-ID" sz="2400" dirty="0">
                <a:latin typeface="Canva Sans Bold" panose="020B0604020202020204" charset="0"/>
              </a:rPr>
              <a:t> data </a:t>
            </a:r>
            <a:r>
              <a:rPr lang="en-ID" sz="2400" dirty="0" err="1">
                <a:latin typeface="Canva Sans Bold" panose="020B0604020202020204" charset="0"/>
              </a:rPr>
              <a:t>harga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penutupan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harian</a:t>
            </a:r>
            <a:r>
              <a:rPr lang="en-ID" sz="2400" dirty="0">
                <a:latin typeface="Canva Sans Bold" panose="020B0604020202020204" charset="0"/>
              </a:rPr>
              <a:t> </a:t>
            </a:r>
            <a:r>
              <a:rPr lang="en-ID" sz="2400" dirty="0" err="1">
                <a:latin typeface="Canva Sans Bold" panose="020B0604020202020204" charset="0"/>
              </a:rPr>
              <a:t>periode</a:t>
            </a:r>
            <a:r>
              <a:rPr lang="en-ID" sz="2400" dirty="0">
                <a:latin typeface="Canva Sans Bold" panose="020B0604020202020204" charset="0"/>
              </a:rPr>
              <a:t> 2020–2022, </a:t>
            </a:r>
            <a:r>
              <a:rPr lang="en-ID" sz="2400" dirty="0" err="1">
                <a:latin typeface="Canva Sans Bold" panose="020B0604020202020204" charset="0"/>
              </a:rPr>
              <a:t>hasilnya</a:t>
            </a:r>
            <a:r>
              <a:rPr lang="en-ID" sz="2400" dirty="0">
                <a:latin typeface="Canva Sans Bold" panose="020B0604020202020204" charset="0"/>
              </a:rPr>
              <a:t> GRU </a:t>
            </a:r>
            <a:r>
              <a:rPr lang="en-ID" sz="2400" dirty="0" err="1">
                <a:latin typeface="Canva Sans Bold" panose="020B0604020202020204" charset="0"/>
              </a:rPr>
              <a:t>terbaik</a:t>
            </a:r>
            <a:endParaRPr lang="en-ID" sz="2400" dirty="0">
              <a:latin typeface="Canva Sans Bold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-4495800" y="187355"/>
            <a:ext cx="15212594" cy="72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 dirty="0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KERANGKA TEORI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CE07D-A85F-ACA5-7D25-735CE3BA29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824" y="897443"/>
            <a:ext cx="13106400" cy="100603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80853" y="3892270"/>
            <a:ext cx="5028802" cy="6841907"/>
          </a:xfrm>
          <a:custGeom>
            <a:avLst/>
            <a:gdLst/>
            <a:ahLst/>
            <a:cxnLst/>
            <a:rect l="l" t="t" r="r" b="b"/>
            <a:pathLst>
              <a:path w="5028802" h="6841907">
                <a:moveTo>
                  <a:pt x="0" y="0"/>
                </a:moveTo>
                <a:lnTo>
                  <a:pt x="5028802" y="0"/>
                </a:lnTo>
                <a:lnTo>
                  <a:pt x="5028802" y="6841907"/>
                </a:lnTo>
                <a:lnTo>
                  <a:pt x="0" y="6841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747881" y="1341243"/>
            <a:ext cx="12870479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METODE PENELITIAN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3037207" y="-545917"/>
            <a:ext cx="5924848" cy="5650824"/>
          </a:xfrm>
          <a:custGeom>
            <a:avLst/>
            <a:gdLst/>
            <a:ahLst/>
            <a:cxnLst/>
            <a:rect l="l" t="t" r="r" b="b"/>
            <a:pathLst>
              <a:path w="5924848" h="5650824">
                <a:moveTo>
                  <a:pt x="5924848" y="5650824"/>
                </a:moveTo>
                <a:lnTo>
                  <a:pt x="0" y="5650824"/>
                </a:lnTo>
                <a:lnTo>
                  <a:pt x="0" y="0"/>
                </a:lnTo>
                <a:lnTo>
                  <a:pt x="5924848" y="0"/>
                </a:lnTo>
                <a:lnTo>
                  <a:pt x="5924848" y="565082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32667" y="473033"/>
            <a:ext cx="2222666" cy="555667"/>
          </a:xfrm>
          <a:custGeom>
            <a:avLst/>
            <a:gdLst/>
            <a:ahLst/>
            <a:cxnLst/>
            <a:rect l="l" t="t" r="r" b="b"/>
            <a:pathLst>
              <a:path w="2222666" h="555667">
                <a:moveTo>
                  <a:pt x="0" y="0"/>
                </a:moveTo>
                <a:lnTo>
                  <a:pt x="2222666" y="0"/>
                </a:lnTo>
                <a:lnTo>
                  <a:pt x="2222666" y="555667"/>
                </a:lnTo>
                <a:lnTo>
                  <a:pt x="0" y="555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180" y="3190251"/>
            <a:ext cx="15026762" cy="589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8746" lvl="1" indent="-349373" algn="l">
              <a:lnSpc>
                <a:spcPct val="150000"/>
              </a:lnSpc>
              <a:buFont typeface="Arial"/>
              <a:buChar char="•"/>
            </a:pP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Penelitian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mengggunakan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lima data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perusahaan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yaitu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PT Bank Rakyat Indonesia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Mandiri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(Persero)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Negara Indonesia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, PT Bank Central Asia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dan PT Bank Tabungan Negara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Tbk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marL="698746" lvl="1" indent="-349373" algn="l">
              <a:lnSpc>
                <a:spcPct val="150000"/>
              </a:lnSpc>
              <a:buFont typeface="Arial"/>
              <a:buChar char="•"/>
            </a:pP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yang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digunakan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selama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lima tahun, mulai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Januari 2021 sampai dengan Desember 2025.</a:t>
            </a:r>
          </a:p>
          <a:p>
            <a:pPr marL="698746" lvl="1" indent="-349373" algn="l">
              <a:lnSpc>
                <a:spcPct val="150000"/>
              </a:lnSpc>
              <a:buFont typeface="Arial"/>
              <a:buChar char="•"/>
            </a:pP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prediksi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difokuskan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pada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harga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penutupan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(closing price) </a:t>
            </a:r>
            <a:r>
              <a:rPr lang="en-US" sz="3236" b="1" dirty="0" err="1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saham</a:t>
            </a:r>
            <a:r>
              <a:rPr lang="en-US" sz="3236" b="1" dirty="0">
                <a:solidFill>
                  <a:srgbClr val="00369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37703" y="327397"/>
            <a:ext cx="15212594" cy="726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5499" b="1" dirty="0">
                <a:solidFill>
                  <a:srgbClr val="003691"/>
                </a:solidFill>
                <a:latin typeface="Poppins Bold"/>
                <a:ea typeface="Poppins Bold"/>
                <a:cs typeface="Poppins Bold"/>
                <a:sym typeface="Poppins Bold"/>
              </a:rPr>
              <a:t>DESAIN SISTEM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3D1B5-DC2A-7DD8-8DD3-138C0EF74F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91914"/>
            <a:ext cx="15212593" cy="8587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21655" y="-447177"/>
            <a:ext cx="19331309" cy="11181355"/>
          </a:xfrm>
          <a:custGeom>
            <a:avLst/>
            <a:gdLst/>
            <a:ahLst/>
            <a:cxnLst/>
            <a:rect l="l" t="t" r="r" b="b"/>
            <a:pathLst>
              <a:path w="19331309" h="11181355">
                <a:moveTo>
                  <a:pt x="0" y="0"/>
                </a:moveTo>
                <a:lnTo>
                  <a:pt x="19331310" y="0"/>
                </a:lnTo>
                <a:lnTo>
                  <a:pt x="19331310" y="11181354"/>
                </a:lnTo>
                <a:lnTo>
                  <a:pt x="0" y="11181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13" r="-141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314566" y="-4862997"/>
            <a:ext cx="13658869" cy="20012995"/>
          </a:xfrm>
          <a:custGeom>
            <a:avLst/>
            <a:gdLst/>
            <a:ahLst/>
            <a:cxnLst/>
            <a:rect l="l" t="t" r="r" b="b"/>
            <a:pathLst>
              <a:path w="13658869" h="20012995">
                <a:moveTo>
                  <a:pt x="0" y="0"/>
                </a:moveTo>
                <a:lnTo>
                  <a:pt x="13658868" y="0"/>
                </a:lnTo>
                <a:lnTo>
                  <a:pt x="13658868" y="20012994"/>
                </a:lnTo>
                <a:lnTo>
                  <a:pt x="0" y="200129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821409" y="2570498"/>
            <a:ext cx="14645182" cy="5701841"/>
            <a:chOff x="0" y="0"/>
            <a:chExt cx="3857167" cy="1501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57167" cy="1501719"/>
            </a:xfrm>
            <a:custGeom>
              <a:avLst/>
              <a:gdLst/>
              <a:ahLst/>
              <a:cxnLst/>
              <a:rect l="l" t="t" r="r" b="b"/>
              <a:pathLst>
                <a:path w="3857167" h="1501719">
                  <a:moveTo>
                    <a:pt x="26960" y="0"/>
                  </a:moveTo>
                  <a:lnTo>
                    <a:pt x="3830207" y="0"/>
                  </a:lnTo>
                  <a:cubicBezTo>
                    <a:pt x="3845097" y="0"/>
                    <a:pt x="3857167" y="12071"/>
                    <a:pt x="3857167" y="26960"/>
                  </a:cubicBezTo>
                  <a:lnTo>
                    <a:pt x="3857167" y="1474759"/>
                  </a:lnTo>
                  <a:cubicBezTo>
                    <a:pt x="3857167" y="1489649"/>
                    <a:pt x="3845097" y="1501719"/>
                    <a:pt x="3830207" y="1501719"/>
                  </a:cubicBezTo>
                  <a:lnTo>
                    <a:pt x="26960" y="1501719"/>
                  </a:lnTo>
                  <a:cubicBezTo>
                    <a:pt x="12071" y="1501719"/>
                    <a:pt x="0" y="1489649"/>
                    <a:pt x="0" y="1474759"/>
                  </a:cubicBezTo>
                  <a:lnTo>
                    <a:pt x="0" y="26960"/>
                  </a:lnTo>
                  <a:cubicBezTo>
                    <a:pt x="0" y="12071"/>
                    <a:pt x="12071" y="0"/>
                    <a:pt x="26960" y="0"/>
                  </a:cubicBezTo>
                  <a:close/>
                </a:path>
              </a:pathLst>
            </a:custGeom>
            <a:solidFill>
              <a:srgbClr val="0D2A5B"/>
            </a:solidFill>
            <a:ln w="85725" cap="rnd">
              <a:solidFill>
                <a:srgbClr val="FBB03B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857167" cy="1539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103491" y="3279320"/>
            <a:ext cx="6128293" cy="1600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24"/>
              </a:lnSpc>
            </a:pPr>
            <a:r>
              <a:rPr lang="en-US" sz="1122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TERIMA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161413" y="1028700"/>
            <a:ext cx="5378609" cy="2359865"/>
          </a:xfrm>
          <a:custGeom>
            <a:avLst/>
            <a:gdLst/>
            <a:ahLst/>
            <a:cxnLst/>
            <a:rect l="l" t="t" r="r" b="b"/>
            <a:pathLst>
              <a:path w="5378609" h="2359865">
                <a:moveTo>
                  <a:pt x="5378609" y="0"/>
                </a:moveTo>
                <a:lnTo>
                  <a:pt x="0" y="0"/>
                </a:lnTo>
                <a:lnTo>
                  <a:pt x="0" y="2359865"/>
                </a:lnTo>
                <a:lnTo>
                  <a:pt x="5378609" y="2359865"/>
                </a:lnTo>
                <a:lnTo>
                  <a:pt x="53786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4379" y="6259588"/>
            <a:ext cx="4691575" cy="4474590"/>
          </a:xfrm>
          <a:custGeom>
            <a:avLst/>
            <a:gdLst/>
            <a:ahLst/>
            <a:cxnLst/>
            <a:rect l="l" t="t" r="r" b="b"/>
            <a:pathLst>
              <a:path w="4691575" h="4474590">
                <a:moveTo>
                  <a:pt x="0" y="0"/>
                </a:moveTo>
                <a:lnTo>
                  <a:pt x="4691575" y="0"/>
                </a:lnTo>
                <a:lnTo>
                  <a:pt x="4691575" y="4474589"/>
                </a:lnTo>
                <a:lnTo>
                  <a:pt x="0" y="44745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118080" y="-447177"/>
            <a:ext cx="4691575" cy="4474590"/>
          </a:xfrm>
          <a:custGeom>
            <a:avLst/>
            <a:gdLst/>
            <a:ahLst/>
            <a:cxnLst/>
            <a:rect l="l" t="t" r="r" b="b"/>
            <a:pathLst>
              <a:path w="4691575" h="4474590">
                <a:moveTo>
                  <a:pt x="4691575" y="4474589"/>
                </a:moveTo>
                <a:lnTo>
                  <a:pt x="0" y="4474589"/>
                </a:lnTo>
                <a:lnTo>
                  <a:pt x="0" y="0"/>
                </a:lnTo>
                <a:lnTo>
                  <a:pt x="4691575" y="0"/>
                </a:lnTo>
                <a:lnTo>
                  <a:pt x="4691575" y="447458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50175" y="4337194"/>
            <a:ext cx="12834925" cy="33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07"/>
              </a:lnSpc>
            </a:pPr>
            <a:r>
              <a:rPr lang="en-US" sz="235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KASIH</a:t>
            </a:r>
          </a:p>
        </p:txBody>
      </p:sp>
      <p:sp>
        <p:nvSpPr>
          <p:cNvPr id="12" name="Freeform 12"/>
          <p:cNvSpPr/>
          <p:nvPr/>
        </p:nvSpPr>
        <p:spPr>
          <a:xfrm flipH="1">
            <a:off x="14569995" y="7316950"/>
            <a:ext cx="5378609" cy="2359865"/>
          </a:xfrm>
          <a:custGeom>
            <a:avLst/>
            <a:gdLst/>
            <a:ahLst/>
            <a:cxnLst/>
            <a:rect l="l" t="t" r="r" b="b"/>
            <a:pathLst>
              <a:path w="5378609" h="2359865">
                <a:moveTo>
                  <a:pt x="5378610" y="0"/>
                </a:moveTo>
                <a:lnTo>
                  <a:pt x="0" y="0"/>
                </a:lnTo>
                <a:lnTo>
                  <a:pt x="0" y="2359865"/>
                </a:lnTo>
                <a:lnTo>
                  <a:pt x="5378610" y="2359865"/>
                </a:lnTo>
                <a:lnTo>
                  <a:pt x="53786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569</Words>
  <Application>Microsoft Office PowerPoint</Application>
  <PresentationFormat>Custom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</vt:lpstr>
      <vt:lpstr>Calibri</vt:lpstr>
      <vt:lpstr>Poppins Bold</vt:lpstr>
      <vt:lpstr>Canva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Biru, Oranye, dan Kuning Geometris Presentasi Sidang Skripsi</dc:title>
  <cp:lastModifiedBy>Fakultas Ekonomi</cp:lastModifiedBy>
  <cp:revision>2</cp:revision>
  <dcterms:created xsi:type="dcterms:W3CDTF">2006-08-16T00:00:00Z</dcterms:created>
  <dcterms:modified xsi:type="dcterms:W3CDTF">2026-07-28T00:34:43Z</dcterms:modified>
  <dc:identifier>DAHOe3zrQJU</dc:identifier>
</cp:coreProperties>
</file>