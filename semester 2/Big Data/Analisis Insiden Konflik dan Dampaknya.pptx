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D6DDF0-2D30-4DD8-838D-EC8EEFE5C669}" type="datetimeFigureOut">
              <a:rPr lang="en-ID" smtClean="0"/>
              <a:t>11/04/2026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8A910-AE49-49C3-B994-951B8ECDB5AA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39335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B8A910-AE49-49C3-B994-951B8ECDB5AA}" type="slidenum">
              <a:rPr lang="en-ID" smtClean="0"/>
              <a:t>11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953637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11/04/2026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0286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11/04/2026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20144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11/04/2026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4270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11/04/2026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059165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11/04/2026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0259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11/04/2026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05731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11/04/2026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604563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FBE0B08-3E73-47B1-BA90-29B96CE0AA29}" type="datetimeFigureOut">
              <a:rPr lang="en-ID" smtClean="0"/>
              <a:t>11/04/2026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48839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11/04/2026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0489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11/04/2026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145780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E0B08-3E73-47B1-BA90-29B96CE0AA29}" type="datetimeFigureOut">
              <a:rPr lang="en-ID" smtClean="0"/>
              <a:t>11/04/2026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13161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FBE0B08-3E73-47B1-BA90-29B96CE0AA29}" type="datetimeFigureOut">
              <a:rPr lang="en-ID" smtClean="0"/>
              <a:t>11/04/2026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B1C26FD-D8D7-4A1D-ABD9-CE481D428AD3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577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zkskhurram/infrastructure-of-gulf-region-with-iran-us-wa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E5873B-5A8E-3B3C-D906-7A374A93BA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146850"/>
            <a:ext cx="10058400" cy="2511060"/>
          </a:xfrm>
        </p:spPr>
        <p:txBody>
          <a:bodyPr>
            <a:noAutofit/>
          </a:bodyPr>
          <a:lstStyle/>
          <a:p>
            <a:pPr algn="ctr"/>
            <a:r>
              <a:rPr lang="en-ID" sz="5400" b="1" dirty="0" err="1"/>
              <a:t>Analisis</a:t>
            </a:r>
            <a:r>
              <a:rPr lang="en-ID" sz="5400" b="1" dirty="0"/>
              <a:t> Big Data: </a:t>
            </a:r>
            <a:r>
              <a:rPr lang="en-ID" sz="5400" b="1" dirty="0" err="1"/>
              <a:t>Analisis</a:t>
            </a:r>
            <a:r>
              <a:rPr lang="en-ID" sz="5400" b="1" dirty="0"/>
              <a:t> </a:t>
            </a:r>
            <a:r>
              <a:rPr lang="en-ID" sz="5400" b="1" dirty="0" err="1"/>
              <a:t>Insiden</a:t>
            </a:r>
            <a:r>
              <a:rPr lang="en-ID" sz="5400" b="1" dirty="0"/>
              <a:t> </a:t>
            </a:r>
            <a:r>
              <a:rPr lang="en-ID" sz="5400" b="1" dirty="0" err="1"/>
              <a:t>Konflik</a:t>
            </a:r>
            <a:r>
              <a:rPr lang="en-ID" sz="5400" b="1" dirty="0"/>
              <a:t> dan </a:t>
            </a:r>
            <a:r>
              <a:rPr lang="en-ID" sz="5400" b="1" dirty="0" err="1"/>
              <a:t>Dampaknya</a:t>
            </a:r>
            <a:br>
              <a:rPr lang="en-ID" sz="5400" b="1" dirty="0"/>
            </a:br>
            <a:r>
              <a:rPr lang="en-ID" sz="4400" b="1" dirty="0" err="1"/>
              <a:t>studi</a:t>
            </a:r>
            <a:r>
              <a:rPr lang="en-ID" sz="4400" b="1" dirty="0"/>
              <a:t> </a:t>
            </a:r>
            <a:r>
              <a:rPr lang="en-ID" sz="4400" b="1" dirty="0" err="1"/>
              <a:t>kasus</a:t>
            </a:r>
            <a:r>
              <a:rPr lang="en-ID" sz="4400" b="1" dirty="0"/>
              <a:t> “</a:t>
            </a:r>
            <a:r>
              <a:rPr lang="en-ID" sz="4400" b="1" dirty="0" err="1"/>
              <a:t>perang</a:t>
            </a:r>
            <a:r>
              <a:rPr lang="en-ID" sz="4400" b="1" dirty="0"/>
              <a:t> </a:t>
            </a:r>
            <a:r>
              <a:rPr lang="en-ID" sz="4400" b="1" dirty="0" err="1"/>
              <a:t>iran-israel</a:t>
            </a:r>
            <a:r>
              <a:rPr lang="en-ID" sz="4400" b="1" dirty="0"/>
              <a:t> 2026”</a:t>
            </a:r>
            <a:endParaRPr lang="en-ID" sz="5400" b="1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191B24-607D-BBFF-EFEE-67EC0CCFA5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250605210001 – Adi </a:t>
            </a:r>
            <a:r>
              <a:rPr lang="en-US" dirty="0" err="1"/>
              <a:t>cahyono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80931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13EF-861B-C74B-DD56-1A34EB272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Pengenalan</a:t>
            </a:r>
            <a:r>
              <a:rPr lang="en-ID" dirty="0"/>
              <a:t>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4A02D-8115-083E-235B-BBF435C34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D" dirty="0"/>
              <a:t>Dataset yang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b="1" dirty="0"/>
              <a:t>conflict_incidents_timeline.csv</a:t>
            </a:r>
            <a:r>
              <a:rPr lang="en-ID" dirty="0"/>
              <a:t>. Data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berbagai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, </a:t>
            </a:r>
            <a:r>
              <a:rPr lang="en-ID" dirty="0" err="1"/>
              <a:t>menyediakan</a:t>
            </a:r>
            <a:r>
              <a:rPr lang="en-ID" dirty="0"/>
              <a:t> </a:t>
            </a:r>
            <a:r>
              <a:rPr lang="en-ID" dirty="0" err="1"/>
              <a:t>informasi</a:t>
            </a:r>
            <a:r>
              <a:rPr lang="en-ID" dirty="0"/>
              <a:t> </a:t>
            </a:r>
            <a:r>
              <a:rPr lang="en-ID" dirty="0" err="1"/>
              <a:t>penting</a:t>
            </a:r>
            <a:r>
              <a:rPr lang="en-ID" dirty="0"/>
              <a:t> </a:t>
            </a:r>
            <a:r>
              <a:rPr lang="en-ID" dirty="0" err="1"/>
              <a:t>mengenai</a:t>
            </a:r>
            <a:r>
              <a:rPr lang="en-ID" dirty="0"/>
              <a:t> </a:t>
            </a:r>
            <a:r>
              <a:rPr lang="en-ID" dirty="0" err="1"/>
              <a:t>karakteristik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peristiwa</a:t>
            </a:r>
            <a:r>
              <a:rPr lang="en-ID" dirty="0"/>
              <a:t>.</a:t>
            </a:r>
            <a:endParaRPr lang="en-ID" b="1" dirty="0"/>
          </a:p>
          <a:p>
            <a:pPr marL="0" indent="0">
              <a:buNone/>
            </a:pPr>
            <a:r>
              <a:rPr lang="en-ID" dirty="0"/>
              <a:t>Tujuan </a:t>
            </a:r>
            <a:r>
              <a:rPr lang="en-ID" dirty="0" err="1"/>
              <a:t>utama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penggunaan</a:t>
            </a:r>
            <a:r>
              <a:rPr lang="en-ID" dirty="0"/>
              <a:t> dataset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menganalisis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, </a:t>
            </a:r>
            <a:r>
              <a:rPr lang="en-ID" dirty="0" err="1"/>
              <a:t>tren</a:t>
            </a:r>
            <a:r>
              <a:rPr lang="en-ID" dirty="0"/>
              <a:t>, dan </a:t>
            </a:r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antar</a:t>
            </a:r>
            <a:r>
              <a:rPr lang="en-ID" dirty="0"/>
              <a:t> </a:t>
            </a:r>
            <a:r>
              <a:rPr lang="en-ID" dirty="0" err="1"/>
              <a:t>variabel</a:t>
            </a:r>
            <a:r>
              <a:rPr lang="en-ID" dirty="0"/>
              <a:t> yang </a:t>
            </a:r>
            <a:r>
              <a:rPr lang="en-ID" dirty="0" err="1"/>
              <a:t>terkait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.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bertujuan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mendapatkan</a:t>
            </a:r>
            <a:r>
              <a:rPr lang="en-ID" dirty="0"/>
              <a:t> </a:t>
            </a:r>
            <a:r>
              <a:rPr lang="en-ID" dirty="0" err="1"/>
              <a:t>pemahaman</a:t>
            </a:r>
            <a:r>
              <a:rPr lang="en-ID" dirty="0"/>
              <a:t> yang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dinamika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, </a:t>
            </a:r>
            <a:r>
              <a:rPr lang="en-ID" dirty="0" err="1"/>
              <a:t>termasuk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senjata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, target yang </a:t>
            </a:r>
            <a:r>
              <a:rPr lang="en-ID" dirty="0" err="1"/>
              <a:t>diserang</a:t>
            </a:r>
            <a:r>
              <a:rPr lang="en-ID" dirty="0"/>
              <a:t>, dan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keparahan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.</a:t>
            </a:r>
          </a:p>
          <a:p>
            <a:pPr marL="0" indent="0">
              <a:buNone/>
            </a:pPr>
            <a:r>
              <a:rPr lang="en-ID" dirty="0"/>
              <a:t>Dataset yang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dataset </a:t>
            </a:r>
            <a:r>
              <a:rPr lang="en-ID" dirty="0" err="1"/>
              <a:t>dari</a:t>
            </a:r>
            <a:r>
              <a:rPr lang="en-ID" dirty="0"/>
              <a:t> Kaggle </a:t>
            </a:r>
            <a:r>
              <a:rPr lang="en-ID" dirty="0">
                <a:hlinkClick r:id="rId2"/>
              </a:rPr>
              <a:t>https://www.kaggle.com/datasets/zkskhurram/infrastructure-of-gulf-region-with-iran-us-war</a:t>
            </a:r>
            <a:r>
              <a:rPr lang="en-ID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60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144A3-F83E-7598-7E55-FF653F9A6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Metodologi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21193-155A-F488-2238-0C58D249E5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D" b="1" dirty="0" err="1"/>
              <a:t>Ringkasan</a:t>
            </a:r>
            <a:r>
              <a:rPr lang="en-ID" b="1" dirty="0"/>
              <a:t> Data:</a:t>
            </a:r>
            <a:r>
              <a:rPr lang="en-ID" dirty="0"/>
              <a:t> </a:t>
            </a:r>
            <a:r>
              <a:rPr lang="en-ID" dirty="0" err="1"/>
              <a:t>Memberikan</a:t>
            </a:r>
            <a:r>
              <a:rPr lang="en-ID" dirty="0"/>
              <a:t> </a:t>
            </a:r>
            <a:r>
              <a:rPr lang="en-ID" dirty="0" err="1"/>
              <a:t>gambaran</a:t>
            </a:r>
            <a:r>
              <a:rPr lang="en-ID" dirty="0"/>
              <a:t> </a:t>
            </a:r>
            <a:r>
              <a:rPr lang="en-ID" dirty="0" err="1"/>
              <a:t>umum</a:t>
            </a:r>
            <a:r>
              <a:rPr lang="en-ID" dirty="0"/>
              <a:t> </a:t>
            </a:r>
            <a:r>
              <a:rPr lang="en-ID" dirty="0" err="1"/>
              <a:t>mengenai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 yang </a:t>
            </a:r>
            <a:r>
              <a:rPr lang="en-ID" dirty="0" err="1"/>
              <a:t>tercatat</a:t>
            </a:r>
            <a:r>
              <a:rPr lang="en-ID" dirty="0"/>
              <a:t>, </a:t>
            </a:r>
            <a:r>
              <a:rPr lang="en-ID" dirty="0" err="1"/>
              <a:t>rentang</a:t>
            </a:r>
            <a:r>
              <a:rPr lang="en-ID" dirty="0"/>
              <a:t> </a:t>
            </a:r>
            <a:r>
              <a:rPr lang="en-ID" dirty="0" err="1"/>
              <a:t>waktu</a:t>
            </a:r>
            <a:r>
              <a:rPr lang="en-ID" dirty="0"/>
              <a:t> </a:t>
            </a:r>
            <a:r>
              <a:rPr lang="en-ID" dirty="0" err="1"/>
              <a:t>cakupan</a:t>
            </a:r>
            <a:r>
              <a:rPr lang="en-ID" dirty="0"/>
              <a:t> data,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kolom-kolom</a:t>
            </a:r>
            <a:r>
              <a:rPr lang="en-ID" dirty="0"/>
              <a:t> </a:t>
            </a:r>
            <a:r>
              <a:rPr lang="en-ID" dirty="0" err="1"/>
              <a:t>utama</a:t>
            </a:r>
            <a:r>
              <a:rPr lang="en-ID" dirty="0"/>
              <a:t> yang </a:t>
            </a:r>
            <a:r>
              <a:rPr lang="en-ID" dirty="0" err="1"/>
              <a:t>tersedia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dataset (</a:t>
            </a:r>
            <a:r>
              <a:rPr lang="en-ID" dirty="0" err="1"/>
              <a:t>misalnya</a:t>
            </a:r>
            <a:r>
              <a:rPr lang="en-ID" dirty="0"/>
              <a:t>, </a:t>
            </a:r>
            <a:r>
              <a:rPr lang="en-ID" dirty="0" err="1"/>
              <a:t>Weaponry_Type</a:t>
            </a:r>
            <a:r>
              <a:rPr lang="en-ID" dirty="0"/>
              <a:t>, </a:t>
            </a:r>
            <a:r>
              <a:rPr lang="en-ID" dirty="0" err="1"/>
              <a:t>Target_Category</a:t>
            </a:r>
            <a:r>
              <a:rPr lang="en-ID" dirty="0"/>
              <a:t>, Severity, Date, Country).</a:t>
            </a:r>
          </a:p>
          <a:p>
            <a:pPr marL="457200" indent="-457200">
              <a:buFont typeface="+mj-lt"/>
              <a:buAutoNum type="arabicPeriod"/>
            </a:pPr>
            <a:r>
              <a:rPr lang="en-ID" dirty="0"/>
              <a:t>Data Cleaning : </a:t>
            </a:r>
            <a:r>
              <a:rPr lang="en-ID" dirty="0" err="1"/>
              <a:t>menghapus</a:t>
            </a:r>
            <a:r>
              <a:rPr lang="en-ID" dirty="0"/>
              <a:t> data </a:t>
            </a:r>
            <a:r>
              <a:rPr lang="en-ID" dirty="0" err="1"/>
              <a:t>kosong</a:t>
            </a:r>
            <a:r>
              <a:rPr lang="en-ID" dirty="0"/>
              <a:t>, </a:t>
            </a:r>
            <a:r>
              <a:rPr lang="en-ID" dirty="0" err="1"/>
              <a:t>standarisasi</a:t>
            </a:r>
            <a:r>
              <a:rPr lang="en-ID" dirty="0"/>
              <a:t> </a:t>
            </a:r>
            <a:r>
              <a:rPr lang="en-ID" dirty="0" err="1"/>
              <a:t>kolom</a:t>
            </a:r>
            <a:r>
              <a:rPr lang="en-ID" dirty="0"/>
              <a:t>, </a:t>
            </a:r>
            <a:r>
              <a:rPr lang="en-ID" dirty="0" err="1"/>
              <a:t>merubah</a:t>
            </a:r>
            <a:r>
              <a:rPr lang="en-ID" dirty="0"/>
              <a:t> format </a:t>
            </a:r>
            <a:r>
              <a:rPr lang="en-ID" dirty="0" err="1"/>
              <a:t>tanggal</a:t>
            </a:r>
            <a:endParaRPr lang="en-ID" dirty="0"/>
          </a:p>
          <a:p>
            <a:pPr marL="457200" indent="-457200">
              <a:buFont typeface="+mj-lt"/>
              <a:buAutoNum type="arabicPeriod"/>
            </a:pPr>
            <a:r>
              <a:rPr lang="en-ID" dirty="0" err="1"/>
              <a:t>Visualisasi</a:t>
            </a:r>
            <a:r>
              <a:rPr lang="en-ID" dirty="0"/>
              <a:t> data</a:t>
            </a: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802803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0A9A7-6AF6-EB11-0F64-756C7F72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n-NO" dirty="0"/>
              <a:t>Distribusi Insiden berdasarkan Tipe Senjata</a:t>
            </a:r>
            <a:endParaRPr lang="en-ID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AAC7C6-17AB-6ECB-3063-991E26CD2D2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0504" y="1737360"/>
            <a:ext cx="8690991" cy="5043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87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18E43-C900-7D0A-ACE6-373974FB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Hubungan</a:t>
            </a:r>
            <a:r>
              <a:rPr lang="en-ID" dirty="0"/>
              <a:t> </a:t>
            </a:r>
            <a:r>
              <a:rPr lang="en-ID" dirty="0" err="1"/>
              <a:t>Tipe</a:t>
            </a:r>
            <a:r>
              <a:rPr lang="en-ID" dirty="0"/>
              <a:t> </a:t>
            </a:r>
            <a:r>
              <a:rPr lang="en-ID" dirty="0" err="1"/>
              <a:t>Senjata</a:t>
            </a:r>
            <a:r>
              <a:rPr lang="en-ID" dirty="0"/>
              <a:t> dan Tingkat </a:t>
            </a:r>
            <a:r>
              <a:rPr lang="en-ID" dirty="0" err="1"/>
              <a:t>Keparahan</a:t>
            </a:r>
            <a:r>
              <a:rPr lang="en-ID" dirty="0"/>
              <a:t> </a:t>
            </a:r>
            <a:r>
              <a:rPr lang="en-ID" dirty="0" err="1"/>
              <a:t>Insiden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68C42F-1F2C-B39F-A6DF-00E0D9A8DE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3223997" cy="4023360"/>
          </a:xfrm>
        </p:spPr>
        <p:txBody>
          <a:bodyPr/>
          <a:lstStyle/>
          <a:p>
            <a:r>
              <a:rPr lang="en-ID" dirty="0"/>
              <a:t>Heatmap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menggambarkan</a:t>
            </a:r>
            <a:r>
              <a:rPr lang="en-ID" dirty="0"/>
              <a:t> </a:t>
            </a:r>
            <a:r>
              <a:rPr lang="en-ID" dirty="0" err="1"/>
              <a:t>korelasi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senjata</a:t>
            </a:r>
            <a:r>
              <a:rPr lang="en-ID" dirty="0"/>
              <a:t> yang </a:t>
            </a:r>
            <a:r>
              <a:rPr lang="en-ID" dirty="0" err="1"/>
              <a:t>digunakan</a:t>
            </a:r>
            <a:r>
              <a:rPr lang="en-ID" dirty="0"/>
              <a:t> dan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keparahan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.</a:t>
            </a:r>
          </a:p>
          <a:p>
            <a:endParaRPr lang="en-ID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B96738E0-C9F0-4A93-9000-5DD4F7B38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3730" y="1737360"/>
            <a:ext cx="6828502" cy="4981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572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E3E97-B9A0-CE6F-BC01-AB5A5BCBB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Persentase</a:t>
            </a:r>
            <a:r>
              <a:rPr lang="en-ID" dirty="0"/>
              <a:t> Tingkat </a:t>
            </a:r>
            <a:r>
              <a:rPr lang="en-ID" dirty="0" err="1"/>
              <a:t>Keparahan</a:t>
            </a:r>
            <a:r>
              <a:rPr lang="en-ID" dirty="0"/>
              <a:t> per </a:t>
            </a:r>
            <a:r>
              <a:rPr lang="en-ID" dirty="0" err="1"/>
              <a:t>Tipe</a:t>
            </a:r>
            <a:r>
              <a:rPr lang="en-ID" dirty="0"/>
              <a:t> </a:t>
            </a:r>
            <a:r>
              <a:rPr lang="en-ID" dirty="0" err="1"/>
              <a:t>Senjata</a:t>
            </a:r>
            <a:endParaRPr lang="en-ID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E65CC-47CF-78D0-9B71-141A1DA40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504217" cy="4023360"/>
          </a:xfrm>
        </p:spPr>
        <p:txBody>
          <a:bodyPr/>
          <a:lstStyle/>
          <a:p>
            <a:r>
              <a:rPr lang="en-ID" dirty="0"/>
              <a:t>Tabel </a:t>
            </a:r>
            <a:r>
              <a:rPr lang="en-ID" dirty="0" err="1"/>
              <a:t>ini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proporsi</a:t>
            </a:r>
            <a:r>
              <a:rPr lang="en-ID" dirty="0"/>
              <a:t> </a:t>
            </a:r>
            <a:r>
              <a:rPr lang="en-ID" dirty="0" err="1"/>
              <a:t>dampak</a:t>
            </a:r>
            <a:r>
              <a:rPr lang="en-ID" dirty="0"/>
              <a:t> </a:t>
            </a:r>
            <a:r>
              <a:rPr lang="en-ID" dirty="0" err="1"/>
              <a:t>keparahan</a:t>
            </a:r>
            <a:r>
              <a:rPr lang="en-ID" dirty="0"/>
              <a:t> yang </a:t>
            </a:r>
            <a:r>
              <a:rPr lang="en-ID" dirty="0" err="1"/>
              <a:t>dihasilkan</a:t>
            </a:r>
            <a:r>
              <a:rPr lang="en-ID" dirty="0"/>
              <a:t> oleh masing-masing </a:t>
            </a:r>
            <a:r>
              <a:rPr lang="en-ID" dirty="0" err="1"/>
              <a:t>tipe</a:t>
            </a:r>
            <a:r>
              <a:rPr lang="en-ID" dirty="0"/>
              <a:t> </a:t>
            </a:r>
            <a:r>
              <a:rPr lang="en-ID" dirty="0" err="1"/>
              <a:t>senjata</a:t>
            </a:r>
            <a:r>
              <a:rPr lang="en-ID" dirty="0"/>
              <a:t> </a:t>
            </a:r>
            <a:r>
              <a:rPr lang="en-ID" dirty="0" err="1"/>
              <a:t>relatif</a:t>
            </a:r>
            <a:r>
              <a:rPr lang="en-ID" dirty="0"/>
              <a:t> </a:t>
            </a:r>
            <a:r>
              <a:rPr lang="en-ID" dirty="0" err="1"/>
              <a:t>terhadap</a:t>
            </a:r>
            <a:r>
              <a:rPr lang="en-ID" dirty="0"/>
              <a:t> </a:t>
            </a:r>
            <a:r>
              <a:rPr lang="en-ID" dirty="0" err="1"/>
              <a:t>semua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 yang </a:t>
            </a:r>
            <a:r>
              <a:rPr lang="en-ID" dirty="0" err="1"/>
              <a:t>melibatkan</a:t>
            </a:r>
            <a:r>
              <a:rPr lang="en-ID" dirty="0"/>
              <a:t> </a:t>
            </a:r>
            <a:r>
              <a:rPr lang="en-ID" dirty="0" err="1"/>
              <a:t>senjata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1059E8E-5B8C-D2F3-9F78-0439633A92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687" y="1845734"/>
            <a:ext cx="6298130" cy="433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989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7C7E5-7F8F-F664-25F8-C0CD3BAB3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D" dirty="0" err="1"/>
              <a:t>Distribusi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Kategori</a:t>
            </a:r>
            <a:r>
              <a:rPr lang="en-ID" dirty="0"/>
              <a:t> Target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0377B49-364A-981B-F53A-6475812CF2A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3045" y="1737360"/>
            <a:ext cx="8362336" cy="4852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3450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E4C19-4DD9-89F6-A69A-F5BF8C91F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i-FI" dirty="0"/>
              <a:t>Distribusi Keseluruhan Tingkat Keparahan Insiden</a:t>
            </a:r>
            <a:endParaRPr lang="en-ID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0D18098-81B8-2805-2313-9C0D85856C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2697" y="1824240"/>
            <a:ext cx="6356362" cy="47471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8095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22215-FFFD-012B-091C-4987AB7A3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Tren </a:t>
            </a:r>
            <a:r>
              <a:rPr lang="en-ID" dirty="0" err="1"/>
              <a:t>Insiden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Waktu </a:t>
            </a:r>
            <a:r>
              <a:rPr lang="en-ID" dirty="0" err="1"/>
              <a:t>ke</a:t>
            </a:r>
            <a:r>
              <a:rPr lang="en-ID" dirty="0"/>
              <a:t> Waktu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8A23B25E-4B28-63D8-7C1A-0FA5244FEC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724" y="1846263"/>
            <a:ext cx="9511899" cy="4725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3965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B301F-CE64-7F50-AEED-D86B107A2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 err="1"/>
              <a:t>Prediksi</a:t>
            </a:r>
            <a:r>
              <a:rPr lang="en-ID" dirty="0"/>
              <a:t> </a:t>
            </a:r>
            <a:r>
              <a:rPr lang="en-ID" dirty="0" err="1"/>
              <a:t>Analisis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0E0C-9F07-BD73-3EDB-EBCFFFB2CC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320" y="1875230"/>
            <a:ext cx="10058400" cy="4023360"/>
          </a:xfrm>
        </p:spPr>
        <p:txBody>
          <a:bodyPr/>
          <a:lstStyle/>
          <a:p>
            <a:r>
              <a:rPr lang="en-ID" dirty="0" err="1"/>
              <a:t>Berikut</a:t>
            </a:r>
            <a:r>
              <a:rPr lang="en-ID" dirty="0"/>
              <a:t> </a:t>
            </a:r>
            <a:r>
              <a:rPr lang="en-ID" dirty="0" err="1"/>
              <a:t>adalah</a:t>
            </a:r>
            <a:r>
              <a:rPr lang="en-ID" dirty="0"/>
              <a:t> </a:t>
            </a:r>
            <a:r>
              <a:rPr lang="en-ID" dirty="0" err="1"/>
              <a:t>implementasi</a:t>
            </a:r>
            <a:r>
              <a:rPr lang="en-ID" dirty="0"/>
              <a:t> </a:t>
            </a:r>
            <a:r>
              <a:rPr lang="en-ID" dirty="0" err="1"/>
              <a:t>contoh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membangun</a:t>
            </a:r>
            <a:r>
              <a:rPr lang="en-ID" dirty="0"/>
              <a:t> model </a:t>
            </a:r>
            <a:r>
              <a:rPr lang="en-ID" dirty="0" err="1"/>
              <a:t>prediktif</a:t>
            </a:r>
            <a:r>
              <a:rPr lang="en-ID" dirty="0"/>
              <a:t> yang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memprediksi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keparahan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 (Severity)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karakteristik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 </a:t>
            </a:r>
            <a:r>
              <a:rPr lang="en-ID" dirty="0" err="1"/>
              <a:t>lainnya</a:t>
            </a:r>
            <a:r>
              <a:rPr lang="en-ID" dirty="0"/>
              <a:t>. Kita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Weaponry_Type</a:t>
            </a:r>
            <a:r>
              <a:rPr lang="en-ID" dirty="0"/>
              <a:t>, </a:t>
            </a:r>
            <a:r>
              <a:rPr lang="en-ID" dirty="0" err="1"/>
              <a:t>Target_Category</a:t>
            </a:r>
            <a:r>
              <a:rPr lang="en-ID" dirty="0"/>
              <a:t>, dan Country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prediktif</a:t>
            </a:r>
            <a:r>
              <a:rPr lang="en-ID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96A447-2FFC-9AA1-12AA-B3BC7F17C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71" y="2961046"/>
            <a:ext cx="4837471" cy="9177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D31A6B-7550-ECE3-BEE8-65EF437F6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2942" y="2961046"/>
            <a:ext cx="6885563" cy="3610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307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BF339-DF16-DBEC-28CC-F9A33AC68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460CA-E10B-2D14-A29D-AEE2057E5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3489468" cy="4023360"/>
          </a:xfrm>
        </p:spPr>
        <p:txBody>
          <a:bodyPr/>
          <a:lstStyle/>
          <a:p>
            <a:r>
              <a:rPr lang="en-ID" dirty="0"/>
              <a:t>Hasil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kinerja</a:t>
            </a:r>
            <a:r>
              <a:rPr lang="en-ID" dirty="0"/>
              <a:t> model </a:t>
            </a:r>
            <a:r>
              <a:rPr lang="en-ID" dirty="0" err="1"/>
              <a:t>klasifikasi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memprediksi</a:t>
            </a:r>
            <a:r>
              <a:rPr lang="en-ID" dirty="0"/>
              <a:t> Severity </a:t>
            </a:r>
            <a:r>
              <a:rPr lang="en-ID" dirty="0" err="1"/>
              <a:t>insiden</a:t>
            </a:r>
            <a:r>
              <a:rPr lang="en-ID" dirty="0"/>
              <a:t>. Dari </a:t>
            </a:r>
            <a:r>
              <a:rPr lang="en-ID" dirty="0" err="1"/>
              <a:t>laporan</a:t>
            </a:r>
            <a:r>
              <a:rPr lang="en-ID" dirty="0"/>
              <a:t> </a:t>
            </a:r>
            <a:r>
              <a:rPr lang="en-ID" dirty="0" err="1"/>
              <a:t>klasifikasi</a:t>
            </a:r>
            <a:r>
              <a:rPr lang="en-ID" dirty="0"/>
              <a:t>, </a:t>
            </a:r>
            <a:r>
              <a:rPr lang="en-ID" dirty="0" err="1"/>
              <a:t>kita</a:t>
            </a:r>
            <a:r>
              <a:rPr lang="en-ID" dirty="0"/>
              <a:t> </a:t>
            </a:r>
            <a:r>
              <a:rPr lang="en-ID" dirty="0" err="1"/>
              <a:t>bisa</a:t>
            </a:r>
            <a:r>
              <a:rPr lang="en-ID" dirty="0"/>
              <a:t> </a:t>
            </a:r>
            <a:r>
              <a:rPr lang="en-ID" dirty="0" err="1"/>
              <a:t>melihat</a:t>
            </a:r>
            <a:r>
              <a:rPr lang="en-ID" dirty="0"/>
              <a:t> </a:t>
            </a:r>
            <a:r>
              <a:rPr lang="en-ID" dirty="0" err="1"/>
              <a:t>presisi</a:t>
            </a:r>
            <a:r>
              <a:rPr lang="en-ID" dirty="0"/>
              <a:t>, recall, dan f1-score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setiap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keparahan</a:t>
            </a:r>
            <a:r>
              <a:rPr lang="en-ID" dirty="0"/>
              <a:t>. </a:t>
            </a:r>
            <a:r>
              <a:rPr lang="en-ID" dirty="0" err="1"/>
              <a:t>Matriks</a:t>
            </a:r>
            <a:r>
              <a:rPr lang="en-ID" dirty="0"/>
              <a:t> </a:t>
            </a:r>
            <a:r>
              <a:rPr lang="en-ID" dirty="0" err="1"/>
              <a:t>konfusi</a:t>
            </a:r>
            <a:r>
              <a:rPr lang="en-ID" dirty="0"/>
              <a:t> </a:t>
            </a:r>
            <a:r>
              <a:rPr lang="en-ID" dirty="0" err="1"/>
              <a:t>memberikan</a:t>
            </a:r>
            <a:r>
              <a:rPr lang="en-ID" dirty="0"/>
              <a:t> detail </a:t>
            </a:r>
            <a:r>
              <a:rPr lang="en-ID" dirty="0" err="1"/>
              <a:t>tentang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 mana yang </a:t>
            </a:r>
            <a:r>
              <a:rPr lang="en-ID" dirty="0" err="1"/>
              <a:t>diprediksi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benar</a:t>
            </a:r>
            <a:r>
              <a:rPr lang="en-ID" dirty="0"/>
              <a:t> dan yang salah.</a:t>
            </a: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080C4313-7D08-93FE-9A44-FA0F57DE2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5405" y="823912"/>
            <a:ext cx="6638556" cy="5754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20735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AC9FE0-6AC9-D97B-118D-1FB5F7507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Kesimpulan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E8E38-7556-285F-DA48-037C0378F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ID" b="1" dirty="0" err="1"/>
              <a:t>Distribusi</a:t>
            </a:r>
            <a:r>
              <a:rPr lang="en-ID" b="1" dirty="0"/>
              <a:t> </a:t>
            </a:r>
            <a:r>
              <a:rPr lang="en-ID" b="1" dirty="0" err="1"/>
              <a:t>Senjata</a:t>
            </a:r>
            <a:r>
              <a:rPr lang="en-ID" b="1" dirty="0"/>
              <a:t>:</a:t>
            </a:r>
            <a:r>
              <a:rPr lang="en-ID" dirty="0"/>
              <a:t> </a:t>
            </a:r>
            <a:r>
              <a:rPr lang="en-ID" dirty="0" err="1"/>
              <a:t>Tipe</a:t>
            </a:r>
            <a:r>
              <a:rPr lang="en-ID" dirty="0"/>
              <a:t> </a:t>
            </a:r>
            <a:r>
              <a:rPr lang="en-ID" dirty="0" err="1"/>
              <a:t>senjata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'Air Strike' dan 'Drone Swarm' </a:t>
            </a:r>
            <a:r>
              <a:rPr lang="en-ID" dirty="0" err="1"/>
              <a:t>mendominasi</a:t>
            </a:r>
            <a:r>
              <a:rPr lang="en-ID" dirty="0"/>
              <a:t> </a:t>
            </a:r>
            <a:r>
              <a:rPr lang="en-ID" dirty="0" err="1"/>
              <a:t>frekuensi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,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preferensi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taktik</a:t>
            </a:r>
            <a:r>
              <a:rPr lang="en-ID" dirty="0"/>
              <a:t> </a:t>
            </a:r>
            <a:r>
              <a:rPr lang="en-ID" dirty="0" err="1"/>
              <a:t>serangan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b="1" dirty="0" err="1"/>
              <a:t>Korelasi</a:t>
            </a:r>
            <a:r>
              <a:rPr lang="en-ID" b="1" dirty="0"/>
              <a:t> </a:t>
            </a:r>
            <a:r>
              <a:rPr lang="en-ID" b="1" dirty="0" err="1"/>
              <a:t>Senjata</a:t>
            </a:r>
            <a:r>
              <a:rPr lang="en-ID" b="1" dirty="0"/>
              <a:t> &amp; </a:t>
            </a:r>
            <a:r>
              <a:rPr lang="en-ID" b="1" dirty="0" err="1"/>
              <a:t>Keparahan</a:t>
            </a:r>
            <a:r>
              <a:rPr lang="en-ID" b="1" dirty="0"/>
              <a:t>:</a:t>
            </a:r>
            <a:r>
              <a:rPr lang="en-ID" dirty="0"/>
              <a:t> </a:t>
            </a:r>
            <a:r>
              <a:rPr lang="en-ID" dirty="0" err="1"/>
              <a:t>Terdapat</a:t>
            </a:r>
            <a:r>
              <a:rPr lang="en-ID" dirty="0"/>
              <a:t> </a:t>
            </a:r>
            <a:r>
              <a:rPr lang="en-ID" dirty="0" err="1"/>
              <a:t>hubungan</a:t>
            </a:r>
            <a:r>
              <a:rPr lang="en-ID" dirty="0"/>
              <a:t> yang </a:t>
            </a:r>
            <a:r>
              <a:rPr lang="en-ID" dirty="0" err="1"/>
              <a:t>jelas</a:t>
            </a:r>
            <a:r>
              <a:rPr lang="en-ID" dirty="0"/>
              <a:t> </a:t>
            </a:r>
            <a:r>
              <a:rPr lang="en-ID" dirty="0" err="1"/>
              <a:t>antara</a:t>
            </a:r>
            <a:r>
              <a:rPr lang="en-ID" dirty="0"/>
              <a:t> </a:t>
            </a:r>
            <a:r>
              <a:rPr lang="en-ID" dirty="0" err="1"/>
              <a:t>jenis</a:t>
            </a:r>
            <a:r>
              <a:rPr lang="en-ID" dirty="0"/>
              <a:t> </a:t>
            </a:r>
            <a:r>
              <a:rPr lang="en-ID" dirty="0" err="1"/>
              <a:t>senjata</a:t>
            </a:r>
            <a:r>
              <a:rPr lang="en-ID" dirty="0"/>
              <a:t> dan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keparahan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. </a:t>
            </a:r>
            <a:r>
              <a:rPr lang="en-ID" dirty="0" err="1"/>
              <a:t>Misalnya</a:t>
            </a:r>
            <a:r>
              <a:rPr lang="en-ID" dirty="0"/>
              <a:t>, 'Air Strike'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persentase</a:t>
            </a:r>
            <a:r>
              <a:rPr lang="en-ID" dirty="0"/>
              <a:t> 'Catastrophic' yang </a:t>
            </a:r>
            <a:r>
              <a:rPr lang="en-ID" dirty="0" err="1"/>
              <a:t>tinggi</a:t>
            </a:r>
            <a:r>
              <a:rPr lang="en-ID" dirty="0"/>
              <a:t>, </a:t>
            </a:r>
            <a:r>
              <a:rPr lang="en-ID" dirty="0" err="1"/>
              <a:t>sementara</a:t>
            </a:r>
            <a:r>
              <a:rPr lang="en-ID" dirty="0"/>
              <a:t> 'Ballistic Missile' dan 'Cyber Attack' juga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menyebabkan</a:t>
            </a:r>
            <a:r>
              <a:rPr lang="en-ID" dirty="0"/>
              <a:t> </a:t>
            </a:r>
            <a:r>
              <a:rPr lang="en-ID" dirty="0" err="1"/>
              <a:t>keparahan</a:t>
            </a:r>
            <a:r>
              <a:rPr lang="en-ID" dirty="0"/>
              <a:t> 'High'.</a:t>
            </a:r>
          </a:p>
          <a:p>
            <a:pPr marL="457200" indent="-457200">
              <a:buFont typeface="+mj-lt"/>
              <a:buAutoNum type="arabicPeriod"/>
            </a:pPr>
            <a:r>
              <a:rPr lang="en-ID" b="1" dirty="0"/>
              <a:t>Target </a:t>
            </a:r>
            <a:r>
              <a:rPr lang="en-ID" b="1" dirty="0" err="1"/>
              <a:t>Prioritas</a:t>
            </a:r>
            <a:r>
              <a:rPr lang="en-ID" b="1" dirty="0"/>
              <a:t>:</a:t>
            </a:r>
            <a:r>
              <a:rPr lang="en-ID" dirty="0"/>
              <a:t> 'Military Base' dan 'Oil Refinery' </a:t>
            </a:r>
            <a:r>
              <a:rPr lang="en-ID" dirty="0" err="1"/>
              <a:t>adalah</a:t>
            </a:r>
            <a:r>
              <a:rPr lang="en-ID" dirty="0"/>
              <a:t> target yang paling </a:t>
            </a:r>
            <a:r>
              <a:rPr lang="en-ID" dirty="0" err="1"/>
              <a:t>sering</a:t>
            </a:r>
            <a:r>
              <a:rPr lang="en-ID" dirty="0"/>
              <a:t> </a:t>
            </a:r>
            <a:r>
              <a:rPr lang="en-ID" dirty="0" err="1"/>
              <a:t>diserang</a:t>
            </a:r>
            <a:r>
              <a:rPr lang="en-ID" dirty="0"/>
              <a:t>, </a:t>
            </a:r>
            <a:r>
              <a:rPr lang="en-ID" dirty="0" err="1"/>
              <a:t>mengindikasikan</a:t>
            </a:r>
            <a:r>
              <a:rPr lang="en-ID" dirty="0"/>
              <a:t> </a:t>
            </a:r>
            <a:r>
              <a:rPr lang="en-ID" dirty="0" err="1"/>
              <a:t>prioritas</a:t>
            </a:r>
            <a:r>
              <a:rPr lang="en-ID" dirty="0"/>
              <a:t> </a:t>
            </a:r>
            <a:r>
              <a:rPr lang="en-ID" dirty="0" err="1"/>
              <a:t>strategis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konflik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b="1" dirty="0"/>
              <a:t>Tingkat </a:t>
            </a:r>
            <a:r>
              <a:rPr lang="en-ID" b="1" dirty="0" err="1"/>
              <a:t>Keparahan</a:t>
            </a:r>
            <a:r>
              <a:rPr lang="en-ID" b="1" dirty="0"/>
              <a:t> </a:t>
            </a:r>
            <a:r>
              <a:rPr lang="en-ID" b="1" dirty="0" err="1"/>
              <a:t>Keseluruhan</a:t>
            </a:r>
            <a:r>
              <a:rPr lang="en-ID" b="1" dirty="0"/>
              <a:t>:</a:t>
            </a:r>
            <a:r>
              <a:rPr lang="en-ID" dirty="0"/>
              <a:t> </a:t>
            </a:r>
            <a:r>
              <a:rPr lang="en-ID" dirty="0" err="1"/>
              <a:t>Sebaran</a:t>
            </a:r>
            <a:r>
              <a:rPr lang="en-ID" dirty="0"/>
              <a:t> </a:t>
            </a:r>
            <a:r>
              <a:rPr lang="en-ID" dirty="0" err="1"/>
              <a:t>tingkat</a:t>
            </a:r>
            <a:r>
              <a:rPr lang="en-ID" dirty="0"/>
              <a:t> </a:t>
            </a:r>
            <a:r>
              <a:rPr lang="en-ID" dirty="0" err="1"/>
              <a:t>keparahan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bahwa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 'High' dan 'Catastrophic'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signifikan</a:t>
            </a:r>
            <a:r>
              <a:rPr lang="en-ID" dirty="0"/>
              <a:t>, </a:t>
            </a:r>
            <a:r>
              <a:rPr lang="en-ID" dirty="0" err="1"/>
              <a:t>menekankan</a:t>
            </a:r>
            <a:r>
              <a:rPr lang="en-ID" dirty="0"/>
              <a:t> </a:t>
            </a:r>
            <a:r>
              <a:rPr lang="en-ID" dirty="0" err="1"/>
              <a:t>pentingnya</a:t>
            </a:r>
            <a:r>
              <a:rPr lang="en-ID" dirty="0"/>
              <a:t> </a:t>
            </a:r>
            <a:r>
              <a:rPr lang="en-ID" dirty="0" err="1"/>
              <a:t>respons</a:t>
            </a:r>
            <a:r>
              <a:rPr lang="en-ID" dirty="0"/>
              <a:t> yang </a:t>
            </a:r>
            <a:r>
              <a:rPr lang="en-ID" dirty="0" err="1"/>
              <a:t>cepat</a:t>
            </a:r>
            <a:r>
              <a:rPr lang="en-ID" dirty="0"/>
              <a:t> dan </a:t>
            </a:r>
            <a:r>
              <a:rPr lang="en-ID" dirty="0" err="1"/>
              <a:t>efektif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b="1" dirty="0"/>
              <a:t>Tren Temporal:</a:t>
            </a:r>
            <a:r>
              <a:rPr lang="en-ID" dirty="0"/>
              <a:t> </a:t>
            </a:r>
            <a:r>
              <a:rPr lang="en-ID" dirty="0" err="1"/>
              <a:t>Meskipun</a:t>
            </a:r>
            <a:r>
              <a:rPr lang="en-ID" dirty="0"/>
              <a:t> data </a:t>
            </a:r>
            <a:r>
              <a:rPr lang="en-ID" dirty="0" err="1"/>
              <a:t>terbatas</a:t>
            </a:r>
            <a:r>
              <a:rPr lang="en-ID" dirty="0"/>
              <a:t>, </a:t>
            </a:r>
            <a:r>
              <a:rPr lang="en-ID" dirty="0" err="1"/>
              <a:t>tren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fluktuasi</a:t>
            </a:r>
            <a:r>
              <a:rPr lang="en-ID" dirty="0"/>
              <a:t> </a:t>
            </a:r>
            <a:r>
              <a:rPr lang="en-ID" dirty="0" err="1"/>
              <a:t>harian</a:t>
            </a:r>
            <a:r>
              <a:rPr lang="en-ID" dirty="0"/>
              <a:t>, </a:t>
            </a:r>
            <a:r>
              <a:rPr lang="en-ID" dirty="0" err="1"/>
              <a:t>memerlukan</a:t>
            </a:r>
            <a:r>
              <a:rPr lang="en-ID" dirty="0"/>
              <a:t> </a:t>
            </a:r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lebih</a:t>
            </a:r>
            <a:r>
              <a:rPr lang="en-ID" dirty="0"/>
              <a:t> </a:t>
            </a:r>
            <a:r>
              <a:rPr lang="en-ID" dirty="0" err="1"/>
              <a:t>lanjut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data </a:t>
            </a:r>
            <a:r>
              <a:rPr lang="en-ID" dirty="0" err="1"/>
              <a:t>jangka</a:t>
            </a:r>
            <a:r>
              <a:rPr lang="en-ID" dirty="0"/>
              <a:t> </a:t>
            </a:r>
            <a:r>
              <a:rPr lang="en-ID" dirty="0" err="1"/>
              <a:t>panjang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pola</a:t>
            </a:r>
            <a:r>
              <a:rPr lang="en-ID" dirty="0"/>
              <a:t> </a:t>
            </a:r>
            <a:r>
              <a:rPr lang="en-ID" dirty="0" err="1"/>
              <a:t>musiman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tahunan</a:t>
            </a:r>
            <a:r>
              <a:rPr lang="en-ID" dirty="0"/>
              <a:t>.</a:t>
            </a:r>
          </a:p>
          <a:p>
            <a:pPr marL="457200" indent="-457200">
              <a:buFont typeface="+mj-lt"/>
              <a:buAutoNum type="arabicPeriod"/>
            </a:pPr>
            <a:endParaRPr lang="en-ID" dirty="0"/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7363372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71</TotalTime>
  <Words>481</Words>
  <Application>Microsoft Office PowerPoint</Application>
  <PresentationFormat>Widescreen</PresentationFormat>
  <Paragraphs>28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Retrospect</vt:lpstr>
      <vt:lpstr>Analisis Big Data: Analisis Insiden Konflik dan Dampaknya studi kasus “perang iran-israel 2026”</vt:lpstr>
      <vt:lpstr>Pengenalan Dataset</vt:lpstr>
      <vt:lpstr>Metodologi</vt:lpstr>
      <vt:lpstr>Distribusi Insiden berdasarkan Tipe Senjata</vt:lpstr>
      <vt:lpstr>Hubungan Tipe Senjata dan Tingkat Keparahan Insiden</vt:lpstr>
      <vt:lpstr>Persentase Tingkat Keparahan per Tipe Senjata</vt:lpstr>
      <vt:lpstr>Distribusi Insiden berdasarkan Kategori Target</vt:lpstr>
      <vt:lpstr>Distribusi Keseluruhan Tingkat Keparahan Insiden</vt:lpstr>
      <vt:lpstr>Tren Insiden Konflik dari Waktu ke Waktu</vt:lpstr>
      <vt:lpstr>Prediksi Analisis</vt:lpstr>
      <vt:lpstr>PowerPoint Presentation</vt:lpstr>
      <vt:lpstr>Kesimpulan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Fakultas Ekonomi</dc:creator>
  <cp:lastModifiedBy>Fakultas Ekonomi</cp:lastModifiedBy>
  <cp:revision>8</cp:revision>
  <dcterms:created xsi:type="dcterms:W3CDTF">2026-04-02T04:22:12Z</dcterms:created>
  <dcterms:modified xsi:type="dcterms:W3CDTF">2026-04-11T03:20:59Z</dcterms:modified>
</cp:coreProperties>
</file>