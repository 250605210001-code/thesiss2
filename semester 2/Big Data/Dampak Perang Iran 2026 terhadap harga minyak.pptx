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28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014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27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91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025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573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45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883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048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457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316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FBE0B08-3E73-47B1-BA90-29B96CE0AA29}" type="datetimeFigureOut">
              <a:rPr lang="en-ID" smtClean="0"/>
              <a:t>02/04/2026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7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litaqishah/iran-war-oil-shock-2026-brent-and-gas-tracker/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873B-5A8E-3B3C-D906-7A374A93B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146850"/>
            <a:ext cx="10058400" cy="2511060"/>
          </a:xfrm>
        </p:spPr>
        <p:txBody>
          <a:bodyPr>
            <a:noAutofit/>
          </a:bodyPr>
          <a:lstStyle/>
          <a:p>
            <a:pPr algn="ctr"/>
            <a:r>
              <a:rPr lang="en-ID" sz="5400" b="1" dirty="0" err="1"/>
              <a:t>Analisis</a:t>
            </a:r>
            <a:r>
              <a:rPr lang="en-ID" sz="5400" b="1" dirty="0"/>
              <a:t> Big Data: </a:t>
            </a:r>
            <a:r>
              <a:rPr lang="en-ID" sz="5400" b="1" dirty="0" err="1"/>
              <a:t>Dampak</a:t>
            </a:r>
            <a:r>
              <a:rPr lang="en-ID" sz="5400" b="1" dirty="0"/>
              <a:t> </a:t>
            </a:r>
            <a:r>
              <a:rPr lang="en-ID" sz="5400" b="1" dirty="0" err="1"/>
              <a:t>Konflik</a:t>
            </a:r>
            <a:r>
              <a:rPr lang="en-ID" sz="5400" b="1" dirty="0"/>
              <a:t> Iran </a:t>
            </a:r>
            <a:r>
              <a:rPr lang="en-ID" sz="5400" b="1" dirty="0" err="1"/>
              <a:t>terhadap</a:t>
            </a:r>
            <a:r>
              <a:rPr lang="en-ID" sz="5400" b="1" dirty="0"/>
              <a:t> Harga </a:t>
            </a:r>
            <a:r>
              <a:rPr lang="en-ID" sz="5400" b="1" dirty="0" err="1"/>
              <a:t>Minyak</a:t>
            </a:r>
            <a:br>
              <a:rPr lang="en-ID" sz="5400" dirty="0"/>
            </a:br>
            <a:r>
              <a:rPr lang="en-ID" sz="2000" dirty="0">
                <a:solidFill>
                  <a:schemeClr val="bg1"/>
                </a:solidFill>
              </a:rPr>
              <a:t>d</a:t>
            </a:r>
            <a:br>
              <a:rPr lang="en-ID" sz="5400" dirty="0"/>
            </a:br>
            <a:r>
              <a:rPr lang="en-ID" sz="4400" b="1" i="1" dirty="0"/>
              <a:t>“</a:t>
            </a:r>
            <a:r>
              <a:rPr lang="en-US" sz="4400" b="1" i="1" dirty="0"/>
              <a:t>Studi Kasus: Iran War Oil Shock 2026”</a:t>
            </a:r>
            <a:endParaRPr lang="en-ID" sz="54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91B24-607D-BBFF-EFEE-67EC0CCFA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250605210001 Adi Cahyono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8093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13EF-861B-C74B-DD56-1A34EB27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Pendahuluan</a:t>
            </a:r>
            <a:r>
              <a:rPr lang="en-ID" dirty="0"/>
              <a:t> &amp; Tujuan </a:t>
            </a:r>
            <a:r>
              <a:rPr lang="en-ID" dirty="0" err="1"/>
              <a:t>Analisis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A02D-8115-083E-235B-BBF435C3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Latar </a:t>
            </a:r>
            <a:r>
              <a:rPr lang="en-ID" b="1" dirty="0" err="1"/>
              <a:t>Belakang</a:t>
            </a:r>
            <a:endParaRPr lang="en-ID" b="1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geopolitik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pasar </a:t>
            </a:r>
            <a:r>
              <a:rPr lang="en-ID" dirty="0" err="1"/>
              <a:t>komoditas</a:t>
            </a:r>
            <a:r>
              <a:rPr lang="en-ID" dirty="0"/>
              <a:t> global,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Studi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"Iran War Oil Shock 2026" pada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mentah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Tujuan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(Brent, WTI)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peristiwa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dan </a:t>
            </a:r>
            <a:r>
              <a:rPr lang="en-ID" dirty="0" err="1"/>
              <a:t>fluktuasi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60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8624-93BC-EA53-03A1-60126E39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Sumber</a:t>
            </a:r>
            <a:r>
              <a:rPr lang="en-ID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B3CA-BACD-4EA7-D3AA-B370AF54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yang </a:t>
            </a:r>
            <a:r>
              <a:rPr lang="en-US" dirty="0" err="1"/>
              <a:t>digunakan</a:t>
            </a:r>
            <a:r>
              <a:rPr lang="en-US" dirty="0"/>
              <a:t> diambil </a:t>
            </a:r>
            <a:r>
              <a:rPr lang="en-US" dirty="0" err="1"/>
              <a:t>dari</a:t>
            </a:r>
            <a:r>
              <a:rPr lang="en-US" dirty="0"/>
              <a:t> website Kaggle </a:t>
            </a:r>
            <a:r>
              <a:rPr lang="en-US" dirty="0">
                <a:hlinkClick r:id="rId2"/>
              </a:rPr>
              <a:t>https://www.kaggle.com/datasets/alitaqishah/iran-war-oil-shock-2026-brent-and-gas-tracker/data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Batasan dataset </a:t>
            </a:r>
            <a:r>
              <a:rPr lang="en-US" dirty="0" err="1"/>
              <a:t>ini</a:t>
            </a:r>
            <a:r>
              <a:rPr lang="en-US" dirty="0"/>
              <a:t> sampai tanggal 20 Maret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8772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68C7-E86E-1C40-8490-2BBB2776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Tren Harga </a:t>
            </a:r>
            <a:r>
              <a:rPr lang="en-ID" dirty="0" err="1"/>
              <a:t>Minyak</a:t>
            </a:r>
            <a:r>
              <a:rPr lang="en-ID" dirty="0"/>
              <a:t> Harian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29EFCB-E313-B210-C8D5-31B105BFA9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49" y="1846263"/>
            <a:ext cx="10196701" cy="47251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20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0FC5-6EFF-4DD2-158F-846E5269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Tren Harga </a:t>
            </a:r>
            <a:r>
              <a:rPr lang="en-ID" dirty="0" err="1"/>
              <a:t>Minyak</a:t>
            </a:r>
            <a:r>
              <a:rPr lang="en-ID" dirty="0"/>
              <a:t> Harian </a:t>
            </a:r>
            <a:r>
              <a:rPr lang="en-ID" dirty="0" err="1"/>
              <a:t>lanjutan</a:t>
            </a:r>
            <a:r>
              <a:rPr lang="en-ID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AF5C6-5714-762C-9D3E-06B51B02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lonjakan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dimulainya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Harga Brent dan WTI </a:t>
            </a:r>
            <a:r>
              <a:rPr lang="en-ID" dirty="0" err="1"/>
              <a:t>cenderung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Brent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82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BF78-1B48-73C4-E974-063D4514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Analisis</a:t>
            </a:r>
            <a:r>
              <a:rPr lang="en-ID" dirty="0"/>
              <a:t> Harga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Fase </a:t>
            </a:r>
            <a:r>
              <a:rPr lang="en-ID" dirty="0" err="1"/>
              <a:t>Konflik</a:t>
            </a:r>
            <a:endParaRPr lang="en-ID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4B2C77-EE26-C076-889E-94A2CA5CAD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27" y="1846263"/>
            <a:ext cx="9522346" cy="472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92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46EC-ACE9-4E84-62EF-7594785E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Analisis</a:t>
            </a:r>
            <a:r>
              <a:rPr lang="en-ID" dirty="0"/>
              <a:t> Harga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Fase </a:t>
            </a:r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lanjutan</a:t>
            </a:r>
            <a:r>
              <a:rPr lang="en-ID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0034-7EF0-C6B1-2AD1-EF354C837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Harga rata-rata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meningkat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progresif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fase</a:t>
            </a:r>
            <a:r>
              <a:rPr lang="en-ID" dirty="0"/>
              <a:t> 'Pre-War Tensions' </a:t>
            </a:r>
            <a:r>
              <a:rPr lang="en-ID" dirty="0" err="1"/>
              <a:t>hingga</a:t>
            </a:r>
            <a:r>
              <a:rPr lang="en-ID" dirty="0"/>
              <a:t> 'Week 3 Infrastructure Strikes’.</a:t>
            </a:r>
          </a:p>
          <a:p>
            <a:pPr marL="0" indent="0">
              <a:buNone/>
            </a:pPr>
            <a:r>
              <a:rPr lang="en-ID" dirty="0" err="1"/>
              <a:t>Kesenjangan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Brent dan WTI </a:t>
            </a:r>
            <a:r>
              <a:rPr lang="en-ID" dirty="0" err="1"/>
              <a:t>melebar</a:t>
            </a:r>
            <a:r>
              <a:rPr lang="en-ID" dirty="0"/>
              <a:t> </a:t>
            </a:r>
            <a:r>
              <a:rPr lang="en-ID" dirty="0" err="1"/>
              <a:t>seiring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eskalasi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, </a:t>
            </a:r>
            <a:r>
              <a:rPr lang="en-ID" dirty="0" err="1"/>
              <a:t>menunjukkan</a:t>
            </a:r>
            <a:r>
              <a:rPr lang="en-ID" dirty="0"/>
              <a:t> Brent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sensitif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ketidakpastian</a:t>
            </a:r>
            <a:r>
              <a:rPr lang="en-ID" dirty="0"/>
              <a:t> </a:t>
            </a:r>
            <a:r>
              <a:rPr lang="en-ID" dirty="0" err="1"/>
              <a:t>geopolitik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33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88E0-0447-DD1F-C213-30865DBF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Peristiwa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dan </a:t>
            </a:r>
            <a:r>
              <a:rPr lang="en-ID" dirty="0" err="1"/>
              <a:t>Dampaknya</a:t>
            </a:r>
            <a:r>
              <a:rPr lang="en-ID" dirty="0"/>
              <a:t> pada Harga Brent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0EE37C-DFF6-A5D7-F89E-0A17451887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79" y="1678368"/>
            <a:ext cx="11178442" cy="493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4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5AF3-093E-164B-59DE-1354CC5A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Peristiwa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dan </a:t>
            </a:r>
            <a:r>
              <a:rPr lang="en-ID" dirty="0" err="1"/>
              <a:t>Dampaknya</a:t>
            </a:r>
            <a:r>
              <a:rPr lang="en-ID" dirty="0"/>
              <a:t> pada Harga Brent </a:t>
            </a:r>
            <a:r>
              <a:rPr lang="en-ID" dirty="0" err="1"/>
              <a:t>lanjutan</a:t>
            </a:r>
            <a:r>
              <a:rPr lang="en-ID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D9F1D-EB9F-2F9A-5C73-52E11B34D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28 Feb 2026 (War Begins): </a:t>
            </a:r>
            <a:r>
              <a:rPr lang="en-ID" dirty="0" err="1"/>
              <a:t>Lonjakan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Brent </a:t>
            </a:r>
            <a:r>
              <a:rPr lang="en-ID" dirty="0" err="1"/>
              <a:t>dari</a:t>
            </a:r>
            <a:r>
              <a:rPr lang="en-ID" dirty="0"/>
              <a:t> ~70 USD </a:t>
            </a:r>
            <a:r>
              <a:rPr lang="en-ID" dirty="0" err="1"/>
              <a:t>ke</a:t>
            </a:r>
            <a:r>
              <a:rPr lang="en-ID" dirty="0"/>
              <a:t> ~80 USD.</a:t>
            </a:r>
          </a:p>
          <a:p>
            <a:pPr marL="0" indent="0">
              <a:buNone/>
            </a:pPr>
            <a:r>
              <a:rPr lang="en-ID" b="1" dirty="0"/>
              <a:t>02 Mar 2026 (Qatar LNG Shutdown):</a:t>
            </a:r>
            <a:r>
              <a:rPr lang="en-ID" dirty="0"/>
              <a:t> </a:t>
            </a:r>
            <a:r>
              <a:rPr lang="en-ID" dirty="0" err="1"/>
              <a:t>Kenaikan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berlanjut</a:t>
            </a:r>
            <a:r>
              <a:rPr lang="en-ID" dirty="0"/>
              <a:t>, </a:t>
            </a:r>
            <a:r>
              <a:rPr lang="en-ID" dirty="0" err="1"/>
              <a:t>mencapai</a:t>
            </a:r>
            <a:r>
              <a:rPr lang="en-ID" dirty="0"/>
              <a:t> ~87 USD.</a:t>
            </a:r>
          </a:p>
          <a:p>
            <a:pPr marL="0" indent="0">
              <a:buNone/>
            </a:pPr>
            <a:r>
              <a:rPr lang="en-ID" b="1" dirty="0"/>
              <a:t>10 Mar 2026 (Brent Crosses $100): </a:t>
            </a:r>
            <a:r>
              <a:rPr lang="en-ID" dirty="0" err="1"/>
              <a:t>Menandai</a:t>
            </a:r>
            <a:r>
              <a:rPr lang="en-ID" dirty="0"/>
              <a:t> </a:t>
            </a:r>
            <a:r>
              <a:rPr lang="en-ID" dirty="0" err="1"/>
              <a:t>eskalasi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b="1" dirty="0"/>
              <a:t>15 Mar 2026 (Kharg Island Strike): </a:t>
            </a:r>
            <a:r>
              <a:rPr lang="en-ID" dirty="0" err="1"/>
              <a:t>Serangan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fasilitas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Iran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puncaknya</a:t>
            </a:r>
            <a:r>
              <a:rPr lang="en-ID" dirty="0"/>
              <a:t> (~110 USD).</a:t>
            </a:r>
          </a:p>
          <a:p>
            <a:pPr marL="0" indent="0">
              <a:buNone/>
            </a:pP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peristiwa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berkorelasi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, </a:t>
            </a:r>
            <a:r>
              <a:rPr lang="en-ID" dirty="0" err="1"/>
              <a:t>menekankan</a:t>
            </a:r>
            <a:r>
              <a:rPr lang="en-ID" dirty="0"/>
              <a:t> </a:t>
            </a:r>
            <a:r>
              <a:rPr lang="en-ID" dirty="0" err="1"/>
              <a:t>sensitivitas</a:t>
            </a:r>
            <a:r>
              <a:rPr lang="en-ID" dirty="0"/>
              <a:t> pasar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158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E428-BF63-ED34-C615-2E746F6A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0910B-8EBB-99DC-8225-BF3448AC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Analisis</a:t>
            </a:r>
            <a:r>
              <a:rPr lang="en-ID" dirty="0"/>
              <a:t> data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 dan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peristiwa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Iran dan </a:t>
            </a:r>
            <a:r>
              <a:rPr lang="en-ID" dirty="0" err="1"/>
              <a:t>fluktuasi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minyak</a:t>
            </a:r>
            <a:r>
              <a:rPr lang="en-ID" dirty="0"/>
              <a:t> global.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Harga Brent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sensitivitas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WTI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Harga </a:t>
            </a:r>
            <a:r>
              <a:rPr lang="en-ID" dirty="0" err="1"/>
              <a:t>bensin</a:t>
            </a:r>
            <a:r>
              <a:rPr lang="en-ID" dirty="0"/>
              <a:t> </a:t>
            </a:r>
            <a:r>
              <a:rPr lang="en-ID" dirty="0" err="1"/>
              <a:t>konsumen</a:t>
            </a:r>
            <a:r>
              <a:rPr lang="en-ID" dirty="0"/>
              <a:t> juga </a:t>
            </a:r>
            <a:r>
              <a:rPr lang="en-ID" dirty="0" err="1"/>
              <a:t>terpengaruh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variasi</a:t>
            </a:r>
            <a:r>
              <a:rPr lang="en-ID" dirty="0"/>
              <a:t> regional yang </a:t>
            </a:r>
            <a:r>
              <a:rPr lang="en-ID" dirty="0" err="1"/>
              <a:t>mencolok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</a:t>
            </a:r>
            <a:r>
              <a:rPr lang="en-ID" dirty="0" err="1"/>
              <a:t>ini</a:t>
            </a:r>
            <a:r>
              <a:rPr lang="en-ID" dirty="0"/>
              <a:t> sangat </a:t>
            </a:r>
            <a:r>
              <a:rPr lang="en-ID" dirty="0" err="1"/>
              <a:t>berharga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peramalan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di </a:t>
            </a:r>
            <a:r>
              <a:rPr lang="en-ID" dirty="0" err="1"/>
              <a:t>tengah</a:t>
            </a:r>
            <a:r>
              <a:rPr lang="en-ID" dirty="0"/>
              <a:t> </a:t>
            </a:r>
            <a:r>
              <a:rPr lang="en-ID" dirty="0" err="1"/>
              <a:t>ketidakpastian</a:t>
            </a:r>
            <a:r>
              <a:rPr lang="en-ID" dirty="0"/>
              <a:t> </a:t>
            </a:r>
            <a:r>
              <a:rPr lang="en-ID" dirty="0" err="1"/>
              <a:t>geopolitik</a:t>
            </a:r>
            <a:r>
              <a:rPr lang="en-ID" dirty="0"/>
              <a:t> dan </a:t>
            </a:r>
            <a:r>
              <a:rPr lang="en-ID" dirty="0" err="1"/>
              <a:t>perencanaan</a:t>
            </a:r>
            <a:r>
              <a:rPr lang="en-ID" dirty="0"/>
              <a:t> strategi </a:t>
            </a:r>
            <a:r>
              <a:rPr lang="en-ID" dirty="0" err="1"/>
              <a:t>energi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37578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</TotalTime>
  <Words>378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Analisis Big Data: Dampak Konflik Iran terhadap Harga Minyak d “Studi Kasus: Iran War Oil Shock 2026”</vt:lpstr>
      <vt:lpstr>Pendahuluan &amp; Tujuan Analisis</vt:lpstr>
      <vt:lpstr>Sumber Data</vt:lpstr>
      <vt:lpstr>Tren Harga Minyak Harian</vt:lpstr>
      <vt:lpstr>Tren Harga Minyak Harian lanjutan…</vt:lpstr>
      <vt:lpstr>Analisis Harga Minyak Berdasarkan Fase Konflik</vt:lpstr>
      <vt:lpstr>Analisis Harga Minyak Berdasarkan Fase Konflik lanjutan…</vt:lpstr>
      <vt:lpstr>Peristiwa Konflik dan Dampaknya pada Harga Brent</vt:lpstr>
      <vt:lpstr>Peristiwa Konflik dan Dampaknya pada Harga Brent lanjutan…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Fakultas Ekonomi</dc:creator>
  <cp:lastModifiedBy>Fakultas Ekonomi</cp:lastModifiedBy>
  <cp:revision>1</cp:revision>
  <dcterms:created xsi:type="dcterms:W3CDTF">2026-04-02T04:22:12Z</dcterms:created>
  <dcterms:modified xsi:type="dcterms:W3CDTF">2026-04-02T04:51:25Z</dcterms:modified>
</cp:coreProperties>
</file>