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34A8-3AA6-4F3F-86EA-E398A341A350}" type="datetimeFigureOut">
              <a:rPr lang="en-ID" smtClean="0"/>
              <a:t>29/04/2026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D74E-881E-4995-BF43-FA5AAB449B8D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27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34A8-3AA6-4F3F-86EA-E398A341A350}" type="datetimeFigureOut">
              <a:rPr lang="en-ID" smtClean="0"/>
              <a:t>29/04/2026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D74E-881E-4995-BF43-FA5AAB449B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3370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34A8-3AA6-4F3F-86EA-E398A341A350}" type="datetimeFigureOut">
              <a:rPr lang="en-ID" smtClean="0"/>
              <a:t>29/04/2026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D74E-881E-4995-BF43-FA5AAB449B8D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63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34A8-3AA6-4F3F-86EA-E398A341A350}" type="datetimeFigureOut">
              <a:rPr lang="en-ID" smtClean="0"/>
              <a:t>29/04/2026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D74E-881E-4995-BF43-FA5AAB449B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383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34A8-3AA6-4F3F-86EA-E398A341A350}" type="datetimeFigureOut">
              <a:rPr lang="en-ID" smtClean="0"/>
              <a:t>29/04/2026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D74E-881E-4995-BF43-FA5AAB449B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0286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34A8-3AA6-4F3F-86EA-E398A341A350}" type="datetimeFigureOut">
              <a:rPr lang="en-ID" smtClean="0"/>
              <a:t>29/04/2026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D74E-881E-4995-BF43-FA5AAB449B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385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34A8-3AA6-4F3F-86EA-E398A341A350}" type="datetimeFigureOut">
              <a:rPr lang="en-ID" smtClean="0"/>
              <a:t>29/04/2026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D74E-881E-4995-BF43-FA5AAB449B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8736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8234A8-3AA6-4F3F-86EA-E398A341A350}" type="datetimeFigureOut">
              <a:rPr lang="en-ID" smtClean="0"/>
              <a:t>29/04/2026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F2D74E-881E-4995-BF43-FA5AAB449B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167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34A8-3AA6-4F3F-86EA-E398A341A350}" type="datetimeFigureOut">
              <a:rPr lang="en-ID" smtClean="0"/>
              <a:t>29/04/2026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D74E-881E-4995-BF43-FA5AAB449B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9747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34A8-3AA6-4F3F-86EA-E398A341A350}" type="datetimeFigureOut">
              <a:rPr lang="en-ID" smtClean="0"/>
              <a:t>29/04/2026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D74E-881E-4995-BF43-FA5AAB449B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404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34A8-3AA6-4F3F-86EA-E398A341A350}" type="datetimeFigureOut">
              <a:rPr lang="en-ID" smtClean="0"/>
              <a:t>29/04/2026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D74E-881E-4995-BF43-FA5AAB449B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7768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8234A8-3AA6-4F3F-86EA-E398A341A350}" type="datetimeFigureOut">
              <a:rPr lang="en-ID" smtClean="0"/>
              <a:t>29/04/2026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8F2D74E-881E-4995-BF43-FA5AAB449B8D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493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B80ED-B2EA-D8F2-CF8F-2F38048BE3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Big Data Analytics</a:t>
            </a:r>
            <a:br>
              <a:rPr lang="en-US" dirty="0"/>
            </a:br>
            <a:r>
              <a:rPr lang="en-US" dirty="0"/>
              <a:t>review artikel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7E656-A06A-662D-2884-BCED6CB898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250605210001 – </a:t>
            </a:r>
            <a:r>
              <a:rPr lang="en-US" dirty="0" err="1"/>
              <a:t>adi</a:t>
            </a:r>
            <a:r>
              <a:rPr lang="en-US" dirty="0"/>
              <a:t> Cahyono</a:t>
            </a:r>
          </a:p>
          <a:p>
            <a:r>
              <a:rPr lang="en-US" dirty="0"/>
              <a:t>250605210015 - ANGGER DIMAS BAYU SADEWO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25195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8CC32-CAA2-D6D7-426D-684277110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Improving SMART learning: Course completion via AI-driven hybrid system integration in big data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D1AA7-D836-54B8-B037-BCC7DB69A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Artificial Intelligence (AI) dan big data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membawa</a:t>
            </a:r>
            <a:r>
              <a:rPr lang="en-ID" dirty="0"/>
              <a:t> </a:t>
            </a:r>
            <a:r>
              <a:rPr lang="en-ID" dirty="0" err="1"/>
              <a:t>transformasi</a:t>
            </a:r>
            <a:r>
              <a:rPr lang="en-ID" dirty="0"/>
              <a:t>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dunia </a:t>
            </a:r>
            <a:r>
              <a:rPr lang="en-ID" dirty="0" err="1"/>
              <a:t>pendidikan</a:t>
            </a:r>
            <a:r>
              <a:rPr lang="en-ID" dirty="0"/>
              <a:t>, </a:t>
            </a:r>
            <a:r>
              <a:rPr lang="en-ID" dirty="0" err="1"/>
              <a:t>khususnya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smart learning. </a:t>
            </a:r>
            <a:r>
              <a:rPr lang="en-ID" dirty="0" err="1"/>
              <a:t>Pemanfaatan</a:t>
            </a:r>
            <a:r>
              <a:rPr lang="en-ID" dirty="0"/>
              <a:t> data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institusi</a:t>
            </a:r>
            <a:r>
              <a:rPr lang="en-ID" dirty="0"/>
              <a:t> </a:t>
            </a:r>
            <a:r>
              <a:rPr lang="en-ID" dirty="0" err="1"/>
              <a:t>pendidikan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, </a:t>
            </a:r>
            <a:r>
              <a:rPr lang="en-ID" dirty="0" err="1"/>
              <a:t>memprediksi</a:t>
            </a:r>
            <a:r>
              <a:rPr lang="en-ID" dirty="0"/>
              <a:t> </a:t>
            </a:r>
            <a:r>
              <a:rPr lang="en-ID" dirty="0" err="1"/>
              <a:t>keberhasilan</a:t>
            </a:r>
            <a:r>
              <a:rPr lang="en-ID" dirty="0"/>
              <a:t> </a:t>
            </a:r>
            <a:r>
              <a:rPr lang="en-ID" dirty="0" err="1"/>
              <a:t>akademik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penyelesaian</a:t>
            </a:r>
            <a:r>
              <a:rPr lang="en-ID" dirty="0"/>
              <a:t> </a:t>
            </a:r>
            <a:r>
              <a:rPr lang="en-ID" dirty="0" err="1"/>
              <a:t>kursus</a:t>
            </a:r>
            <a:r>
              <a:rPr lang="en-ID" dirty="0"/>
              <a:t> (course completion).</a:t>
            </a:r>
          </a:p>
          <a:p>
            <a:r>
              <a:rPr lang="en-ID" dirty="0"/>
              <a:t>Artikel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mengusulkan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model hybrid </a:t>
            </a:r>
            <a:r>
              <a:rPr lang="en-ID" dirty="0" err="1"/>
              <a:t>berbasis</a:t>
            </a:r>
            <a:r>
              <a:rPr lang="en-ID" dirty="0"/>
              <a:t> AI yang </a:t>
            </a:r>
            <a:r>
              <a:rPr lang="en-ID" dirty="0" err="1"/>
              <a:t>mengintegrasikan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machine learning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efektivitas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dan </a:t>
            </a:r>
            <a:r>
              <a:rPr lang="en-ID" dirty="0" err="1"/>
              <a:t>memprediksi</a:t>
            </a:r>
            <a:r>
              <a:rPr lang="en-ID" dirty="0"/>
              <a:t> </a:t>
            </a:r>
            <a:r>
              <a:rPr lang="en-ID" dirty="0" err="1"/>
              <a:t>keberhasilan</a:t>
            </a:r>
            <a:r>
              <a:rPr lang="en-ID" dirty="0"/>
              <a:t> </a:t>
            </a:r>
            <a:r>
              <a:rPr lang="en-ID" dirty="0" err="1"/>
              <a:t>penyelesaiannya</a:t>
            </a:r>
            <a:r>
              <a:rPr lang="en-ID" dirty="0"/>
              <a:t>.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konteks</a:t>
            </a:r>
            <a:r>
              <a:rPr lang="en-ID" dirty="0"/>
              <a:t> </a:t>
            </a:r>
            <a:r>
              <a:rPr lang="en-ID" dirty="0" err="1"/>
              <a:t>meningkatnya</a:t>
            </a:r>
            <a:r>
              <a:rPr lang="en-ID" dirty="0"/>
              <a:t> </a:t>
            </a:r>
            <a:r>
              <a:rPr lang="en-ID" dirty="0" err="1"/>
              <a:t>kompleksitas</a:t>
            </a:r>
            <a:r>
              <a:rPr lang="en-ID" dirty="0"/>
              <a:t> data </a:t>
            </a:r>
            <a:r>
              <a:rPr lang="en-ID" dirty="0" err="1"/>
              <a:t>pendidikan</a:t>
            </a:r>
            <a:r>
              <a:rPr lang="en-ID" dirty="0"/>
              <a:t>, </a:t>
            </a:r>
            <a:r>
              <a:rPr lang="en-ID" dirty="0" err="1"/>
              <a:t>pendekatan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relevan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dikaji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kritis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sisi</a:t>
            </a:r>
            <a:r>
              <a:rPr lang="en-ID" dirty="0"/>
              <a:t> </a:t>
            </a:r>
            <a:r>
              <a:rPr lang="en-ID" dirty="0" err="1"/>
              <a:t>metodologi</a:t>
            </a:r>
            <a:r>
              <a:rPr lang="en-ID" dirty="0"/>
              <a:t> dan </a:t>
            </a:r>
            <a:r>
              <a:rPr lang="en-ID" dirty="0" err="1"/>
              <a:t>kontribusi</a:t>
            </a:r>
            <a:r>
              <a:rPr lang="en-ID" dirty="0"/>
              <a:t> </a:t>
            </a:r>
            <a:r>
              <a:rPr lang="en-ID" dirty="0" err="1"/>
              <a:t>ilmiahnya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5628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529D-F8A2-79EE-7293-E7681E91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Tujuan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867D2-6239-E3DF-50AF-C2AB281D0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kekuatan</a:t>
            </a:r>
            <a:r>
              <a:rPr lang="en-ID" dirty="0"/>
              <a:t> dan </a:t>
            </a:r>
            <a:r>
              <a:rPr lang="en-ID" dirty="0" err="1"/>
              <a:t>kelemahan</a:t>
            </a:r>
            <a:r>
              <a:rPr lang="en-ID" dirty="0"/>
              <a:t> </a:t>
            </a:r>
            <a:r>
              <a:rPr lang="en-ID" dirty="0" err="1"/>
              <a:t>metodologi</a:t>
            </a:r>
            <a:r>
              <a:rPr lang="en-ID" dirty="0"/>
              <a:t> </a:t>
            </a:r>
            <a:r>
              <a:rPr lang="en-ID" dirty="0" err="1"/>
              <a:t>penelitian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Mengevaluasi</a:t>
            </a:r>
            <a:r>
              <a:rPr lang="en-ID" dirty="0"/>
              <a:t> </a:t>
            </a:r>
            <a:r>
              <a:rPr lang="en-ID" dirty="0" err="1"/>
              <a:t>kontribusi</a:t>
            </a:r>
            <a:r>
              <a:rPr lang="en-ID" dirty="0"/>
              <a:t> </a:t>
            </a:r>
            <a:r>
              <a:rPr lang="en-ID" dirty="0" err="1"/>
              <a:t>ilmiah</a:t>
            </a:r>
            <a:r>
              <a:rPr lang="en-ID" dirty="0"/>
              <a:t> yang </a:t>
            </a:r>
            <a:r>
              <a:rPr lang="en-ID" dirty="0" err="1"/>
              <a:t>diberikan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keterbatasan</a:t>
            </a:r>
            <a:r>
              <a:rPr lang="en-ID" dirty="0"/>
              <a:t> </a:t>
            </a:r>
            <a:r>
              <a:rPr lang="en-ID" dirty="0" err="1"/>
              <a:t>penelitian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rekomendasi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riset</a:t>
            </a:r>
            <a:r>
              <a:rPr lang="en-ID" dirty="0"/>
              <a:t> di masa </a:t>
            </a:r>
            <a:r>
              <a:rPr lang="en-ID" dirty="0" err="1"/>
              <a:t>depan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16026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6AD31-D58E-E6C1-5B26-602DEF4C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Metodologi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FE12-AB94-32C0-70A9-89E4F1B42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Artikel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pendekatan</a:t>
            </a:r>
            <a:r>
              <a:rPr lang="en-US" dirty="0"/>
              <a:t> hybrid machine learning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b="1" dirty="0" err="1"/>
              <a:t>Decisin</a:t>
            </a:r>
            <a:r>
              <a:rPr lang="en-US" b="1" dirty="0"/>
              <a:t> Tree, Support Vector Machine (SVM), dan Naïve Bayesian Classifier.</a:t>
            </a:r>
          </a:p>
          <a:p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metodologi</a:t>
            </a:r>
            <a:r>
              <a:rPr lang="en-US" dirty="0"/>
              <a:t>: </a:t>
            </a:r>
            <a:r>
              <a:rPr lang="en-US" dirty="0" err="1"/>
              <a:t>pengumpulan</a:t>
            </a:r>
            <a:r>
              <a:rPr lang="en-US" dirty="0"/>
              <a:t> data, preprocessing, exploratory data analysis (EDA), dan modeling.</a:t>
            </a:r>
          </a:p>
          <a:p>
            <a:r>
              <a:rPr lang="en-US" dirty="0"/>
              <a:t>Dataset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berjumlah</a:t>
            </a:r>
            <a:r>
              <a:rPr lang="en-US" dirty="0"/>
              <a:t> 8665 data mulai </a:t>
            </a:r>
            <a:r>
              <a:rPr lang="en-US" dirty="0" err="1"/>
              <a:t>dari</a:t>
            </a:r>
            <a:r>
              <a:rPr lang="en-US" dirty="0"/>
              <a:t> 2019-2024 yang 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ID" dirty="0"/>
              <a:t>Learning Record Store (LRS),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dijelaskan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rinci</a:t>
            </a:r>
            <a:r>
              <a:rPr lang="en-ID" dirty="0"/>
              <a:t> </a:t>
            </a:r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populasi</a:t>
            </a:r>
            <a:r>
              <a:rPr lang="en-ID" dirty="0"/>
              <a:t>, </a:t>
            </a:r>
            <a:r>
              <a:rPr lang="en-ID" dirty="0" err="1"/>
              <a:t>distribusi</a:t>
            </a:r>
            <a:r>
              <a:rPr lang="en-ID" dirty="0"/>
              <a:t> data, </a:t>
            </a:r>
            <a:r>
              <a:rPr lang="en-ID" dirty="0" err="1"/>
              <a:t>maupun</a:t>
            </a:r>
            <a:r>
              <a:rPr lang="en-ID" dirty="0"/>
              <a:t> </a:t>
            </a:r>
            <a:r>
              <a:rPr lang="en-ID" dirty="0" err="1"/>
              <a:t>potensi</a:t>
            </a:r>
            <a:r>
              <a:rPr lang="en-ID" dirty="0"/>
              <a:t> bias.</a:t>
            </a:r>
          </a:p>
        </p:txBody>
      </p:sp>
    </p:spTree>
    <p:extLst>
      <p:ext uri="{BB962C8B-B14F-4D97-AF65-F5344CB8AC3E}">
        <p14:creationId xmlns:p14="http://schemas.microsoft.com/office/powerpoint/2010/main" val="2825752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958C-76D9-E1B2-B67B-F69D2D06D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Kontribusi</a:t>
            </a:r>
            <a:r>
              <a:rPr lang="en-US" dirty="0"/>
              <a:t> </a:t>
            </a:r>
            <a:r>
              <a:rPr lang="en-US" dirty="0" err="1"/>
              <a:t>Ilmiah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32305-3258-332A-F489-1002AE710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D" dirty="0"/>
              <a:t>Integrasi AI + big data + smart learning system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kerangka</a:t>
            </a:r>
            <a:r>
              <a:rPr lang="en-ID" dirty="0"/>
              <a:t> hybrid.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kombinasi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 course completion.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Learning Record Customer (LRC)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31679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F846-D1D0-BCAD-2A58-2950230BC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Pengembangan</a:t>
            </a:r>
            <a:r>
              <a:rPr lang="en-US" dirty="0"/>
              <a:t> Riset </a:t>
            </a:r>
            <a:r>
              <a:rPr lang="en-US" dirty="0" err="1"/>
              <a:t>ke</a:t>
            </a:r>
            <a:r>
              <a:rPr lang="en-US" dirty="0"/>
              <a:t> Depan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7C1AB-1E21-8DFA-7B4C-180483349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Penggunaan</a:t>
            </a:r>
            <a:r>
              <a:rPr lang="en-ID" dirty="0"/>
              <a:t> deep learning (</a:t>
            </a:r>
            <a:r>
              <a:rPr lang="en-ID" dirty="0" err="1"/>
              <a:t>misalnya</a:t>
            </a:r>
            <a:r>
              <a:rPr lang="en-ID" dirty="0"/>
              <a:t> LSTM </a:t>
            </a:r>
            <a:r>
              <a:rPr lang="en-ID" dirty="0" err="1"/>
              <a:t>atau</a:t>
            </a:r>
            <a:r>
              <a:rPr lang="en-ID" dirty="0"/>
              <a:t> transformer)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menangkap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temporal </a:t>
            </a:r>
            <a:r>
              <a:rPr lang="en-ID" dirty="0" err="1"/>
              <a:t>pembelajaran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Explainable AI (XAI)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faktor-faktor</a:t>
            </a:r>
            <a:r>
              <a:rPr lang="en-ID" dirty="0"/>
              <a:t> yang </a:t>
            </a:r>
            <a:r>
              <a:rPr lang="en-ID" dirty="0" err="1"/>
              <a:t>memengaruhi</a:t>
            </a:r>
            <a:r>
              <a:rPr lang="en-ID" dirty="0"/>
              <a:t> </a:t>
            </a:r>
            <a:r>
              <a:rPr lang="en-ID" dirty="0" err="1"/>
              <a:t>keberhasilan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Integrasi </a:t>
            </a:r>
            <a:r>
              <a:rPr lang="en-ID" dirty="0" err="1"/>
              <a:t>dengan</a:t>
            </a:r>
            <a:r>
              <a:rPr lang="en-ID" dirty="0"/>
              <a:t> learning analytics real-time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intervensi</a:t>
            </a:r>
            <a:r>
              <a:rPr lang="en-ID" dirty="0"/>
              <a:t> </a:t>
            </a:r>
            <a:r>
              <a:rPr lang="en-ID" dirty="0" err="1"/>
              <a:t>adaptif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Pengujian</a:t>
            </a:r>
            <a:r>
              <a:rPr lang="en-ID" dirty="0"/>
              <a:t> model pada dataset </a:t>
            </a:r>
            <a:r>
              <a:rPr lang="en-ID" dirty="0" err="1"/>
              <a:t>lintas</a:t>
            </a:r>
            <a:r>
              <a:rPr lang="en-ID" dirty="0"/>
              <a:t> </a:t>
            </a:r>
            <a:r>
              <a:rPr lang="en-ID" dirty="0" err="1"/>
              <a:t>institusi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generalisasi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994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8C655-B630-BAC3-0547-DA059D11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 review on the impact of big data analytics in transforming agricultural practices, food processing, and preservation strategies</a:t>
            </a:r>
            <a:endParaRPr lang="en-ID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C50F5-34B7-F455-BFE5-94B47E22A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Artikel </a:t>
            </a:r>
            <a:r>
              <a:rPr lang="en-ID" dirty="0" err="1"/>
              <a:t>membahas</a:t>
            </a:r>
            <a:r>
              <a:rPr lang="en-ID" dirty="0"/>
              <a:t> </a:t>
            </a:r>
            <a:r>
              <a:rPr lang="en-ID" dirty="0" err="1"/>
              <a:t>peran</a:t>
            </a:r>
            <a:r>
              <a:rPr lang="en-ID" dirty="0"/>
              <a:t> Big Data Analytics (BDA)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transformasi</a:t>
            </a:r>
            <a:r>
              <a:rPr lang="en-ID" dirty="0"/>
              <a:t> </a:t>
            </a:r>
            <a:r>
              <a:rPr lang="en-ID" dirty="0" err="1"/>
              <a:t>sektor</a:t>
            </a:r>
            <a:r>
              <a:rPr lang="en-ID" dirty="0"/>
              <a:t> </a:t>
            </a:r>
            <a:r>
              <a:rPr lang="en-ID" dirty="0" err="1"/>
              <a:t>pertanian</a:t>
            </a:r>
            <a:r>
              <a:rPr lang="en-ID" dirty="0"/>
              <a:t>, </a:t>
            </a:r>
            <a:r>
              <a:rPr lang="en-ID" dirty="0" err="1"/>
              <a:t>pengolahan</a:t>
            </a:r>
            <a:r>
              <a:rPr lang="en-ID" dirty="0"/>
              <a:t> </a:t>
            </a:r>
            <a:r>
              <a:rPr lang="en-ID" dirty="0" err="1"/>
              <a:t>pangan</a:t>
            </a:r>
            <a:r>
              <a:rPr lang="en-ID" dirty="0"/>
              <a:t>, dan strategi </a:t>
            </a:r>
            <a:r>
              <a:rPr lang="en-ID" dirty="0" err="1"/>
              <a:t>preservasi</a:t>
            </a:r>
            <a:r>
              <a:rPr lang="en-ID" dirty="0"/>
              <a:t> </a:t>
            </a:r>
            <a:r>
              <a:rPr lang="en-ID" dirty="0" err="1"/>
              <a:t>makanan</a:t>
            </a:r>
            <a:r>
              <a:rPr lang="en-ID" dirty="0"/>
              <a:t>. Latar </a:t>
            </a:r>
            <a:r>
              <a:rPr lang="en-ID" dirty="0" err="1"/>
              <a:t>belakang</a:t>
            </a:r>
            <a:r>
              <a:rPr lang="en-ID" dirty="0"/>
              <a:t>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didasarkan</a:t>
            </a:r>
            <a:r>
              <a:rPr lang="en-ID" dirty="0"/>
              <a:t> pada </a:t>
            </a:r>
            <a:r>
              <a:rPr lang="en-ID" dirty="0" err="1"/>
              <a:t>meningkatnya</a:t>
            </a:r>
            <a:r>
              <a:rPr lang="en-ID" dirty="0"/>
              <a:t> </a:t>
            </a:r>
            <a:r>
              <a:rPr lang="en-ID" dirty="0" err="1"/>
              <a:t>kompleksitas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pangan</a:t>
            </a:r>
            <a:r>
              <a:rPr lang="en-ID" dirty="0"/>
              <a:t> global,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isu</a:t>
            </a:r>
            <a:r>
              <a:rPr lang="en-ID" dirty="0"/>
              <a:t> </a:t>
            </a:r>
            <a:r>
              <a:rPr lang="en-ID" dirty="0" err="1"/>
              <a:t>ketahanan</a:t>
            </a:r>
            <a:r>
              <a:rPr lang="en-ID" dirty="0"/>
              <a:t> </a:t>
            </a:r>
            <a:r>
              <a:rPr lang="en-ID" dirty="0" err="1"/>
              <a:t>pangan</a:t>
            </a:r>
            <a:r>
              <a:rPr lang="en-ID" dirty="0"/>
              <a:t>,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iklim</a:t>
            </a:r>
            <a:r>
              <a:rPr lang="en-ID" dirty="0"/>
              <a:t>, </a:t>
            </a: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produksi</a:t>
            </a:r>
            <a:r>
              <a:rPr lang="en-ID" dirty="0"/>
              <a:t>, dan </a:t>
            </a:r>
            <a:r>
              <a:rPr lang="en-ID" dirty="0" err="1"/>
              <a:t>keberlanjutan</a:t>
            </a:r>
            <a:r>
              <a:rPr lang="en-ID" dirty="0"/>
              <a:t>.</a:t>
            </a:r>
          </a:p>
          <a:p>
            <a:r>
              <a:rPr lang="en-ID" dirty="0" err="1"/>
              <a:t>Penulis</a:t>
            </a:r>
            <a:r>
              <a:rPr lang="en-ID" dirty="0"/>
              <a:t> </a:t>
            </a:r>
            <a:r>
              <a:rPr lang="en-ID" dirty="0" err="1"/>
              <a:t>menyoroti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meskipun</a:t>
            </a:r>
            <a:r>
              <a:rPr lang="en-ID" dirty="0"/>
              <a:t> big data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pada </a:t>
            </a:r>
            <a:r>
              <a:rPr lang="en-ID" dirty="0" err="1"/>
              <a:t>distribusi</a:t>
            </a:r>
            <a:r>
              <a:rPr lang="en-ID" dirty="0"/>
              <a:t> dan retail, </a:t>
            </a:r>
            <a:r>
              <a:rPr lang="en-ID" dirty="0" err="1"/>
              <a:t>penerapannya</a:t>
            </a:r>
            <a:r>
              <a:rPr lang="en-ID" dirty="0"/>
              <a:t> pada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produksi</a:t>
            </a:r>
            <a:r>
              <a:rPr lang="en-ID" dirty="0"/>
              <a:t> dan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terbatas</a:t>
            </a:r>
            <a:r>
              <a:rPr lang="en-ID" dirty="0"/>
              <a:t>. Oleh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kajian</a:t>
            </a:r>
            <a:r>
              <a:rPr lang="en-ID" dirty="0"/>
              <a:t> </a:t>
            </a:r>
            <a:r>
              <a:rPr lang="en-ID" dirty="0" err="1"/>
              <a:t>komprehensif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BDA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mengoptimalkan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rantai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pangan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3702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49280-CD1B-5E6D-D177-12E8D57F9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Tujuan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0BBA2-F444-7CB3-10E3-7B0CD2ADB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penerapan</a:t>
            </a:r>
            <a:r>
              <a:rPr lang="en-ID" dirty="0"/>
              <a:t> BDA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praktik</a:t>
            </a:r>
            <a:r>
              <a:rPr lang="en-ID" dirty="0"/>
              <a:t> </a:t>
            </a:r>
            <a:r>
              <a:rPr lang="en-ID" dirty="0" err="1"/>
              <a:t>pertanian</a:t>
            </a:r>
            <a:r>
              <a:rPr lang="en-ID" dirty="0"/>
              <a:t> modern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Mengkaji </a:t>
            </a:r>
            <a:r>
              <a:rPr lang="en-ID" dirty="0" err="1"/>
              <a:t>peran</a:t>
            </a:r>
            <a:r>
              <a:rPr lang="en-ID" dirty="0"/>
              <a:t> BDA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pengolahan</a:t>
            </a:r>
            <a:r>
              <a:rPr lang="en-ID" dirty="0"/>
              <a:t> dan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pangan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implementasi</a:t>
            </a:r>
            <a:r>
              <a:rPr lang="en-ID" dirty="0"/>
              <a:t> BDA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rantai</a:t>
            </a:r>
            <a:r>
              <a:rPr lang="en-ID" dirty="0"/>
              <a:t> </a:t>
            </a:r>
            <a:r>
              <a:rPr lang="en-ID" dirty="0" err="1"/>
              <a:t>pasok</a:t>
            </a:r>
            <a:r>
              <a:rPr lang="en-ID" dirty="0"/>
              <a:t> </a:t>
            </a:r>
            <a:r>
              <a:rPr lang="en-ID" dirty="0" err="1"/>
              <a:t>pangan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50186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F19D2-B575-1697-1F89-C05E032B5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Metodologi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4B4CF-18CA-38DC-2D67-66F5105AC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Artikel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Systematic Literature Review (SLR) </a:t>
            </a:r>
            <a:r>
              <a:rPr lang="en-US" dirty="0" err="1"/>
              <a:t>berbasis</a:t>
            </a:r>
            <a:r>
              <a:rPr lang="en-US" dirty="0"/>
              <a:t> PRISMA 2020 sebagai </a:t>
            </a:r>
            <a:r>
              <a:rPr lang="en-US" dirty="0" err="1"/>
              <a:t>metode</a:t>
            </a:r>
            <a:r>
              <a:rPr lang="en-US" dirty="0"/>
              <a:t> dan </a:t>
            </a:r>
            <a:r>
              <a:rPr lang="en-US" dirty="0" err="1"/>
              <a:t>dikombinasikan</a:t>
            </a:r>
            <a:r>
              <a:rPr lang="en-US" dirty="0"/>
              <a:t> dengan </a:t>
            </a:r>
            <a:r>
              <a:rPr lang="en-US" dirty="0" err="1"/>
              <a:t>analisis</a:t>
            </a:r>
            <a:r>
              <a:rPr lang="en-US" dirty="0"/>
              <a:t> bibliometric.</a:t>
            </a:r>
          </a:p>
          <a:p>
            <a:r>
              <a:rPr lang="en-US" dirty="0"/>
              <a:t>Artikel-artikel yang </a:t>
            </a:r>
            <a:r>
              <a:rPr lang="en-US" dirty="0" err="1"/>
              <a:t>dipakai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Scopus dan Web of Science dan database </a:t>
            </a:r>
            <a:r>
              <a:rPr lang="en-US" dirty="0" err="1"/>
              <a:t>bereputasi</a:t>
            </a:r>
            <a:r>
              <a:rPr lang="en-US" dirty="0"/>
              <a:t> lain. </a:t>
            </a:r>
            <a:r>
              <a:rPr lang="en-US" dirty="0" err="1"/>
              <a:t>Rentang</a:t>
            </a:r>
            <a:r>
              <a:rPr lang="en-US" dirty="0"/>
              <a:t> waktu mulai tahun 2015 sampai 2025. Artikel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6323.</a:t>
            </a:r>
          </a:p>
          <a:p>
            <a:r>
              <a:rPr lang="en-US" dirty="0"/>
              <a:t>Tool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ID" dirty="0" err="1"/>
              <a:t>VOSviewer</a:t>
            </a:r>
            <a:r>
              <a:rPr lang="en-ID" dirty="0"/>
              <a:t> dan </a:t>
            </a:r>
            <a:r>
              <a:rPr lang="en-ID" dirty="0" err="1"/>
              <a:t>Biblioshiny</a:t>
            </a:r>
            <a:r>
              <a:rPr lang="en-ID" dirty="0"/>
              <a:t> (R Studio)</a:t>
            </a:r>
          </a:p>
        </p:txBody>
      </p:sp>
    </p:spTree>
    <p:extLst>
      <p:ext uri="{BB962C8B-B14F-4D97-AF65-F5344CB8AC3E}">
        <p14:creationId xmlns:p14="http://schemas.microsoft.com/office/powerpoint/2010/main" val="205382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BD5A4-47EA-F826-0E66-7DEB13D17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920F-84C2-040F-35A7-1F19EBCF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Kontribusi</a:t>
            </a:r>
            <a:r>
              <a:rPr lang="en-US" dirty="0"/>
              <a:t> </a:t>
            </a:r>
            <a:r>
              <a:rPr lang="en-US" dirty="0" err="1"/>
              <a:t>Ilmiah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BC65E-9FBA-D34F-92CE-97E25F71A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pemetaan</a:t>
            </a:r>
            <a:r>
              <a:rPr lang="en-ID" dirty="0"/>
              <a:t> </a:t>
            </a:r>
            <a:r>
              <a:rPr lang="en-ID" dirty="0" err="1"/>
              <a:t>komprehensif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US" dirty="0"/>
              <a:t>Big Data Analytics (BDA) dalam </a:t>
            </a:r>
            <a:r>
              <a:rPr lang="en-US" dirty="0" err="1"/>
              <a:t>pertanian</a:t>
            </a:r>
            <a:r>
              <a:rPr lang="en-US" dirty="0"/>
              <a:t>, </a:t>
            </a:r>
            <a:r>
              <a:rPr lang="en-US" dirty="0" err="1"/>
              <a:t>pengolahan</a:t>
            </a:r>
            <a:r>
              <a:rPr lang="en-US" dirty="0"/>
              <a:t> </a:t>
            </a:r>
            <a:r>
              <a:rPr lang="en-US" dirty="0" err="1"/>
              <a:t>pangan</a:t>
            </a:r>
            <a:r>
              <a:rPr lang="en-US" dirty="0"/>
              <a:t> dan </a:t>
            </a:r>
            <a:r>
              <a:rPr lang="en-US" dirty="0" err="1"/>
              <a:t>preservasi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Mengintegrasikan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domain </a:t>
            </a:r>
            <a:r>
              <a:rPr lang="en-ID" dirty="0" err="1"/>
              <a:t>yaitu</a:t>
            </a:r>
            <a:r>
              <a:rPr lang="en-ID" dirty="0"/>
              <a:t> AI, IoT, Machine Learning, Supply Chain dan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303474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436D-0892-75FC-279C-981FC09F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EE43-A201-7EA9-F1DE-72321AD1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Pengembangan</a:t>
            </a:r>
            <a:r>
              <a:rPr lang="en-US" dirty="0"/>
              <a:t> Riset </a:t>
            </a:r>
            <a:r>
              <a:rPr lang="en-US" dirty="0" err="1"/>
              <a:t>ke</a:t>
            </a:r>
            <a:r>
              <a:rPr lang="en-US" dirty="0"/>
              <a:t> Depan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A4223-095C-3C57-2B59-960AC4808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78666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</TotalTime>
  <Words>542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Retrospect</vt:lpstr>
      <vt:lpstr>Big Data Analytics review artikel</vt:lpstr>
      <vt:lpstr>Improving SMART learning: Course completion via AI-driven hybrid system integration in big data</vt:lpstr>
      <vt:lpstr>Tujuan</vt:lpstr>
      <vt:lpstr>Metodologi</vt:lpstr>
      <vt:lpstr>Kontribusi Ilmiah</vt:lpstr>
      <vt:lpstr>Pengembangan Riset ke Depan</vt:lpstr>
      <vt:lpstr>A review on the impact of big data analytics in transforming agricultural practices, food processing, and preservation strategies</vt:lpstr>
      <vt:lpstr>Tujuan</vt:lpstr>
      <vt:lpstr>Metodologi</vt:lpstr>
      <vt:lpstr>Kontribusi Ilmiah</vt:lpstr>
      <vt:lpstr>Pengembangan Riset ke Depan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Fakultas Ekonomi</dc:creator>
  <cp:lastModifiedBy>Fakultas Ekonomi</cp:lastModifiedBy>
  <cp:revision>3</cp:revision>
  <dcterms:created xsi:type="dcterms:W3CDTF">2026-04-29T05:47:45Z</dcterms:created>
  <dcterms:modified xsi:type="dcterms:W3CDTF">2026-04-29T06:37:42Z</dcterms:modified>
</cp:coreProperties>
</file>