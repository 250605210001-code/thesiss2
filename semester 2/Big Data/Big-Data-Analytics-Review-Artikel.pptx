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Inter"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80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175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sp>
      <p:sp>
        <p:nvSpPr>
          <p:cNvPr id="3" name="Shape 1"/>
          <p:cNvSpPr/>
          <p:nvPr/>
        </p:nvSpPr>
        <p:spPr>
          <a:xfrm>
            <a:off x="0" y="0"/>
            <a:ext cx="14630400" cy="8229600"/>
          </a:xfrm>
          <a:prstGeom prst="rect">
            <a:avLst/>
          </a:prstGeom>
          <a:solidFill>
            <a:srgbClr val="272525"/>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4302" y="3155745"/>
            <a:ext cx="8214744" cy="760518"/>
          </a:xfrm>
          <a:prstGeom prst="rect">
            <a:avLst/>
          </a:prstGeom>
          <a:noFill/>
          <a:ln/>
        </p:spPr>
        <p:txBody>
          <a:bodyPr wrap="squar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Big Data Analytics: Review Artikel</a:t>
            </a:r>
            <a:endParaRPr lang="en-US" sz="3900" dirty="0"/>
          </a:p>
        </p:txBody>
      </p:sp>
      <p:sp>
        <p:nvSpPr>
          <p:cNvPr id="4" name="Text 1"/>
          <p:cNvSpPr/>
          <p:nvPr/>
        </p:nvSpPr>
        <p:spPr>
          <a:xfrm>
            <a:off x="793790" y="4117181"/>
            <a:ext cx="7740610" cy="635078"/>
          </a:xfrm>
          <a:prstGeom prst="rect">
            <a:avLst/>
          </a:prstGeom>
          <a:noFill/>
          <a:ln/>
        </p:spPr>
        <p:txBody>
          <a:bodyPr wrap="none" lIns="0" tIns="0" rIns="0" bIns="0" rtlCol="0" anchor="t"/>
          <a:lstStyle/>
          <a:p>
            <a:pPr marL="0" indent="0" algn="l">
              <a:lnSpc>
                <a:spcPts val="2500"/>
              </a:lnSpc>
              <a:buNone/>
            </a:pPr>
            <a:r>
              <a:rPr lang="en-US" sz="2000" b="1" dirty="0">
                <a:solidFill>
                  <a:srgbClr val="E5E0DF"/>
                </a:solidFill>
                <a:latin typeface="Inter" pitchFamily="34" charset="0"/>
                <a:ea typeface="Inter" pitchFamily="34" charset="-122"/>
                <a:cs typeface="Inter" pitchFamily="34" charset="-120"/>
              </a:rPr>
              <a:t>Improving SMART Learning</a:t>
            </a:r>
            <a:r>
              <a:rPr lang="en-US" sz="2000" dirty="0">
                <a:solidFill>
                  <a:srgbClr val="E5E0DF"/>
                </a:solidFill>
                <a:latin typeface="Inter" pitchFamily="34" charset="0"/>
                <a:ea typeface="Inter" pitchFamily="34" charset="-122"/>
                <a:cs typeface="Inter" pitchFamily="34" charset="-120"/>
              </a:rPr>
              <a:t> &amp; </a:t>
            </a:r>
            <a:r>
              <a:rPr lang="en-US" sz="2000" b="1" dirty="0">
                <a:solidFill>
                  <a:srgbClr val="E5E0DF"/>
                </a:solidFill>
                <a:latin typeface="Inter" pitchFamily="34" charset="0"/>
                <a:ea typeface="Inter" pitchFamily="34" charset="-122"/>
                <a:cs typeface="Inter" pitchFamily="34" charset="-120"/>
              </a:rPr>
              <a:t>Big Data in Agri-Food</a:t>
            </a:r>
            <a:endParaRPr lang="en-US" sz="2000" dirty="0"/>
          </a:p>
        </p:txBody>
      </p:sp>
      <p:sp>
        <p:nvSpPr>
          <p:cNvPr id="5" name="Text 2"/>
          <p:cNvSpPr/>
          <p:nvPr/>
        </p:nvSpPr>
        <p:spPr>
          <a:xfrm>
            <a:off x="793790" y="4836557"/>
            <a:ext cx="3536156"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250605210001 – Adi Cahyono</a:t>
            </a:r>
            <a:endParaRPr lang="en-US" sz="1550" dirty="0"/>
          </a:p>
        </p:txBody>
      </p:sp>
      <p:sp>
        <p:nvSpPr>
          <p:cNvPr id="6" name="Text 3"/>
          <p:cNvSpPr/>
          <p:nvPr/>
        </p:nvSpPr>
        <p:spPr>
          <a:xfrm>
            <a:off x="4097867" y="4836557"/>
            <a:ext cx="4259963"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250605210015 – Angger Dimas Bayu Sadewo</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29960"/>
            <a:ext cx="7556421" cy="2356485"/>
          </a:xfrm>
          <a:prstGeom prst="rect">
            <a:avLst/>
          </a:prstGeom>
          <a:noFill/>
          <a:ln/>
        </p:spPr>
        <p:txBody>
          <a:bodyPr wrap="square" lIns="0" tIns="0" rIns="0" bIns="0" rtlCol="0" anchor="t"/>
          <a:lstStyle/>
          <a:p>
            <a:pPr marL="0" indent="0" algn="l">
              <a:lnSpc>
                <a:spcPts val="4600"/>
              </a:lnSpc>
              <a:buNone/>
            </a:pPr>
            <a:r>
              <a:rPr lang="en-US" sz="3700" b="1" dirty="0">
                <a:solidFill>
                  <a:srgbClr val="FFFFFF"/>
                </a:solidFill>
                <a:latin typeface="Inter Bold" pitchFamily="34" charset="0"/>
                <a:ea typeface="Inter Bold" pitchFamily="34" charset="-122"/>
                <a:cs typeface="Inter Bold" pitchFamily="34" charset="-120"/>
              </a:rPr>
              <a:t>Improving SMART Learning: Course Completion via AI-Driven Hybrid System Integration in Big Data</a:t>
            </a:r>
            <a:endParaRPr lang="en-US" sz="3700" dirty="0"/>
          </a:p>
        </p:txBody>
      </p:sp>
      <p:sp>
        <p:nvSpPr>
          <p:cNvPr id="4" name="Shape 1"/>
          <p:cNvSpPr/>
          <p:nvPr/>
        </p:nvSpPr>
        <p:spPr>
          <a:xfrm>
            <a:off x="6144339" y="3255050"/>
            <a:ext cx="3819882" cy="4344472"/>
          </a:xfrm>
          <a:prstGeom prst="roundRect">
            <a:avLst>
              <a:gd name="adj" fmla="val 3554"/>
            </a:avLst>
          </a:prstGeom>
          <a:solidFill>
            <a:srgbClr val="2B0AFF"/>
          </a:solidFill>
          <a:ln/>
        </p:spPr>
      </p:sp>
      <p:sp>
        <p:nvSpPr>
          <p:cNvPr id="5" name="Text 2"/>
          <p:cNvSpPr/>
          <p:nvPr/>
        </p:nvSpPr>
        <p:spPr>
          <a:xfrm>
            <a:off x="6332815" y="3434120"/>
            <a:ext cx="2926318" cy="294680"/>
          </a:xfrm>
          <a:prstGeom prst="rect">
            <a:avLst/>
          </a:prstGeom>
          <a:noFill/>
          <a:ln/>
        </p:spPr>
        <p:txBody>
          <a:bodyPr wrap="none" lIns="0" tIns="0" rIns="0" bIns="0" rtlCol="0" anchor="t"/>
          <a:lstStyle/>
          <a:p>
            <a:pPr marL="0" indent="0" algn="l">
              <a:lnSpc>
                <a:spcPts val="2300"/>
              </a:lnSpc>
              <a:buNone/>
            </a:pPr>
            <a:r>
              <a:rPr lang="en-US" sz="1850" b="1" dirty="0">
                <a:solidFill>
                  <a:srgbClr val="FFFFFF"/>
                </a:solidFill>
                <a:latin typeface="Inter Bold" pitchFamily="34" charset="0"/>
                <a:ea typeface="Inter Bold" pitchFamily="34" charset="-122"/>
                <a:cs typeface="Inter Bold" pitchFamily="34" charset="-120"/>
              </a:rPr>
              <a:t>Konteks &amp; Latar Belakang</a:t>
            </a:r>
            <a:endParaRPr lang="en-US" sz="1850" dirty="0"/>
          </a:p>
        </p:txBody>
      </p:sp>
      <p:sp>
        <p:nvSpPr>
          <p:cNvPr id="6" name="Text 3"/>
          <p:cNvSpPr/>
          <p:nvPr/>
        </p:nvSpPr>
        <p:spPr>
          <a:xfrm>
            <a:off x="6332815" y="3907869"/>
            <a:ext cx="3442930" cy="3530441"/>
          </a:xfrm>
          <a:prstGeom prst="rect">
            <a:avLst/>
          </a:prstGeom>
          <a:noFill/>
          <a:ln/>
        </p:spPr>
        <p:txBody>
          <a:bodyPr wrap="square" lIns="0" tIns="0" rIns="0" bIns="0" rtlCol="0" anchor="t"/>
          <a:lstStyle/>
          <a:p>
            <a:pPr marL="0" indent="0" algn="l">
              <a:lnSpc>
                <a:spcPts val="2300"/>
              </a:lnSpc>
              <a:buNone/>
            </a:pPr>
            <a:r>
              <a:rPr lang="en-US" sz="1450" dirty="0">
                <a:solidFill>
                  <a:srgbClr val="E5E0DF"/>
                </a:solidFill>
                <a:latin typeface="Inter" pitchFamily="34" charset="0"/>
                <a:ea typeface="Inter" pitchFamily="34" charset="-122"/>
                <a:cs typeface="Inter" pitchFamily="34" charset="-120"/>
              </a:rPr>
              <a:t>Perkembangan teknologi Artificial Intelligence (AI) dan big data telah membawa transformasi signifikan dalam dunia pendidikan, khususnya dalam konsep smart learning. Pemanfaatan data pembelajaran memungkinkan institusi untuk menganalisis perilaku mahasiswa, memprediksi keberhasilan akademik, serta meningkatkan tingkat penyelesaian kursus (course completion).</a:t>
            </a:r>
            <a:endParaRPr lang="en-US" sz="1450" dirty="0"/>
          </a:p>
        </p:txBody>
      </p:sp>
      <p:sp>
        <p:nvSpPr>
          <p:cNvPr id="7" name="Text 4"/>
          <p:cNvSpPr/>
          <p:nvPr/>
        </p:nvSpPr>
        <p:spPr>
          <a:xfrm>
            <a:off x="10296049" y="3434120"/>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FFFFFF"/>
                </a:solidFill>
                <a:latin typeface="Inter Bold" pitchFamily="34" charset="0"/>
                <a:ea typeface="Inter Bold" pitchFamily="34" charset="-122"/>
                <a:cs typeface="Inter Bold" pitchFamily="34" charset="-120"/>
              </a:rPr>
              <a:t>Usulan Model</a:t>
            </a:r>
            <a:endParaRPr lang="en-US" sz="1850" dirty="0"/>
          </a:p>
        </p:txBody>
      </p:sp>
      <p:sp>
        <p:nvSpPr>
          <p:cNvPr id="8" name="Text 5"/>
          <p:cNvSpPr/>
          <p:nvPr/>
        </p:nvSpPr>
        <p:spPr>
          <a:xfrm>
            <a:off x="10296049" y="3907869"/>
            <a:ext cx="3548182" cy="3530441"/>
          </a:xfrm>
          <a:prstGeom prst="rect">
            <a:avLst/>
          </a:prstGeom>
          <a:noFill/>
          <a:ln/>
        </p:spPr>
        <p:txBody>
          <a:bodyPr wrap="square" lIns="0" tIns="0" rIns="0" bIns="0" rtlCol="0" anchor="t"/>
          <a:lstStyle/>
          <a:p>
            <a:pPr marL="0" indent="0" algn="l">
              <a:lnSpc>
                <a:spcPts val="2300"/>
              </a:lnSpc>
              <a:buNone/>
            </a:pPr>
            <a:r>
              <a:rPr lang="en-US" sz="1450" dirty="0">
                <a:solidFill>
                  <a:srgbClr val="E5E0DF"/>
                </a:solidFill>
                <a:latin typeface="Inter" pitchFamily="34" charset="0"/>
                <a:ea typeface="Inter" pitchFamily="34" charset="-122"/>
                <a:cs typeface="Inter" pitchFamily="34" charset="-120"/>
              </a:rPr>
              <a:t>Artikel ini mengusulkan sebuah </a:t>
            </a:r>
            <a:r>
              <a:rPr lang="en-US" sz="1450" b="1" dirty="0">
                <a:solidFill>
                  <a:srgbClr val="E5E0DF"/>
                </a:solidFill>
                <a:latin typeface="Inter" pitchFamily="34" charset="0"/>
                <a:ea typeface="Inter" pitchFamily="34" charset="-122"/>
                <a:cs typeface="Inter" pitchFamily="34" charset="-120"/>
              </a:rPr>
              <a:t>model hybrid berbasis AI</a:t>
            </a:r>
            <a:r>
              <a:rPr lang="en-US" sz="1450" dirty="0">
                <a:solidFill>
                  <a:srgbClr val="E5E0DF"/>
                </a:solidFill>
                <a:latin typeface="Inter" pitchFamily="34" charset="0"/>
                <a:ea typeface="Inter" pitchFamily="34" charset="-122"/>
                <a:cs typeface="Inter" pitchFamily="34" charset="-120"/>
              </a:rPr>
              <a:t> yang mengintegrasikan beberapa algoritma machine learning untuk meningkatkan efektivitas pembelajaran dan memprediksi keberhasilan penyelesaian kursus. Dalam konteks meningkatnya kompleksitas data pendidikan, pendekatan ini menjadi relevan, namun perlu dikaji secara kritis dari sisi </a:t>
            </a:r>
            <a:r>
              <a:rPr lang="en-US" sz="1450" b="1" dirty="0">
                <a:solidFill>
                  <a:srgbClr val="E5E0DF"/>
                </a:solidFill>
                <a:latin typeface="Inter" pitchFamily="34" charset="0"/>
                <a:ea typeface="Inter" pitchFamily="34" charset="-122"/>
                <a:cs typeface="Inter" pitchFamily="34" charset="-120"/>
              </a:rPr>
              <a:t>metodologi</a:t>
            </a:r>
            <a:r>
              <a:rPr lang="en-US" sz="1450" dirty="0">
                <a:solidFill>
                  <a:srgbClr val="E5E0DF"/>
                </a:solidFill>
                <a:latin typeface="Inter" pitchFamily="34" charset="0"/>
                <a:ea typeface="Inter" pitchFamily="34" charset="-122"/>
                <a:cs typeface="Inter" pitchFamily="34" charset="-120"/>
              </a:rPr>
              <a:t> dan </a:t>
            </a:r>
            <a:r>
              <a:rPr lang="en-US" sz="1450" b="1" dirty="0">
                <a:solidFill>
                  <a:srgbClr val="E5E0DF"/>
                </a:solidFill>
                <a:latin typeface="Inter" pitchFamily="34" charset="0"/>
                <a:ea typeface="Inter" pitchFamily="34" charset="-122"/>
                <a:cs typeface="Inter" pitchFamily="34" charset="-120"/>
              </a:rPr>
              <a:t>kontribusi ilmiahnya</a:t>
            </a:r>
            <a:r>
              <a:rPr lang="en-US" sz="1450" dirty="0">
                <a:solidFill>
                  <a:srgbClr val="E5E0DF"/>
                </a:solidFill>
                <a:latin typeface="Inter" pitchFamily="34" charset="0"/>
                <a:ea typeface="Inter" pitchFamily="34" charset="-122"/>
                <a:cs typeface="Inter" pitchFamily="34" charset="-120"/>
              </a:rPr>
              <a: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57407"/>
            <a:ext cx="5232440"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Tujuan Review Artikel</a:t>
            </a:r>
            <a:endParaRPr lang="en-US" sz="3900" dirty="0"/>
          </a:p>
        </p:txBody>
      </p:sp>
      <p:sp>
        <p:nvSpPr>
          <p:cNvPr id="3" name="Text 1"/>
          <p:cNvSpPr/>
          <p:nvPr/>
        </p:nvSpPr>
        <p:spPr>
          <a:xfrm>
            <a:off x="793790" y="2174319"/>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Review ini dilakukan secara sistematis dan kritis untuk menilai kualitas serta relevansi penelitian dalam konteks big data dan smart learning.</a:t>
            </a:r>
            <a:endParaRPr lang="en-US" sz="1550" dirty="0"/>
          </a:p>
        </p:txBody>
      </p:sp>
      <p:sp>
        <p:nvSpPr>
          <p:cNvPr id="4" name="Shape 2"/>
          <p:cNvSpPr/>
          <p:nvPr/>
        </p:nvSpPr>
        <p:spPr>
          <a:xfrm>
            <a:off x="793790" y="3012758"/>
            <a:ext cx="6422231" cy="1781651"/>
          </a:xfrm>
          <a:prstGeom prst="roundRect">
            <a:avLst>
              <a:gd name="adj" fmla="val 6159"/>
            </a:avLst>
          </a:prstGeom>
          <a:solidFill>
            <a:srgbClr val="272525"/>
          </a:solidFill>
          <a:ln/>
        </p:spPr>
      </p:sp>
      <p:sp>
        <p:nvSpPr>
          <p:cNvPr id="5" name="Shape 3"/>
          <p:cNvSpPr/>
          <p:nvPr/>
        </p:nvSpPr>
        <p:spPr>
          <a:xfrm>
            <a:off x="793790" y="2989898"/>
            <a:ext cx="6422231" cy="91440"/>
          </a:xfrm>
          <a:prstGeom prst="roundRect">
            <a:avLst>
              <a:gd name="adj" fmla="val 91163"/>
            </a:avLst>
          </a:prstGeom>
          <a:solidFill>
            <a:srgbClr val="2B0AFF"/>
          </a:solidFill>
          <a:ln/>
        </p:spPr>
      </p:sp>
      <p:sp>
        <p:nvSpPr>
          <p:cNvPr id="6" name="Shape 4"/>
          <p:cNvSpPr/>
          <p:nvPr/>
        </p:nvSpPr>
        <p:spPr>
          <a:xfrm>
            <a:off x="3707249" y="2715101"/>
            <a:ext cx="595313" cy="595313"/>
          </a:xfrm>
          <a:prstGeom prst="roundRect">
            <a:avLst>
              <a:gd name="adj" fmla="val 153600"/>
            </a:avLst>
          </a:prstGeom>
          <a:solidFill>
            <a:srgbClr val="2B0AFF"/>
          </a:solidFill>
          <a:ln/>
        </p:spPr>
      </p:sp>
      <p:sp>
        <p:nvSpPr>
          <p:cNvPr id="7" name="Text 5"/>
          <p:cNvSpPr/>
          <p:nvPr/>
        </p:nvSpPr>
        <p:spPr>
          <a:xfrm>
            <a:off x="3885843" y="2863929"/>
            <a:ext cx="238125" cy="297656"/>
          </a:xfrm>
          <a:prstGeom prst="rect">
            <a:avLst/>
          </a:prstGeom>
          <a:noFill/>
          <a:ln/>
        </p:spPr>
        <p:txBody>
          <a:bodyPr wrap="none" lIns="0" tIns="0" rIns="0" bIns="0" rtlCol="0" anchor="ctr"/>
          <a:lstStyle/>
          <a:p>
            <a:pPr marL="0" indent="0" algn="ctr">
              <a:lnSpc>
                <a:spcPts val="3000"/>
              </a:lnSpc>
              <a:buNone/>
            </a:pPr>
            <a:r>
              <a:rPr lang="en-US" sz="1850" b="1" dirty="0">
                <a:solidFill>
                  <a:srgbClr val="FFFFFF"/>
                </a:solidFill>
                <a:latin typeface="Inter Bold" pitchFamily="34" charset="0"/>
                <a:ea typeface="Inter Bold" pitchFamily="34" charset="-122"/>
                <a:cs typeface="Inter Bold" pitchFamily="34" charset="-120"/>
              </a:rPr>
              <a:t>1</a:t>
            </a:r>
            <a:endParaRPr lang="en-US" sz="1850" dirty="0"/>
          </a:p>
        </p:txBody>
      </p:sp>
      <p:sp>
        <p:nvSpPr>
          <p:cNvPr id="8" name="Text 6"/>
          <p:cNvSpPr/>
          <p:nvPr/>
        </p:nvSpPr>
        <p:spPr>
          <a:xfrm>
            <a:off x="1015008" y="350889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Analisis Metodologi</a:t>
            </a:r>
            <a:endParaRPr lang="en-US" sz="1950" dirty="0"/>
          </a:p>
        </p:txBody>
      </p:sp>
      <p:sp>
        <p:nvSpPr>
          <p:cNvPr id="9" name="Text 7"/>
          <p:cNvSpPr/>
          <p:nvPr/>
        </p:nvSpPr>
        <p:spPr>
          <a:xfrm>
            <a:off x="1015008" y="3938111"/>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Menganalisis kekuatan dan kelemahan metodologi penelitian yang digunakan secara menyeluruh.</a:t>
            </a:r>
            <a:endParaRPr lang="en-US" sz="1550" dirty="0"/>
          </a:p>
        </p:txBody>
      </p:sp>
      <p:sp>
        <p:nvSpPr>
          <p:cNvPr id="10" name="Shape 8"/>
          <p:cNvSpPr/>
          <p:nvPr/>
        </p:nvSpPr>
        <p:spPr>
          <a:xfrm>
            <a:off x="7414379" y="3012758"/>
            <a:ext cx="6422231" cy="1781651"/>
          </a:xfrm>
          <a:prstGeom prst="roundRect">
            <a:avLst>
              <a:gd name="adj" fmla="val 6159"/>
            </a:avLst>
          </a:prstGeom>
          <a:solidFill>
            <a:srgbClr val="272525"/>
          </a:solidFill>
          <a:ln/>
        </p:spPr>
      </p:sp>
      <p:sp>
        <p:nvSpPr>
          <p:cNvPr id="11" name="Shape 9"/>
          <p:cNvSpPr/>
          <p:nvPr/>
        </p:nvSpPr>
        <p:spPr>
          <a:xfrm>
            <a:off x="7414379" y="2989898"/>
            <a:ext cx="6422231" cy="91440"/>
          </a:xfrm>
          <a:prstGeom prst="roundRect">
            <a:avLst>
              <a:gd name="adj" fmla="val 91163"/>
            </a:avLst>
          </a:prstGeom>
          <a:solidFill>
            <a:srgbClr val="2B0AFF"/>
          </a:solidFill>
          <a:ln/>
        </p:spPr>
      </p:sp>
      <p:sp>
        <p:nvSpPr>
          <p:cNvPr id="12" name="Shape 10"/>
          <p:cNvSpPr/>
          <p:nvPr/>
        </p:nvSpPr>
        <p:spPr>
          <a:xfrm>
            <a:off x="10327838" y="2715101"/>
            <a:ext cx="595313" cy="595313"/>
          </a:xfrm>
          <a:prstGeom prst="roundRect">
            <a:avLst>
              <a:gd name="adj" fmla="val 153600"/>
            </a:avLst>
          </a:prstGeom>
          <a:solidFill>
            <a:srgbClr val="2B0AFF"/>
          </a:solidFill>
          <a:ln/>
        </p:spPr>
      </p:sp>
      <p:sp>
        <p:nvSpPr>
          <p:cNvPr id="13" name="Text 11"/>
          <p:cNvSpPr/>
          <p:nvPr/>
        </p:nvSpPr>
        <p:spPr>
          <a:xfrm>
            <a:off x="10506432" y="2863929"/>
            <a:ext cx="238125" cy="297656"/>
          </a:xfrm>
          <a:prstGeom prst="rect">
            <a:avLst/>
          </a:prstGeom>
          <a:noFill/>
          <a:ln/>
        </p:spPr>
        <p:txBody>
          <a:bodyPr wrap="none" lIns="0" tIns="0" rIns="0" bIns="0" rtlCol="0" anchor="ctr"/>
          <a:lstStyle/>
          <a:p>
            <a:pPr marL="0" indent="0" algn="ctr">
              <a:lnSpc>
                <a:spcPts val="3000"/>
              </a:lnSpc>
              <a:buNone/>
            </a:pPr>
            <a:r>
              <a:rPr lang="en-US" sz="1850" b="1" dirty="0">
                <a:solidFill>
                  <a:srgbClr val="FFFFFF"/>
                </a:solidFill>
                <a:latin typeface="Inter Bold" pitchFamily="34" charset="0"/>
                <a:ea typeface="Inter Bold" pitchFamily="34" charset="-122"/>
                <a:cs typeface="Inter Bold" pitchFamily="34" charset="-120"/>
              </a:rPr>
              <a:t>2</a:t>
            </a:r>
            <a:endParaRPr lang="en-US" sz="1850" dirty="0"/>
          </a:p>
        </p:txBody>
      </p:sp>
      <p:sp>
        <p:nvSpPr>
          <p:cNvPr id="14" name="Text 12"/>
          <p:cNvSpPr/>
          <p:nvPr/>
        </p:nvSpPr>
        <p:spPr>
          <a:xfrm>
            <a:off x="7635597" y="350889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Evaluasi Kontribusi</a:t>
            </a:r>
            <a:endParaRPr lang="en-US" sz="1950" dirty="0"/>
          </a:p>
        </p:txBody>
      </p:sp>
      <p:sp>
        <p:nvSpPr>
          <p:cNvPr id="15" name="Text 13"/>
          <p:cNvSpPr/>
          <p:nvPr/>
        </p:nvSpPr>
        <p:spPr>
          <a:xfrm>
            <a:off x="7635597" y="3938111"/>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Mengevaluasi kontribusi ilmiah yang diberikan kepada komunitas riset pendidikan dan AI.</a:t>
            </a:r>
            <a:endParaRPr lang="en-US" sz="1550" dirty="0"/>
          </a:p>
        </p:txBody>
      </p:sp>
      <p:sp>
        <p:nvSpPr>
          <p:cNvPr id="16" name="Shape 14"/>
          <p:cNvSpPr/>
          <p:nvPr/>
        </p:nvSpPr>
        <p:spPr>
          <a:xfrm>
            <a:off x="793790" y="5290423"/>
            <a:ext cx="6422231" cy="1781651"/>
          </a:xfrm>
          <a:prstGeom prst="roundRect">
            <a:avLst>
              <a:gd name="adj" fmla="val 6159"/>
            </a:avLst>
          </a:prstGeom>
          <a:solidFill>
            <a:srgbClr val="272525"/>
          </a:solidFill>
          <a:ln/>
        </p:spPr>
      </p:sp>
      <p:sp>
        <p:nvSpPr>
          <p:cNvPr id="17" name="Shape 15"/>
          <p:cNvSpPr/>
          <p:nvPr/>
        </p:nvSpPr>
        <p:spPr>
          <a:xfrm>
            <a:off x="793790" y="5267563"/>
            <a:ext cx="6422231" cy="91440"/>
          </a:xfrm>
          <a:prstGeom prst="roundRect">
            <a:avLst>
              <a:gd name="adj" fmla="val 91163"/>
            </a:avLst>
          </a:prstGeom>
          <a:solidFill>
            <a:srgbClr val="2B0AFF"/>
          </a:solidFill>
          <a:ln/>
        </p:spPr>
      </p:sp>
      <p:sp>
        <p:nvSpPr>
          <p:cNvPr id="18" name="Shape 16"/>
          <p:cNvSpPr/>
          <p:nvPr/>
        </p:nvSpPr>
        <p:spPr>
          <a:xfrm>
            <a:off x="3707249" y="4992767"/>
            <a:ext cx="595313" cy="595313"/>
          </a:xfrm>
          <a:prstGeom prst="roundRect">
            <a:avLst>
              <a:gd name="adj" fmla="val 153600"/>
            </a:avLst>
          </a:prstGeom>
          <a:solidFill>
            <a:srgbClr val="2B0AFF"/>
          </a:solidFill>
          <a:ln/>
        </p:spPr>
      </p:sp>
      <p:sp>
        <p:nvSpPr>
          <p:cNvPr id="19" name="Text 17"/>
          <p:cNvSpPr/>
          <p:nvPr/>
        </p:nvSpPr>
        <p:spPr>
          <a:xfrm>
            <a:off x="3885843" y="5141595"/>
            <a:ext cx="238125" cy="297656"/>
          </a:xfrm>
          <a:prstGeom prst="rect">
            <a:avLst/>
          </a:prstGeom>
          <a:noFill/>
          <a:ln/>
        </p:spPr>
        <p:txBody>
          <a:bodyPr wrap="none" lIns="0" tIns="0" rIns="0" bIns="0" rtlCol="0" anchor="ctr"/>
          <a:lstStyle/>
          <a:p>
            <a:pPr marL="0" indent="0" algn="ctr">
              <a:lnSpc>
                <a:spcPts val="3000"/>
              </a:lnSpc>
              <a:buNone/>
            </a:pPr>
            <a:r>
              <a:rPr lang="en-US" sz="1850" b="1" dirty="0">
                <a:solidFill>
                  <a:srgbClr val="FFFFFF"/>
                </a:solidFill>
                <a:latin typeface="Inter Bold" pitchFamily="34" charset="0"/>
                <a:ea typeface="Inter Bold" pitchFamily="34" charset="-122"/>
                <a:cs typeface="Inter Bold" pitchFamily="34" charset="-120"/>
              </a:rPr>
              <a:t>3</a:t>
            </a:r>
            <a:endParaRPr lang="en-US" sz="1850" dirty="0"/>
          </a:p>
        </p:txBody>
      </p:sp>
      <p:sp>
        <p:nvSpPr>
          <p:cNvPr id="20" name="Text 18"/>
          <p:cNvSpPr/>
          <p:nvPr/>
        </p:nvSpPr>
        <p:spPr>
          <a:xfrm>
            <a:off x="1015008" y="5786557"/>
            <a:ext cx="3040261"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Identifikasi Keterbatasan</a:t>
            </a:r>
            <a:endParaRPr lang="en-US" sz="1950" dirty="0"/>
          </a:p>
        </p:txBody>
      </p:sp>
      <p:sp>
        <p:nvSpPr>
          <p:cNvPr id="21" name="Text 19"/>
          <p:cNvSpPr/>
          <p:nvPr/>
        </p:nvSpPr>
        <p:spPr>
          <a:xfrm>
            <a:off x="1015008" y="6215777"/>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Mengidentifikasi keterbatasan penelitian yang berpotensi memengaruhi validitas temuan.</a:t>
            </a:r>
            <a:endParaRPr lang="en-US" sz="1550" dirty="0"/>
          </a:p>
        </p:txBody>
      </p:sp>
      <p:sp>
        <p:nvSpPr>
          <p:cNvPr id="22" name="Shape 20"/>
          <p:cNvSpPr/>
          <p:nvPr/>
        </p:nvSpPr>
        <p:spPr>
          <a:xfrm>
            <a:off x="7414379" y="5290423"/>
            <a:ext cx="6422231" cy="1781651"/>
          </a:xfrm>
          <a:prstGeom prst="roundRect">
            <a:avLst>
              <a:gd name="adj" fmla="val 6159"/>
            </a:avLst>
          </a:prstGeom>
          <a:solidFill>
            <a:srgbClr val="272525"/>
          </a:solidFill>
          <a:ln/>
        </p:spPr>
      </p:sp>
      <p:sp>
        <p:nvSpPr>
          <p:cNvPr id="23" name="Shape 21"/>
          <p:cNvSpPr/>
          <p:nvPr/>
        </p:nvSpPr>
        <p:spPr>
          <a:xfrm>
            <a:off x="7414379" y="5267563"/>
            <a:ext cx="6422231" cy="91440"/>
          </a:xfrm>
          <a:prstGeom prst="roundRect">
            <a:avLst>
              <a:gd name="adj" fmla="val 91163"/>
            </a:avLst>
          </a:prstGeom>
          <a:solidFill>
            <a:srgbClr val="2B0AFF"/>
          </a:solidFill>
          <a:ln/>
        </p:spPr>
      </p:sp>
      <p:sp>
        <p:nvSpPr>
          <p:cNvPr id="24" name="Shape 22"/>
          <p:cNvSpPr/>
          <p:nvPr/>
        </p:nvSpPr>
        <p:spPr>
          <a:xfrm>
            <a:off x="10327838" y="4992767"/>
            <a:ext cx="595313" cy="595313"/>
          </a:xfrm>
          <a:prstGeom prst="roundRect">
            <a:avLst>
              <a:gd name="adj" fmla="val 153600"/>
            </a:avLst>
          </a:prstGeom>
          <a:solidFill>
            <a:srgbClr val="2B0AFF"/>
          </a:solidFill>
          <a:ln/>
        </p:spPr>
      </p:sp>
      <p:sp>
        <p:nvSpPr>
          <p:cNvPr id="25" name="Text 23"/>
          <p:cNvSpPr/>
          <p:nvPr/>
        </p:nvSpPr>
        <p:spPr>
          <a:xfrm>
            <a:off x="10506432" y="5141595"/>
            <a:ext cx="238125" cy="297656"/>
          </a:xfrm>
          <a:prstGeom prst="rect">
            <a:avLst/>
          </a:prstGeom>
          <a:noFill/>
          <a:ln/>
        </p:spPr>
        <p:txBody>
          <a:bodyPr wrap="none" lIns="0" tIns="0" rIns="0" bIns="0" rtlCol="0" anchor="ctr"/>
          <a:lstStyle/>
          <a:p>
            <a:pPr marL="0" indent="0" algn="ctr">
              <a:lnSpc>
                <a:spcPts val="3000"/>
              </a:lnSpc>
              <a:buNone/>
            </a:pPr>
            <a:r>
              <a:rPr lang="en-US" sz="1850" b="1" dirty="0">
                <a:solidFill>
                  <a:srgbClr val="FFFFFF"/>
                </a:solidFill>
                <a:latin typeface="Inter Bold" pitchFamily="34" charset="0"/>
                <a:ea typeface="Inter Bold" pitchFamily="34" charset="-122"/>
                <a:cs typeface="Inter Bold" pitchFamily="34" charset="-120"/>
              </a:rPr>
              <a:t>4</a:t>
            </a:r>
            <a:endParaRPr lang="en-US" sz="1850" dirty="0"/>
          </a:p>
        </p:txBody>
      </p:sp>
      <p:sp>
        <p:nvSpPr>
          <p:cNvPr id="26" name="Text 24"/>
          <p:cNvSpPr/>
          <p:nvPr/>
        </p:nvSpPr>
        <p:spPr>
          <a:xfrm>
            <a:off x="7635597" y="578655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Rekomendasi Riset</a:t>
            </a:r>
            <a:endParaRPr lang="en-US" sz="1950" dirty="0"/>
          </a:p>
        </p:txBody>
      </p:sp>
      <p:sp>
        <p:nvSpPr>
          <p:cNvPr id="27" name="Text 25"/>
          <p:cNvSpPr/>
          <p:nvPr/>
        </p:nvSpPr>
        <p:spPr>
          <a:xfrm>
            <a:off x="7635597" y="6215777"/>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Memberikan rekomendasi konstruktif untuk pengembangan riset di masa depan.</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4611" y="488633"/>
            <a:ext cx="4141113" cy="488394"/>
          </a:xfrm>
          <a:prstGeom prst="rect">
            <a:avLst/>
          </a:prstGeom>
          <a:noFill/>
          <a:ln/>
        </p:spPr>
        <p:txBody>
          <a:bodyPr wrap="none" lIns="0" tIns="0" rIns="0" bIns="0" rtlCol="0" anchor="t"/>
          <a:lstStyle/>
          <a:p>
            <a:pPr marL="0" indent="0" algn="l">
              <a:lnSpc>
                <a:spcPts val="3800"/>
              </a:lnSpc>
              <a:buNone/>
            </a:pPr>
            <a:r>
              <a:rPr lang="en-US" sz="3050" b="1" dirty="0">
                <a:solidFill>
                  <a:srgbClr val="FFFFFF"/>
                </a:solidFill>
                <a:latin typeface="Inter Bold" pitchFamily="34" charset="0"/>
                <a:ea typeface="Inter Bold" pitchFamily="34" charset="-122"/>
                <a:cs typeface="Inter Bold" pitchFamily="34" charset="-120"/>
              </a:rPr>
              <a:t>Metodologi Penelitian</a:t>
            </a:r>
            <a:endParaRPr lang="en-US" sz="3050" dirty="0"/>
          </a:p>
        </p:txBody>
      </p:sp>
      <p:sp>
        <p:nvSpPr>
          <p:cNvPr id="3" name="Text 1"/>
          <p:cNvSpPr/>
          <p:nvPr/>
        </p:nvSpPr>
        <p:spPr>
          <a:xfrm>
            <a:off x="694611" y="1284565"/>
            <a:ext cx="3585210" cy="244197"/>
          </a:xfrm>
          <a:prstGeom prst="rect">
            <a:avLst/>
          </a:prstGeom>
          <a:noFill/>
          <a:ln/>
        </p:spPr>
        <p:txBody>
          <a:bodyPr wrap="none" lIns="0" tIns="0" rIns="0" bIns="0" rtlCol="0" anchor="t"/>
          <a:lstStyle/>
          <a:p>
            <a:pPr marL="0" indent="0" algn="l">
              <a:lnSpc>
                <a:spcPts val="1900"/>
              </a:lnSpc>
              <a:buNone/>
            </a:pPr>
            <a:r>
              <a:rPr lang="en-US" sz="1500" b="1" dirty="0">
                <a:solidFill>
                  <a:srgbClr val="FFFFFF"/>
                </a:solidFill>
                <a:latin typeface="Inter Bold" pitchFamily="34" charset="0"/>
                <a:ea typeface="Inter Bold" pitchFamily="34" charset="-122"/>
                <a:cs typeface="Inter Bold" pitchFamily="34" charset="-120"/>
              </a:rPr>
              <a:t>Pendekatan Hybrid Machine Learning</a:t>
            </a:r>
            <a:endParaRPr lang="en-US" sz="1500" dirty="0"/>
          </a:p>
        </p:txBody>
      </p:sp>
      <p:sp>
        <p:nvSpPr>
          <p:cNvPr id="4" name="Text 2"/>
          <p:cNvSpPr/>
          <p:nvPr/>
        </p:nvSpPr>
        <p:spPr>
          <a:xfrm>
            <a:off x="694611" y="1651754"/>
            <a:ext cx="6429970" cy="223480"/>
          </a:xfrm>
          <a:prstGeom prst="rect">
            <a:avLst/>
          </a:prstGeom>
          <a:noFill/>
          <a:ln/>
        </p:spPr>
        <p:txBody>
          <a:bodyPr wrap="none" lIns="0" tIns="0" rIns="0" bIns="0" rtlCol="0" anchor="t"/>
          <a:lstStyle/>
          <a:p>
            <a:pPr marL="0" indent="0" algn="l">
              <a:lnSpc>
                <a:spcPts val="1750"/>
              </a:lnSpc>
              <a:buNone/>
            </a:pPr>
            <a:r>
              <a:rPr lang="en-US" sz="1200" dirty="0">
                <a:solidFill>
                  <a:srgbClr val="E5E0DF"/>
                </a:solidFill>
                <a:latin typeface="Inter" pitchFamily="34" charset="0"/>
                <a:ea typeface="Inter" pitchFamily="34" charset="-122"/>
                <a:cs typeface="Inter" pitchFamily="34" charset="-120"/>
              </a:rPr>
              <a:t>Artikel ini menggunakan kombinasi tiga algoritma utama dalam kerangka hybrid:</a:t>
            </a:r>
            <a:endParaRPr lang="en-US" sz="1200" dirty="0"/>
          </a:p>
        </p:txBody>
      </p:sp>
      <p:sp>
        <p:nvSpPr>
          <p:cNvPr id="5" name="Shape 3"/>
          <p:cNvSpPr/>
          <p:nvPr/>
        </p:nvSpPr>
        <p:spPr>
          <a:xfrm>
            <a:off x="694611" y="2013704"/>
            <a:ext cx="3153489" cy="1141809"/>
          </a:xfrm>
          <a:prstGeom prst="roundRect">
            <a:avLst>
              <a:gd name="adj" fmla="val 5749"/>
            </a:avLst>
          </a:prstGeom>
          <a:solidFill>
            <a:srgbClr val="110080"/>
          </a:solidFill>
          <a:ln w="7620">
            <a:solidFill>
              <a:srgbClr val="2A1999"/>
            </a:solidFill>
            <a:prstDash val="solid"/>
          </a:ln>
        </p:spPr>
      </p:sp>
      <p:sp>
        <p:nvSpPr>
          <p:cNvPr id="6" name="Text 4"/>
          <p:cNvSpPr/>
          <p:nvPr/>
        </p:nvSpPr>
        <p:spPr>
          <a:xfrm>
            <a:off x="858441" y="2177534"/>
            <a:ext cx="1953697" cy="244197"/>
          </a:xfrm>
          <a:prstGeom prst="rect">
            <a:avLst/>
          </a:prstGeom>
          <a:noFill/>
          <a:ln/>
        </p:spPr>
        <p:txBody>
          <a:bodyPr wrap="none" lIns="0" tIns="0" rIns="0" bIns="0" rtlCol="0" anchor="t"/>
          <a:lstStyle/>
          <a:p>
            <a:pPr marL="0" indent="0" algn="l">
              <a:lnSpc>
                <a:spcPts val="1900"/>
              </a:lnSpc>
              <a:buNone/>
            </a:pPr>
            <a:r>
              <a:rPr lang="en-US" sz="1500" b="1" dirty="0">
                <a:solidFill>
                  <a:srgbClr val="E5E0DF"/>
                </a:solidFill>
                <a:latin typeface="Inter Bold" pitchFamily="34" charset="0"/>
                <a:ea typeface="Inter Bold" pitchFamily="34" charset="-122"/>
                <a:cs typeface="Inter Bold" pitchFamily="34" charset="-120"/>
              </a:rPr>
              <a:t>Decision Tree</a:t>
            </a:r>
            <a:endParaRPr lang="en-US" sz="1500" dirty="0"/>
          </a:p>
        </p:txBody>
      </p:sp>
      <p:sp>
        <p:nvSpPr>
          <p:cNvPr id="7" name="Text 5"/>
          <p:cNvSpPr/>
          <p:nvPr/>
        </p:nvSpPr>
        <p:spPr>
          <a:xfrm>
            <a:off x="858441" y="2544723"/>
            <a:ext cx="2825829" cy="223480"/>
          </a:xfrm>
          <a:prstGeom prst="rect">
            <a:avLst/>
          </a:prstGeom>
          <a:noFill/>
          <a:ln/>
        </p:spPr>
        <p:txBody>
          <a:bodyPr wrap="none" lIns="0" tIns="0" rIns="0" bIns="0" rtlCol="0" anchor="t"/>
          <a:lstStyle/>
          <a:p>
            <a:pPr marL="0" indent="0" algn="l">
              <a:lnSpc>
                <a:spcPts val="1750"/>
              </a:lnSpc>
              <a:buNone/>
            </a:pPr>
            <a:r>
              <a:rPr lang="en-US" sz="1200" dirty="0">
                <a:solidFill>
                  <a:srgbClr val="E5E0DF"/>
                </a:solidFill>
                <a:latin typeface="Inter" pitchFamily="34" charset="0"/>
                <a:ea typeface="Inter" pitchFamily="34" charset="-122"/>
                <a:cs typeface="Inter" pitchFamily="34" charset="-120"/>
              </a:rPr>
              <a:t>Klasifikasi berbasis pohon keputusan</a:t>
            </a:r>
            <a:endParaRPr lang="en-US" sz="1200" dirty="0"/>
          </a:p>
        </p:txBody>
      </p:sp>
      <p:sp>
        <p:nvSpPr>
          <p:cNvPr id="8" name="Shape 6"/>
          <p:cNvSpPr/>
          <p:nvPr/>
        </p:nvSpPr>
        <p:spPr>
          <a:xfrm>
            <a:off x="3971092" y="2013704"/>
            <a:ext cx="3153489" cy="1141809"/>
          </a:xfrm>
          <a:prstGeom prst="roundRect">
            <a:avLst>
              <a:gd name="adj" fmla="val 5749"/>
            </a:avLst>
          </a:prstGeom>
          <a:solidFill>
            <a:srgbClr val="110080"/>
          </a:solidFill>
          <a:ln w="7620">
            <a:solidFill>
              <a:srgbClr val="2A1999"/>
            </a:solidFill>
            <a:prstDash val="solid"/>
          </a:ln>
        </p:spPr>
      </p:sp>
      <p:sp>
        <p:nvSpPr>
          <p:cNvPr id="9" name="Text 7"/>
          <p:cNvSpPr/>
          <p:nvPr/>
        </p:nvSpPr>
        <p:spPr>
          <a:xfrm>
            <a:off x="4134922" y="2177534"/>
            <a:ext cx="1953697" cy="244197"/>
          </a:xfrm>
          <a:prstGeom prst="rect">
            <a:avLst/>
          </a:prstGeom>
          <a:noFill/>
          <a:ln/>
        </p:spPr>
        <p:txBody>
          <a:bodyPr wrap="none" lIns="0" tIns="0" rIns="0" bIns="0" rtlCol="0" anchor="t"/>
          <a:lstStyle/>
          <a:p>
            <a:pPr marL="0" indent="0" algn="l">
              <a:lnSpc>
                <a:spcPts val="1900"/>
              </a:lnSpc>
              <a:buNone/>
            </a:pPr>
            <a:r>
              <a:rPr lang="en-US" sz="1500" b="1" dirty="0">
                <a:solidFill>
                  <a:srgbClr val="E5E0DF"/>
                </a:solidFill>
                <a:latin typeface="Inter Bold" pitchFamily="34" charset="0"/>
                <a:ea typeface="Inter Bold" pitchFamily="34" charset="-122"/>
                <a:cs typeface="Inter Bold" pitchFamily="34" charset="-120"/>
              </a:rPr>
              <a:t>SVM</a:t>
            </a:r>
            <a:endParaRPr lang="en-US" sz="1500" dirty="0"/>
          </a:p>
        </p:txBody>
      </p:sp>
      <p:sp>
        <p:nvSpPr>
          <p:cNvPr id="10" name="Text 8"/>
          <p:cNvSpPr/>
          <p:nvPr/>
        </p:nvSpPr>
        <p:spPr>
          <a:xfrm>
            <a:off x="4134922" y="2544723"/>
            <a:ext cx="2825829" cy="446961"/>
          </a:xfrm>
          <a:prstGeom prst="rect">
            <a:avLst/>
          </a:prstGeom>
          <a:noFill/>
          <a:ln/>
        </p:spPr>
        <p:txBody>
          <a:bodyPr wrap="square" lIns="0" tIns="0" rIns="0" bIns="0" rtlCol="0" anchor="t"/>
          <a:lstStyle/>
          <a:p>
            <a:pPr marL="0" indent="0" algn="l">
              <a:lnSpc>
                <a:spcPts val="1750"/>
              </a:lnSpc>
              <a:buNone/>
            </a:pPr>
            <a:r>
              <a:rPr lang="en-US" sz="1200" dirty="0">
                <a:solidFill>
                  <a:srgbClr val="E5E0DF"/>
                </a:solidFill>
                <a:latin typeface="Inter" pitchFamily="34" charset="0"/>
                <a:ea typeface="Inter" pitchFamily="34" charset="-122"/>
                <a:cs typeface="Inter" pitchFamily="34" charset="-120"/>
              </a:rPr>
              <a:t>Support Vector Machine untuk pemisahan kelas</a:t>
            </a:r>
            <a:endParaRPr lang="en-US" sz="1200" dirty="0"/>
          </a:p>
        </p:txBody>
      </p:sp>
      <p:sp>
        <p:nvSpPr>
          <p:cNvPr id="11" name="Shape 9"/>
          <p:cNvSpPr/>
          <p:nvPr/>
        </p:nvSpPr>
        <p:spPr>
          <a:xfrm>
            <a:off x="694611" y="3278505"/>
            <a:ext cx="6429970" cy="918329"/>
          </a:xfrm>
          <a:prstGeom prst="roundRect">
            <a:avLst>
              <a:gd name="adj" fmla="val 7148"/>
            </a:avLst>
          </a:prstGeom>
          <a:solidFill>
            <a:srgbClr val="110080"/>
          </a:solidFill>
          <a:ln w="7620">
            <a:solidFill>
              <a:srgbClr val="2A1999"/>
            </a:solidFill>
            <a:prstDash val="solid"/>
          </a:ln>
        </p:spPr>
      </p:sp>
      <p:sp>
        <p:nvSpPr>
          <p:cNvPr id="12" name="Text 10"/>
          <p:cNvSpPr/>
          <p:nvPr/>
        </p:nvSpPr>
        <p:spPr>
          <a:xfrm>
            <a:off x="858441" y="3442335"/>
            <a:ext cx="1953697" cy="244197"/>
          </a:xfrm>
          <a:prstGeom prst="rect">
            <a:avLst/>
          </a:prstGeom>
          <a:noFill/>
          <a:ln/>
        </p:spPr>
        <p:txBody>
          <a:bodyPr wrap="none" lIns="0" tIns="0" rIns="0" bIns="0" rtlCol="0" anchor="t"/>
          <a:lstStyle/>
          <a:p>
            <a:pPr marL="0" indent="0" algn="l">
              <a:lnSpc>
                <a:spcPts val="1900"/>
              </a:lnSpc>
              <a:buNone/>
            </a:pPr>
            <a:r>
              <a:rPr lang="en-US" sz="1500" b="1" dirty="0">
                <a:solidFill>
                  <a:srgbClr val="E5E0DF"/>
                </a:solidFill>
                <a:latin typeface="Inter Bold" pitchFamily="34" charset="0"/>
                <a:ea typeface="Inter Bold" pitchFamily="34" charset="-122"/>
                <a:cs typeface="Inter Bold" pitchFamily="34" charset="-120"/>
              </a:rPr>
              <a:t>Naïve Bayes</a:t>
            </a:r>
            <a:endParaRPr lang="en-US" sz="1500" dirty="0"/>
          </a:p>
        </p:txBody>
      </p:sp>
      <p:sp>
        <p:nvSpPr>
          <p:cNvPr id="13" name="Text 11"/>
          <p:cNvSpPr/>
          <p:nvPr/>
        </p:nvSpPr>
        <p:spPr>
          <a:xfrm>
            <a:off x="858441" y="3809524"/>
            <a:ext cx="6102310" cy="223480"/>
          </a:xfrm>
          <a:prstGeom prst="rect">
            <a:avLst/>
          </a:prstGeom>
          <a:noFill/>
          <a:ln/>
        </p:spPr>
        <p:txBody>
          <a:bodyPr wrap="none" lIns="0" tIns="0" rIns="0" bIns="0" rtlCol="0" anchor="t"/>
          <a:lstStyle/>
          <a:p>
            <a:pPr marL="0" indent="0" algn="l">
              <a:lnSpc>
                <a:spcPts val="1750"/>
              </a:lnSpc>
              <a:buNone/>
            </a:pPr>
            <a:r>
              <a:rPr lang="en-US" sz="1200" dirty="0">
                <a:solidFill>
                  <a:srgbClr val="E5E0DF"/>
                </a:solidFill>
                <a:latin typeface="Inter" pitchFamily="34" charset="0"/>
                <a:ea typeface="Inter" pitchFamily="34" charset="-122"/>
                <a:cs typeface="Inter" pitchFamily="34" charset="-120"/>
              </a:rPr>
              <a:t>Probabilistik berbasis teorema Bayes</a:t>
            </a:r>
            <a:endParaRPr lang="en-US" sz="1200" dirty="0"/>
          </a:p>
        </p:txBody>
      </p:sp>
      <p:sp>
        <p:nvSpPr>
          <p:cNvPr id="14" name="Text 12"/>
          <p:cNvSpPr/>
          <p:nvPr/>
        </p:nvSpPr>
        <p:spPr>
          <a:xfrm>
            <a:off x="7513439" y="1284565"/>
            <a:ext cx="1953697" cy="244197"/>
          </a:xfrm>
          <a:prstGeom prst="rect">
            <a:avLst/>
          </a:prstGeom>
          <a:noFill/>
          <a:ln/>
        </p:spPr>
        <p:txBody>
          <a:bodyPr wrap="none" lIns="0" tIns="0" rIns="0" bIns="0" rtlCol="0" anchor="t"/>
          <a:lstStyle/>
          <a:p>
            <a:pPr marL="0" indent="0" algn="l">
              <a:lnSpc>
                <a:spcPts val="1900"/>
              </a:lnSpc>
              <a:buNone/>
            </a:pPr>
            <a:r>
              <a:rPr lang="en-US" sz="1500" b="1" dirty="0">
                <a:solidFill>
                  <a:srgbClr val="FFFFFF"/>
                </a:solidFill>
                <a:latin typeface="Inter Bold" pitchFamily="34" charset="0"/>
                <a:ea typeface="Inter Bold" pitchFamily="34" charset="-122"/>
                <a:cs typeface="Inter Bold" pitchFamily="34" charset="-120"/>
              </a:rPr>
              <a:t>Tahapan &amp; Dataset</a:t>
            </a:r>
            <a:endParaRPr lang="en-US" sz="1500" dirty="0"/>
          </a:p>
        </p:txBody>
      </p:sp>
      <p:sp>
        <p:nvSpPr>
          <p:cNvPr id="15" name="Text 13"/>
          <p:cNvSpPr/>
          <p:nvPr/>
        </p:nvSpPr>
        <p:spPr>
          <a:xfrm>
            <a:off x="7513439" y="1651754"/>
            <a:ext cx="6429970" cy="446961"/>
          </a:xfrm>
          <a:prstGeom prst="rect">
            <a:avLst/>
          </a:prstGeom>
          <a:noFill/>
          <a:ln/>
        </p:spPr>
        <p:txBody>
          <a:bodyPr wrap="square" lIns="0" tIns="0" rIns="0" bIns="0" rtlCol="0" anchor="t"/>
          <a:lstStyle/>
          <a:p>
            <a:pPr marL="0" indent="0" algn="l">
              <a:lnSpc>
                <a:spcPts val="1750"/>
              </a:lnSpc>
              <a:buNone/>
            </a:pPr>
            <a:r>
              <a:rPr lang="en-US" sz="1200" dirty="0">
                <a:solidFill>
                  <a:srgbClr val="E5E0DF"/>
                </a:solidFill>
                <a:latin typeface="Inter" pitchFamily="34" charset="0"/>
                <a:ea typeface="Inter" pitchFamily="34" charset="-122"/>
                <a:cs typeface="Inter" pitchFamily="34" charset="-120"/>
              </a:rPr>
              <a:t>Alur metodologi mencakup: pengumpulan data, preprocessing, exploratory data analysis (EDA), dan modeling.</a:t>
            </a:r>
            <a:endParaRPr lang="en-US" sz="1200" dirty="0"/>
          </a:p>
        </p:txBody>
      </p:sp>
      <p:sp>
        <p:nvSpPr>
          <p:cNvPr id="16" name="Shape 14"/>
          <p:cNvSpPr/>
          <p:nvPr/>
        </p:nvSpPr>
        <p:spPr>
          <a:xfrm>
            <a:off x="7513439" y="2237184"/>
            <a:ext cx="6429970" cy="1244798"/>
          </a:xfrm>
          <a:prstGeom prst="roundRect">
            <a:avLst>
              <a:gd name="adj" fmla="val 5274"/>
            </a:avLst>
          </a:prstGeom>
          <a:solidFill>
            <a:srgbClr val="4B3F02"/>
          </a:solidFill>
          <a:ln/>
        </p:spPr>
      </p:sp>
      <p:pic>
        <p:nvPicPr>
          <p:cNvPr id="17" name="Image 0" descr="preencoded.png"/>
          <p:cNvPicPr>
            <a:picLocks noChangeAspect="1"/>
          </p:cNvPicPr>
          <p:nvPr/>
        </p:nvPicPr>
        <p:blipFill>
          <a:blip r:embed="rId3"/>
          <a:stretch>
            <a:fillRect/>
          </a:stretch>
        </p:blipFill>
        <p:spPr>
          <a:xfrm>
            <a:off x="7669649" y="2463403"/>
            <a:ext cx="195263" cy="156210"/>
          </a:xfrm>
          <a:prstGeom prst="rect">
            <a:avLst/>
          </a:prstGeom>
        </p:spPr>
      </p:pic>
      <p:sp>
        <p:nvSpPr>
          <p:cNvPr id="18" name="Text 15"/>
          <p:cNvSpPr/>
          <p:nvPr/>
        </p:nvSpPr>
        <p:spPr>
          <a:xfrm>
            <a:off x="8021122" y="2399228"/>
            <a:ext cx="5766078" cy="893921"/>
          </a:xfrm>
          <a:prstGeom prst="rect">
            <a:avLst/>
          </a:prstGeom>
          <a:noFill/>
          <a:ln/>
        </p:spPr>
        <p:txBody>
          <a:bodyPr wrap="square" lIns="0" tIns="0" rIns="0" bIns="0" rtlCol="0" anchor="t"/>
          <a:lstStyle/>
          <a:p>
            <a:pPr marL="0" indent="0" algn="l">
              <a:lnSpc>
                <a:spcPts val="1750"/>
              </a:lnSpc>
              <a:buNone/>
            </a:pPr>
            <a:r>
              <a:rPr lang="en-US" sz="1200" dirty="0">
                <a:solidFill>
                  <a:srgbClr val="FFFFFF"/>
                </a:solidFill>
                <a:latin typeface="Inter" pitchFamily="34" charset="0"/>
                <a:ea typeface="Inter" pitchFamily="34" charset="-122"/>
                <a:cs typeface="Inter" pitchFamily="34" charset="-120"/>
              </a:rPr>
              <a:t>Dataset berjumlah </a:t>
            </a:r>
            <a:r>
              <a:rPr lang="en-US" sz="1200" b="1" dirty="0">
                <a:solidFill>
                  <a:srgbClr val="FFFFFF"/>
                </a:solidFill>
                <a:latin typeface="Inter" pitchFamily="34" charset="0"/>
                <a:ea typeface="Inter" pitchFamily="34" charset="-122"/>
                <a:cs typeface="Inter" pitchFamily="34" charset="-120"/>
              </a:rPr>
              <a:t>8.665 data</a:t>
            </a:r>
            <a:r>
              <a:rPr lang="en-US" sz="1200" dirty="0">
                <a:solidFill>
                  <a:srgbClr val="FFFFFF"/>
                </a:solidFill>
                <a:latin typeface="Inter" pitchFamily="34" charset="0"/>
                <a:ea typeface="Inter" pitchFamily="34" charset="-122"/>
                <a:cs typeface="Inter" pitchFamily="34" charset="-120"/>
              </a:rPr>
              <a:t> (2019–2024) bersumber dari Learning Record Store (LRS), namun </a:t>
            </a:r>
            <a:r>
              <a:rPr lang="en-US" sz="1200" b="1" dirty="0">
                <a:solidFill>
                  <a:srgbClr val="FFFFFF"/>
                </a:solidFill>
                <a:latin typeface="Inter" pitchFamily="34" charset="0"/>
                <a:ea typeface="Inter" pitchFamily="34" charset="-122"/>
                <a:cs typeface="Inter" pitchFamily="34" charset="-120"/>
              </a:rPr>
              <a:t>karakteristik populasi, distribusi data, dan potensi bias tidak dijelaskan secara rinci</a:t>
            </a:r>
            <a:r>
              <a:rPr lang="en-US" sz="1200" dirty="0">
                <a:solidFill>
                  <a:srgbClr val="FFFFFF"/>
                </a:solidFill>
                <a:latin typeface="Inter" pitchFamily="34" charset="0"/>
                <a:ea typeface="Inter" pitchFamily="34" charset="-122"/>
                <a:cs typeface="Inter" pitchFamily="34" charset="-120"/>
              </a:rPr>
              <a:t> — sebuah kelemahan metodologis yang signifikan.</a:t>
            </a:r>
            <a:endParaRPr lang="en-US" sz="1200" dirty="0"/>
          </a:p>
        </p:txBody>
      </p:sp>
      <p:pic>
        <p:nvPicPr>
          <p:cNvPr id="19" name="Image 1" descr="preencoded.png"/>
          <p:cNvPicPr>
            <a:picLocks noChangeAspect="1"/>
          </p:cNvPicPr>
          <p:nvPr/>
        </p:nvPicPr>
        <p:blipFill>
          <a:blip r:embed="rId4"/>
          <a:stretch>
            <a:fillRect/>
          </a:stretch>
        </p:blipFill>
        <p:spPr>
          <a:xfrm>
            <a:off x="1356717" y="4473773"/>
            <a:ext cx="11916966" cy="3267194"/>
          </a:xfrm>
          <a:prstGeom prst="rect">
            <a:avLst/>
          </a:prstGeom>
        </p:spPr>
      </p:pic>
      <p:sp>
        <p:nvSpPr>
          <p:cNvPr id="20" name="Text 16"/>
          <p:cNvSpPr/>
          <p:nvPr/>
        </p:nvSpPr>
        <p:spPr>
          <a:xfrm>
            <a:off x="2793201" y="5654380"/>
            <a:ext cx="1800855" cy="644890"/>
          </a:xfrm>
          <a:prstGeom prst="rect">
            <a:avLst/>
          </a:prstGeom>
          <a:noFill/>
          <a:ln/>
        </p:spPr>
        <p:txBody>
          <a:bodyPr wrap="square" lIns="0" tIns="0" rIns="0" bIns="0" rtlCol="0" anchor="t"/>
          <a:lstStyle/>
          <a:p>
            <a:pPr marL="0" indent="0" algn="ctr">
              <a:lnSpc>
                <a:spcPts val="2500"/>
              </a:lnSpc>
              <a:buNone/>
            </a:pPr>
            <a:r>
              <a:rPr lang="en-US" sz="2000" b="1" dirty="0">
                <a:solidFill>
                  <a:srgbClr val="E5E0DF"/>
                </a:solidFill>
                <a:latin typeface="Inter Bold" pitchFamily="34" charset="0"/>
                <a:ea typeface="Inter Bold" pitchFamily="34" charset="-122"/>
                <a:cs typeface="Inter Bold" pitchFamily="34" charset="-120"/>
              </a:rPr>
              <a:t>Pengumpulan Data</a:t>
            </a:r>
            <a:endParaRPr lang="en-US" sz="2000" dirty="0"/>
          </a:p>
        </p:txBody>
      </p:sp>
      <p:sp>
        <p:nvSpPr>
          <p:cNvPr id="21" name="Text 17"/>
          <p:cNvSpPr/>
          <p:nvPr/>
        </p:nvSpPr>
        <p:spPr>
          <a:xfrm>
            <a:off x="2793201" y="6390988"/>
            <a:ext cx="1800855" cy="461097"/>
          </a:xfrm>
          <a:prstGeom prst="rect">
            <a:avLst/>
          </a:prstGeom>
          <a:noFill/>
          <a:ln/>
        </p:spPr>
        <p:txBody>
          <a:bodyPr wrap="square" lIns="0" tIns="0" rIns="0" bIns="0" rtlCol="0" anchor="t"/>
          <a:lstStyle/>
          <a:p>
            <a:pPr marL="0" indent="0" algn="ctr">
              <a:lnSpc>
                <a:spcPts val="1800"/>
              </a:lnSpc>
              <a:buNone/>
            </a:pPr>
            <a:r>
              <a:rPr lang="en-US" sz="1600" dirty="0">
                <a:solidFill>
                  <a:srgbClr val="E5E0DF"/>
                </a:solidFill>
                <a:latin typeface="Inter" pitchFamily="34" charset="0"/>
                <a:ea typeface="Inter" pitchFamily="34" charset="-122"/>
                <a:cs typeface="Inter" pitchFamily="34" charset="-120"/>
              </a:rPr>
              <a:t>Ambil data dari LRS</a:t>
            </a:r>
            <a:endParaRPr lang="en-US" sz="1600" dirty="0"/>
          </a:p>
        </p:txBody>
      </p:sp>
      <p:sp>
        <p:nvSpPr>
          <p:cNvPr id="22" name="Text 18"/>
          <p:cNvSpPr/>
          <p:nvPr/>
        </p:nvSpPr>
        <p:spPr>
          <a:xfrm>
            <a:off x="5223720" y="5246487"/>
            <a:ext cx="1800855" cy="644890"/>
          </a:xfrm>
          <a:prstGeom prst="rect">
            <a:avLst/>
          </a:prstGeom>
          <a:noFill/>
          <a:ln/>
        </p:spPr>
        <p:txBody>
          <a:bodyPr wrap="square" lIns="0" tIns="0" rIns="0" bIns="0" rtlCol="0" anchor="t"/>
          <a:lstStyle/>
          <a:p>
            <a:pPr marL="0" indent="0" algn="ctr">
              <a:lnSpc>
                <a:spcPts val="2500"/>
              </a:lnSpc>
              <a:buNone/>
            </a:pPr>
            <a:r>
              <a:rPr lang="en-US" sz="2000" b="1" dirty="0">
                <a:solidFill>
                  <a:srgbClr val="FFFFFF"/>
                </a:solidFill>
                <a:latin typeface="Inter Bold" pitchFamily="34" charset="0"/>
                <a:ea typeface="Inter Bold" pitchFamily="34" charset="-122"/>
                <a:cs typeface="Inter Bold" pitchFamily="34" charset="-120"/>
              </a:rPr>
              <a:t>Praproses &amp; Bersih</a:t>
            </a:r>
            <a:endParaRPr lang="en-US" sz="2000" dirty="0"/>
          </a:p>
        </p:txBody>
      </p:sp>
      <p:sp>
        <p:nvSpPr>
          <p:cNvPr id="23" name="Text 19"/>
          <p:cNvSpPr/>
          <p:nvPr/>
        </p:nvSpPr>
        <p:spPr>
          <a:xfrm>
            <a:off x="5223720" y="5983095"/>
            <a:ext cx="1800855" cy="691645"/>
          </a:xfrm>
          <a:prstGeom prst="rect">
            <a:avLst/>
          </a:prstGeom>
          <a:noFill/>
          <a:ln/>
        </p:spPr>
        <p:txBody>
          <a:bodyPr wrap="square" lIns="0" tIns="0" rIns="0" bIns="0" rtlCol="0" anchor="t"/>
          <a:lstStyle/>
          <a:p>
            <a:pPr marL="0" indent="0" algn="ctr">
              <a:lnSpc>
                <a:spcPts val="1800"/>
              </a:lnSpc>
              <a:buNone/>
            </a:pPr>
            <a:r>
              <a:rPr lang="en-US" sz="1600" dirty="0">
                <a:solidFill>
                  <a:srgbClr val="E5E0DF"/>
                </a:solidFill>
                <a:latin typeface="Inter" pitchFamily="34" charset="0"/>
                <a:ea typeface="Inter" pitchFamily="34" charset="-122"/>
                <a:cs typeface="Inter" pitchFamily="34" charset="-120"/>
              </a:rPr>
              <a:t>Normalisasi, imputasi, dan transformasi</a:t>
            </a:r>
            <a:endParaRPr lang="en-US" sz="1600" dirty="0"/>
          </a:p>
        </p:txBody>
      </p:sp>
      <p:sp>
        <p:nvSpPr>
          <p:cNvPr id="24" name="Text 20"/>
          <p:cNvSpPr/>
          <p:nvPr/>
        </p:nvSpPr>
        <p:spPr>
          <a:xfrm>
            <a:off x="7700097" y="5654380"/>
            <a:ext cx="1800855" cy="322445"/>
          </a:xfrm>
          <a:prstGeom prst="rect">
            <a:avLst/>
          </a:prstGeom>
          <a:noFill/>
          <a:ln/>
        </p:spPr>
        <p:txBody>
          <a:bodyPr wrap="none" lIns="0" tIns="0" rIns="0" bIns="0" rtlCol="0" anchor="t"/>
          <a:lstStyle/>
          <a:p>
            <a:pPr marL="0" indent="0" algn="ctr">
              <a:lnSpc>
                <a:spcPts val="2500"/>
              </a:lnSpc>
              <a:buNone/>
            </a:pPr>
            <a:r>
              <a:rPr lang="en-US" sz="2000" b="1" dirty="0">
                <a:solidFill>
                  <a:srgbClr val="FFFFFF"/>
                </a:solidFill>
                <a:latin typeface="Inter Bold" pitchFamily="34" charset="0"/>
                <a:ea typeface="Inter Bold" pitchFamily="34" charset="-122"/>
                <a:cs typeface="Inter Bold" pitchFamily="34" charset="-120"/>
              </a:rPr>
              <a:t>EDA</a:t>
            </a:r>
            <a:endParaRPr lang="en-US" sz="2000" dirty="0"/>
          </a:p>
        </p:txBody>
      </p:sp>
      <p:sp>
        <p:nvSpPr>
          <p:cNvPr id="25" name="Text 21"/>
          <p:cNvSpPr/>
          <p:nvPr/>
        </p:nvSpPr>
        <p:spPr>
          <a:xfrm>
            <a:off x="7700097" y="6068543"/>
            <a:ext cx="1800855" cy="691645"/>
          </a:xfrm>
          <a:prstGeom prst="rect">
            <a:avLst/>
          </a:prstGeom>
          <a:noFill/>
          <a:ln/>
        </p:spPr>
        <p:txBody>
          <a:bodyPr wrap="square" lIns="0" tIns="0" rIns="0" bIns="0" rtlCol="0" anchor="t"/>
          <a:lstStyle/>
          <a:p>
            <a:pPr marL="0" indent="0" algn="ctr">
              <a:lnSpc>
                <a:spcPts val="1800"/>
              </a:lnSpc>
              <a:buNone/>
            </a:pPr>
            <a:r>
              <a:rPr lang="en-US" sz="1600" dirty="0">
                <a:solidFill>
                  <a:srgbClr val="E5E0DF"/>
                </a:solidFill>
                <a:latin typeface="Inter" pitchFamily="34" charset="0"/>
                <a:ea typeface="Inter" pitchFamily="34" charset="-122"/>
                <a:cs typeface="Inter" pitchFamily="34" charset="-120"/>
              </a:rPr>
              <a:t>Analisis pola, distribusi, dan korelasi</a:t>
            </a:r>
            <a:endParaRPr lang="en-US" sz="1600" dirty="0"/>
          </a:p>
        </p:txBody>
      </p:sp>
      <p:sp>
        <p:nvSpPr>
          <p:cNvPr id="26" name="Text 22"/>
          <p:cNvSpPr/>
          <p:nvPr/>
        </p:nvSpPr>
        <p:spPr>
          <a:xfrm>
            <a:off x="10153546" y="5568932"/>
            <a:ext cx="1800855" cy="322445"/>
          </a:xfrm>
          <a:prstGeom prst="rect">
            <a:avLst/>
          </a:prstGeom>
          <a:noFill/>
          <a:ln/>
        </p:spPr>
        <p:txBody>
          <a:bodyPr wrap="none" lIns="0" tIns="0" rIns="0" bIns="0" rtlCol="0" anchor="t"/>
          <a:lstStyle/>
          <a:p>
            <a:pPr marL="0" indent="0" algn="ctr">
              <a:lnSpc>
                <a:spcPts val="2500"/>
              </a:lnSpc>
              <a:buNone/>
            </a:pPr>
            <a:r>
              <a:rPr lang="en-US" sz="2000" b="1" dirty="0">
                <a:solidFill>
                  <a:srgbClr val="FFFFFF"/>
                </a:solidFill>
                <a:latin typeface="Inter Bold" pitchFamily="34" charset="0"/>
                <a:ea typeface="Inter Bold" pitchFamily="34" charset="-122"/>
                <a:cs typeface="Inter Bold" pitchFamily="34" charset="-120"/>
              </a:rPr>
              <a:t>Model Hybrid</a:t>
            </a:r>
            <a:endParaRPr lang="en-US" sz="2000" dirty="0"/>
          </a:p>
        </p:txBody>
      </p:sp>
      <p:sp>
        <p:nvSpPr>
          <p:cNvPr id="27" name="Text 23"/>
          <p:cNvSpPr/>
          <p:nvPr/>
        </p:nvSpPr>
        <p:spPr>
          <a:xfrm>
            <a:off x="10153546" y="5983095"/>
            <a:ext cx="1800855" cy="691645"/>
          </a:xfrm>
          <a:prstGeom prst="rect">
            <a:avLst/>
          </a:prstGeom>
          <a:noFill/>
          <a:ln/>
        </p:spPr>
        <p:txBody>
          <a:bodyPr wrap="square" lIns="0" tIns="0" rIns="0" bIns="0" rtlCol="0" anchor="t"/>
          <a:lstStyle/>
          <a:p>
            <a:pPr marL="0" indent="0" algn="ctr">
              <a:lnSpc>
                <a:spcPts val="1800"/>
              </a:lnSpc>
              <a:buNone/>
            </a:pPr>
            <a:r>
              <a:rPr lang="en-US" sz="1600" dirty="0">
                <a:solidFill>
                  <a:srgbClr val="E5E0DF"/>
                </a:solidFill>
                <a:latin typeface="Inter" pitchFamily="34" charset="0"/>
                <a:ea typeface="Inter" pitchFamily="34" charset="-122"/>
                <a:cs typeface="Inter" pitchFamily="34" charset="-120"/>
              </a:rPr>
              <a:t>Decision Tree, SVM, dan Naïve Bayes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69025" y="665917"/>
            <a:ext cx="4566404" cy="570667"/>
          </a:xfrm>
          <a:prstGeom prst="rect">
            <a:avLst/>
          </a:prstGeom>
          <a:noFill/>
          <a:ln/>
        </p:spPr>
        <p:txBody>
          <a:bodyPr wrap="none" lIns="0" tIns="0" rIns="0" bIns="0" rtlCol="0" anchor="t"/>
          <a:lstStyle/>
          <a:p>
            <a:pPr marL="0" indent="0" algn="l">
              <a:lnSpc>
                <a:spcPts val="4450"/>
              </a:lnSpc>
              <a:buNone/>
            </a:pPr>
            <a:r>
              <a:rPr lang="en-US" sz="3550" b="1" dirty="0">
                <a:solidFill>
                  <a:srgbClr val="FFFFFF"/>
                </a:solidFill>
                <a:latin typeface="Inter Bold" pitchFamily="34" charset="0"/>
                <a:ea typeface="Inter Bold" pitchFamily="34" charset="-122"/>
                <a:cs typeface="Inter Bold" pitchFamily="34" charset="-120"/>
              </a:rPr>
              <a:t>Kontribusi Ilmiah</a:t>
            </a:r>
            <a:endParaRPr lang="en-US" sz="3550" dirty="0"/>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9025" y="1488638"/>
            <a:ext cx="456605" cy="456605"/>
          </a:xfrm>
          <a:prstGeom prst="rect">
            <a:avLst/>
          </a:prstGeom>
        </p:spPr>
      </p:pic>
      <p:sp>
        <p:nvSpPr>
          <p:cNvPr id="5" name="Text 1"/>
          <p:cNvSpPr/>
          <p:nvPr/>
        </p:nvSpPr>
        <p:spPr>
          <a:xfrm>
            <a:off x="769025" y="2155269"/>
            <a:ext cx="2906911" cy="285393"/>
          </a:xfrm>
          <a:prstGeom prst="rect">
            <a:avLst/>
          </a:prstGeom>
          <a:noFill/>
          <a:ln/>
        </p:spPr>
        <p:txBody>
          <a:bodyPr wrap="none" lIns="0" tIns="0" rIns="0" bIns="0" rtlCol="0" anchor="t"/>
          <a:lstStyle/>
          <a:p>
            <a:pPr marL="0" indent="0" algn="l">
              <a:lnSpc>
                <a:spcPts val="2200"/>
              </a:lnSpc>
              <a:buNone/>
            </a:pPr>
            <a:r>
              <a:rPr lang="en-US" sz="1750" b="1" dirty="0">
                <a:solidFill>
                  <a:srgbClr val="E5E0DF"/>
                </a:solidFill>
                <a:latin typeface="Inter Bold" pitchFamily="34" charset="0"/>
                <a:ea typeface="Inter Bold" pitchFamily="34" charset="-122"/>
                <a:cs typeface="Inter Bold" pitchFamily="34" charset="-120"/>
              </a:rPr>
              <a:t>Integrasi Kerangka Hybrid</a:t>
            </a:r>
            <a:endParaRPr lang="en-US" sz="1750" dirty="0"/>
          </a:p>
        </p:txBody>
      </p:sp>
      <p:sp>
        <p:nvSpPr>
          <p:cNvPr id="6" name="Text 2"/>
          <p:cNvSpPr/>
          <p:nvPr/>
        </p:nvSpPr>
        <p:spPr>
          <a:xfrm>
            <a:off x="769025" y="2541508"/>
            <a:ext cx="7605951" cy="841534"/>
          </a:xfrm>
          <a:prstGeom prst="rect">
            <a:avLst/>
          </a:prstGeom>
          <a:noFill/>
          <a:ln/>
        </p:spPr>
        <p:txBody>
          <a:bodyPr wrap="square" lIns="0" tIns="0" rIns="0" bIns="0" rtlCol="0" anchor="t"/>
          <a:lstStyle/>
          <a:p>
            <a:pPr marL="0" indent="0" algn="l">
              <a:lnSpc>
                <a:spcPts val="2200"/>
              </a:lnSpc>
              <a:buNone/>
            </a:pPr>
            <a:r>
              <a:rPr lang="en-US" sz="1400" dirty="0">
                <a:solidFill>
                  <a:srgbClr val="E5E0DF"/>
                </a:solidFill>
                <a:latin typeface="Inter" pitchFamily="34" charset="0"/>
                <a:ea typeface="Inter" pitchFamily="34" charset="-122"/>
                <a:cs typeface="Inter" pitchFamily="34" charset="-120"/>
              </a:rPr>
              <a:t>Menyatukan AI, big data, dan smart learning system dalam satu kerangka hybrid yang kohesif — menawarkan pendekatan holistik yang jarang ditemukan dalam literatur sebelumnya.</a:t>
            </a:r>
            <a:endParaRPr lang="en-US" sz="1400" dirty="0"/>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9025" y="3719155"/>
            <a:ext cx="456605" cy="456605"/>
          </a:xfrm>
          <a:prstGeom prst="rect">
            <a:avLst/>
          </a:prstGeom>
        </p:spPr>
      </p:pic>
      <p:sp>
        <p:nvSpPr>
          <p:cNvPr id="8" name="Text 3"/>
          <p:cNvSpPr/>
          <p:nvPr/>
        </p:nvSpPr>
        <p:spPr>
          <a:xfrm>
            <a:off x="769025" y="4385786"/>
            <a:ext cx="3323868" cy="285393"/>
          </a:xfrm>
          <a:prstGeom prst="rect">
            <a:avLst/>
          </a:prstGeom>
          <a:noFill/>
          <a:ln/>
        </p:spPr>
        <p:txBody>
          <a:bodyPr wrap="none" lIns="0" tIns="0" rIns="0" bIns="0" rtlCol="0" anchor="t"/>
          <a:lstStyle/>
          <a:p>
            <a:pPr marL="0" indent="0" algn="l">
              <a:lnSpc>
                <a:spcPts val="2200"/>
              </a:lnSpc>
              <a:buNone/>
            </a:pPr>
            <a:r>
              <a:rPr lang="en-US" sz="1750" b="1" dirty="0">
                <a:solidFill>
                  <a:srgbClr val="E5E0DF"/>
                </a:solidFill>
                <a:latin typeface="Inter Bold" pitchFamily="34" charset="0"/>
                <a:ea typeface="Inter Bold" pitchFamily="34" charset="-122"/>
                <a:cs typeface="Inter Bold" pitchFamily="34" charset="-120"/>
              </a:rPr>
              <a:t>Kombinasi Algoritma Prediktif</a:t>
            </a:r>
            <a:endParaRPr lang="en-US" sz="1750" dirty="0"/>
          </a:p>
        </p:txBody>
      </p:sp>
      <p:sp>
        <p:nvSpPr>
          <p:cNvPr id="9" name="Text 4"/>
          <p:cNvSpPr/>
          <p:nvPr/>
        </p:nvSpPr>
        <p:spPr>
          <a:xfrm>
            <a:off x="769025" y="4772025"/>
            <a:ext cx="7605951" cy="841534"/>
          </a:xfrm>
          <a:prstGeom prst="rect">
            <a:avLst/>
          </a:prstGeom>
          <a:noFill/>
          <a:ln/>
        </p:spPr>
        <p:txBody>
          <a:bodyPr wrap="square" lIns="0" tIns="0" rIns="0" bIns="0" rtlCol="0" anchor="t"/>
          <a:lstStyle/>
          <a:p>
            <a:pPr marL="0" indent="0" algn="l">
              <a:lnSpc>
                <a:spcPts val="2200"/>
              </a:lnSpc>
              <a:buNone/>
            </a:pPr>
            <a:r>
              <a:rPr lang="en-US" sz="1400" dirty="0">
                <a:solidFill>
                  <a:srgbClr val="E5E0DF"/>
                </a:solidFill>
                <a:latin typeface="Inter" pitchFamily="34" charset="0"/>
                <a:ea typeface="Inter" pitchFamily="34" charset="-122"/>
                <a:cs typeface="Inter" pitchFamily="34" charset="-120"/>
              </a:rPr>
              <a:t>Penggunaan kombinasi Decision Tree, SVM, dan Naïve Bayes secara bersamaan meningkatkan akurasi prediksi </a:t>
            </a:r>
            <a:r>
              <a:rPr lang="en-US" sz="1400" i="1" dirty="0">
                <a:solidFill>
                  <a:srgbClr val="E5E0DF"/>
                </a:solidFill>
                <a:latin typeface="Inter" pitchFamily="34" charset="0"/>
                <a:ea typeface="Inter" pitchFamily="34" charset="-122"/>
                <a:cs typeface="Inter" pitchFamily="34" charset="-120"/>
              </a:rPr>
              <a:t>course completion</a:t>
            </a:r>
            <a:r>
              <a:rPr lang="en-US" sz="1400" dirty="0">
                <a:solidFill>
                  <a:srgbClr val="E5E0DF"/>
                </a:solidFill>
                <a:latin typeface="Inter" pitchFamily="34" charset="0"/>
                <a:ea typeface="Inter" pitchFamily="34" charset="-122"/>
                <a:cs typeface="Inter" pitchFamily="34" charset="-120"/>
              </a:rPr>
              <a:t> dibandingkan pendekatan algoritma tunggal.</a:t>
            </a:r>
            <a:endParaRPr lang="en-US" sz="1400" dirty="0"/>
          </a:p>
        </p:txBody>
      </p:sp>
      <p:pic>
        <p:nvPicPr>
          <p:cNvPr id="1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9025" y="5949672"/>
            <a:ext cx="456605" cy="456605"/>
          </a:xfrm>
          <a:prstGeom prst="rect">
            <a:avLst/>
          </a:prstGeom>
        </p:spPr>
      </p:pic>
      <p:sp>
        <p:nvSpPr>
          <p:cNvPr id="11" name="Text 5"/>
          <p:cNvSpPr/>
          <p:nvPr/>
        </p:nvSpPr>
        <p:spPr>
          <a:xfrm>
            <a:off x="769025" y="6616303"/>
            <a:ext cx="4555688" cy="285393"/>
          </a:xfrm>
          <a:prstGeom prst="rect">
            <a:avLst/>
          </a:prstGeom>
          <a:noFill/>
          <a:ln/>
        </p:spPr>
        <p:txBody>
          <a:bodyPr wrap="none" lIns="0" tIns="0" rIns="0" bIns="0" rtlCol="0" anchor="t"/>
          <a:lstStyle/>
          <a:p>
            <a:pPr marL="0" indent="0" algn="l">
              <a:lnSpc>
                <a:spcPts val="2200"/>
              </a:lnSpc>
              <a:buNone/>
            </a:pPr>
            <a:r>
              <a:rPr lang="en-US" sz="1750" b="1" dirty="0">
                <a:solidFill>
                  <a:srgbClr val="E5E0DF"/>
                </a:solidFill>
                <a:latin typeface="Inter Bold" pitchFamily="34" charset="0"/>
                <a:ea typeface="Inter Bold" pitchFamily="34" charset="-122"/>
                <a:cs typeface="Inter Bold" pitchFamily="34" charset="-120"/>
              </a:rPr>
              <a:t>Konsep Learning Record Customer (LRC)</a:t>
            </a:r>
            <a:endParaRPr lang="en-US" sz="1750" dirty="0"/>
          </a:p>
        </p:txBody>
      </p:sp>
      <p:sp>
        <p:nvSpPr>
          <p:cNvPr id="12" name="Text 6"/>
          <p:cNvSpPr/>
          <p:nvPr/>
        </p:nvSpPr>
        <p:spPr>
          <a:xfrm>
            <a:off x="769025" y="7002542"/>
            <a:ext cx="7605951" cy="561023"/>
          </a:xfrm>
          <a:prstGeom prst="rect">
            <a:avLst/>
          </a:prstGeom>
          <a:noFill/>
          <a:ln/>
        </p:spPr>
        <p:txBody>
          <a:bodyPr wrap="square" lIns="0" tIns="0" rIns="0" bIns="0" rtlCol="0" anchor="t"/>
          <a:lstStyle/>
          <a:p>
            <a:pPr marL="0" indent="0" algn="l">
              <a:lnSpc>
                <a:spcPts val="2200"/>
              </a:lnSpc>
              <a:buNone/>
            </a:pPr>
            <a:r>
              <a:rPr lang="en-US" sz="1400" dirty="0">
                <a:solidFill>
                  <a:srgbClr val="E5E0DF"/>
                </a:solidFill>
                <a:latin typeface="Inter" pitchFamily="34" charset="0"/>
                <a:ea typeface="Inter" pitchFamily="34" charset="-122"/>
                <a:cs typeface="Inter" pitchFamily="34" charset="-120"/>
              </a:rPr>
              <a:t>Pengembangan konsep LRC sebagai unit analisis pembelajaran berbasis data — merupakan kontribusi konseptual baru yang memperkaya ekosistem learning analytics.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82729"/>
            <a:ext cx="7516892"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Pengembangan Riset ke Depan</a:t>
            </a:r>
            <a:endParaRPr lang="en-US" sz="3900" dirty="0"/>
          </a:p>
        </p:txBody>
      </p:sp>
      <p:sp>
        <p:nvSpPr>
          <p:cNvPr id="3" name="Text 1"/>
          <p:cNvSpPr/>
          <p:nvPr/>
        </p:nvSpPr>
        <p:spPr>
          <a:xfrm>
            <a:off x="793790" y="1899642"/>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Beberapa arah riset lanjutan direkomendasikan untuk memperkuat fondasi ilmiah dan aplikabilitas model hybrid ini.</a:t>
            </a:r>
            <a:endParaRPr lang="en-US" sz="1550" dirty="0"/>
          </a:p>
        </p:txBody>
      </p:sp>
      <p:sp>
        <p:nvSpPr>
          <p:cNvPr id="4" name="Shape 2"/>
          <p:cNvSpPr/>
          <p:nvPr/>
        </p:nvSpPr>
        <p:spPr>
          <a:xfrm>
            <a:off x="1091446" y="2936558"/>
            <a:ext cx="6124456" cy="198358"/>
          </a:xfrm>
          <a:prstGeom prst="roundRect">
            <a:avLst>
              <a:gd name="adj" fmla="val 42025"/>
            </a:avLst>
          </a:prstGeom>
          <a:solidFill>
            <a:srgbClr val="110080"/>
          </a:solidFill>
          <a:ln w="7620">
            <a:solidFill>
              <a:srgbClr val="2A1999"/>
            </a:solidFill>
            <a:prstDash val="solid"/>
          </a:ln>
        </p:spPr>
      </p:sp>
      <p:sp>
        <p:nvSpPr>
          <p:cNvPr id="5" name="Shape 3"/>
          <p:cNvSpPr/>
          <p:nvPr/>
        </p:nvSpPr>
        <p:spPr>
          <a:xfrm>
            <a:off x="793790" y="2738080"/>
            <a:ext cx="595313" cy="595313"/>
          </a:xfrm>
          <a:prstGeom prst="roundRect">
            <a:avLst>
              <a:gd name="adj" fmla="val 76800"/>
            </a:avLst>
          </a:prstGeom>
          <a:solidFill>
            <a:srgbClr val="110080"/>
          </a:solidFill>
          <a:ln w="7620">
            <a:solidFill>
              <a:srgbClr val="2A1999"/>
            </a:solidFill>
            <a:prstDash val="solid"/>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2618" y="2886908"/>
            <a:ext cx="297656" cy="297656"/>
          </a:xfrm>
          <a:prstGeom prst="rect">
            <a:avLst/>
          </a:prstGeom>
        </p:spPr>
      </p:pic>
      <p:sp>
        <p:nvSpPr>
          <p:cNvPr id="7" name="Text 4"/>
          <p:cNvSpPr/>
          <p:nvPr/>
        </p:nvSpPr>
        <p:spPr>
          <a:xfrm>
            <a:off x="992148" y="3531751"/>
            <a:ext cx="4313158"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Deep Learning (LSTM/Transformer)</a:t>
            </a:r>
            <a:endParaRPr lang="en-US" sz="1950" dirty="0"/>
          </a:p>
        </p:txBody>
      </p:sp>
      <p:sp>
        <p:nvSpPr>
          <p:cNvPr id="8" name="Text 5"/>
          <p:cNvSpPr/>
          <p:nvPr/>
        </p:nvSpPr>
        <p:spPr>
          <a:xfrm>
            <a:off x="992148" y="3960971"/>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Menangkap pola temporal pembelajaran yang lebih kompleks dan dinamis.</a:t>
            </a:r>
            <a:endParaRPr lang="en-US" sz="1550" dirty="0"/>
          </a:p>
        </p:txBody>
      </p:sp>
      <p:sp>
        <p:nvSpPr>
          <p:cNvPr id="9" name="Shape 6"/>
          <p:cNvSpPr/>
          <p:nvPr/>
        </p:nvSpPr>
        <p:spPr>
          <a:xfrm>
            <a:off x="7712035" y="2638901"/>
            <a:ext cx="6124456" cy="198358"/>
          </a:xfrm>
          <a:prstGeom prst="roundRect">
            <a:avLst>
              <a:gd name="adj" fmla="val 42025"/>
            </a:avLst>
          </a:prstGeom>
          <a:solidFill>
            <a:srgbClr val="110080"/>
          </a:solidFill>
          <a:ln w="7620">
            <a:solidFill>
              <a:srgbClr val="2A1999"/>
            </a:solidFill>
            <a:prstDash val="solid"/>
          </a:ln>
        </p:spPr>
      </p:sp>
      <p:sp>
        <p:nvSpPr>
          <p:cNvPr id="10" name="Shape 7"/>
          <p:cNvSpPr/>
          <p:nvPr/>
        </p:nvSpPr>
        <p:spPr>
          <a:xfrm>
            <a:off x="7414379" y="2440424"/>
            <a:ext cx="595313" cy="595313"/>
          </a:xfrm>
          <a:prstGeom prst="roundRect">
            <a:avLst>
              <a:gd name="adj" fmla="val 76800"/>
            </a:avLst>
          </a:prstGeom>
          <a:solidFill>
            <a:srgbClr val="110080"/>
          </a:solidFill>
          <a:ln w="7620">
            <a:solidFill>
              <a:srgbClr val="2A1999"/>
            </a:solidFill>
            <a:prstDash val="solid"/>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63207" y="2589252"/>
            <a:ext cx="297656" cy="297656"/>
          </a:xfrm>
          <a:prstGeom prst="rect">
            <a:avLst/>
          </a:prstGeom>
        </p:spPr>
      </p:pic>
      <p:sp>
        <p:nvSpPr>
          <p:cNvPr id="12" name="Text 8"/>
          <p:cNvSpPr/>
          <p:nvPr/>
        </p:nvSpPr>
        <p:spPr>
          <a:xfrm>
            <a:off x="7612737" y="323409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Explainable AI (XAI)</a:t>
            </a:r>
            <a:endParaRPr lang="en-US" sz="1950" dirty="0"/>
          </a:p>
        </p:txBody>
      </p:sp>
      <p:sp>
        <p:nvSpPr>
          <p:cNvPr id="13" name="Text 9"/>
          <p:cNvSpPr/>
          <p:nvPr/>
        </p:nvSpPr>
        <p:spPr>
          <a:xfrm>
            <a:off x="7612737" y="3663315"/>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Menjelaskan faktor-faktor yang memengaruhi keberhasilan mahasiswa secara transparan.</a:t>
            </a:r>
            <a:endParaRPr lang="en-US" sz="1550" dirty="0"/>
          </a:p>
        </p:txBody>
      </p:sp>
      <p:sp>
        <p:nvSpPr>
          <p:cNvPr id="14" name="Shape 10"/>
          <p:cNvSpPr/>
          <p:nvPr/>
        </p:nvSpPr>
        <p:spPr>
          <a:xfrm>
            <a:off x="1091446" y="5488900"/>
            <a:ext cx="6124456" cy="198358"/>
          </a:xfrm>
          <a:prstGeom prst="roundRect">
            <a:avLst>
              <a:gd name="adj" fmla="val 42025"/>
            </a:avLst>
          </a:prstGeom>
          <a:solidFill>
            <a:srgbClr val="110080"/>
          </a:solidFill>
          <a:ln w="7620">
            <a:solidFill>
              <a:srgbClr val="2A1999"/>
            </a:solidFill>
            <a:prstDash val="solid"/>
          </a:ln>
        </p:spPr>
      </p:sp>
      <p:sp>
        <p:nvSpPr>
          <p:cNvPr id="15" name="Shape 11"/>
          <p:cNvSpPr/>
          <p:nvPr/>
        </p:nvSpPr>
        <p:spPr>
          <a:xfrm>
            <a:off x="793790" y="5290423"/>
            <a:ext cx="595313" cy="595313"/>
          </a:xfrm>
          <a:prstGeom prst="roundRect">
            <a:avLst>
              <a:gd name="adj" fmla="val 76800"/>
            </a:avLst>
          </a:prstGeom>
          <a:solidFill>
            <a:srgbClr val="110080"/>
          </a:solidFill>
          <a:ln w="7620">
            <a:solidFill>
              <a:srgbClr val="2A1999"/>
            </a:solidFill>
            <a:prstDash val="solid"/>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2618" y="5439251"/>
            <a:ext cx="297656" cy="297656"/>
          </a:xfrm>
          <a:prstGeom prst="rect">
            <a:avLst/>
          </a:prstGeom>
        </p:spPr>
      </p:pic>
      <p:sp>
        <p:nvSpPr>
          <p:cNvPr id="17" name="Text 12"/>
          <p:cNvSpPr/>
          <p:nvPr/>
        </p:nvSpPr>
        <p:spPr>
          <a:xfrm>
            <a:off x="992148" y="6084094"/>
            <a:ext cx="3562112"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Real-Time Learning Analytics</a:t>
            </a:r>
            <a:endParaRPr lang="en-US" sz="1950" dirty="0"/>
          </a:p>
        </p:txBody>
      </p:sp>
      <p:sp>
        <p:nvSpPr>
          <p:cNvPr id="18" name="Text 13"/>
          <p:cNvSpPr/>
          <p:nvPr/>
        </p:nvSpPr>
        <p:spPr>
          <a:xfrm>
            <a:off x="992148" y="6513314"/>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Integrasi dengan sistem analitik real-time untuk intervensi adaptif yang tepat waktu.</a:t>
            </a:r>
            <a:endParaRPr lang="en-US" sz="1550" dirty="0"/>
          </a:p>
        </p:txBody>
      </p:sp>
      <p:sp>
        <p:nvSpPr>
          <p:cNvPr id="19" name="Shape 14"/>
          <p:cNvSpPr/>
          <p:nvPr/>
        </p:nvSpPr>
        <p:spPr>
          <a:xfrm>
            <a:off x="7712035" y="5191244"/>
            <a:ext cx="6124456" cy="198358"/>
          </a:xfrm>
          <a:prstGeom prst="roundRect">
            <a:avLst>
              <a:gd name="adj" fmla="val 42025"/>
            </a:avLst>
          </a:prstGeom>
          <a:solidFill>
            <a:srgbClr val="110080"/>
          </a:solidFill>
          <a:ln w="7620">
            <a:solidFill>
              <a:srgbClr val="2A1999"/>
            </a:solidFill>
            <a:prstDash val="solid"/>
          </a:ln>
        </p:spPr>
      </p:sp>
      <p:sp>
        <p:nvSpPr>
          <p:cNvPr id="20" name="Shape 15"/>
          <p:cNvSpPr/>
          <p:nvPr/>
        </p:nvSpPr>
        <p:spPr>
          <a:xfrm>
            <a:off x="7414379" y="4992767"/>
            <a:ext cx="595313" cy="595313"/>
          </a:xfrm>
          <a:prstGeom prst="roundRect">
            <a:avLst>
              <a:gd name="adj" fmla="val 76800"/>
            </a:avLst>
          </a:prstGeom>
          <a:solidFill>
            <a:srgbClr val="110080"/>
          </a:solidFill>
          <a:ln w="7620">
            <a:solidFill>
              <a:srgbClr val="2A1999"/>
            </a:solidFill>
            <a:prstDash val="solid"/>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63207" y="5141595"/>
            <a:ext cx="297656" cy="297656"/>
          </a:xfrm>
          <a:prstGeom prst="rect">
            <a:avLst/>
          </a:prstGeom>
        </p:spPr>
      </p:pic>
      <p:sp>
        <p:nvSpPr>
          <p:cNvPr id="22" name="Text 16"/>
          <p:cNvSpPr/>
          <p:nvPr/>
        </p:nvSpPr>
        <p:spPr>
          <a:xfrm>
            <a:off x="7612737" y="5786438"/>
            <a:ext cx="2763083"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Dataset Lintas Institusi</a:t>
            </a:r>
            <a:endParaRPr lang="en-US" sz="1950" dirty="0"/>
          </a:p>
        </p:txBody>
      </p:sp>
      <p:sp>
        <p:nvSpPr>
          <p:cNvPr id="23" name="Text 17"/>
          <p:cNvSpPr/>
          <p:nvPr/>
        </p:nvSpPr>
        <p:spPr>
          <a:xfrm>
            <a:off x="7612737" y="6215658"/>
            <a:ext cx="6025515" cy="63507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Pengujian model pada dataset dari berbagai institusi untuk meningkatkan generalisasi dan validitas eksternal.</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13103"/>
            <a:ext cx="7556421" cy="1116330"/>
          </a:xfrm>
          <a:prstGeom prst="rect">
            <a:avLst/>
          </a:prstGeom>
          <a:noFill/>
          <a:ln/>
        </p:spPr>
        <p:txBody>
          <a:bodyPr wrap="square" lIns="0" tIns="0" rIns="0" bIns="0" rtlCol="0" anchor="t"/>
          <a:lstStyle/>
          <a:p>
            <a:pPr marL="0" indent="0" algn="l">
              <a:lnSpc>
                <a:spcPts val="4350"/>
              </a:lnSpc>
              <a:buNone/>
            </a:pPr>
            <a:r>
              <a:rPr lang="en-US" sz="3500" b="1" dirty="0">
                <a:solidFill>
                  <a:srgbClr val="FFFFFF"/>
                </a:solidFill>
                <a:latin typeface="Inter Bold" pitchFamily="34" charset="0"/>
                <a:ea typeface="Inter Bold" pitchFamily="34" charset="-122"/>
                <a:cs typeface="Inter Bold" pitchFamily="34" charset="-120"/>
              </a:rPr>
              <a:t>Review Artikel Kedua: Big Data Analytics in Agri-Food</a:t>
            </a:r>
            <a:endParaRPr lang="en-US" sz="3500" dirty="0"/>
          </a:p>
        </p:txBody>
      </p:sp>
      <p:sp>
        <p:nvSpPr>
          <p:cNvPr id="4" name="Text 1"/>
          <p:cNvSpPr/>
          <p:nvPr/>
        </p:nvSpPr>
        <p:spPr>
          <a:xfrm>
            <a:off x="793790" y="2193727"/>
            <a:ext cx="7556421" cy="557927"/>
          </a:xfrm>
          <a:prstGeom prst="rect">
            <a:avLst/>
          </a:prstGeom>
          <a:noFill/>
          <a:ln/>
        </p:spPr>
        <p:txBody>
          <a:bodyPr wrap="square" lIns="0" tIns="0" rIns="0" bIns="0" rtlCol="0" anchor="t"/>
          <a:lstStyle/>
          <a:p>
            <a:pPr marL="0" indent="0" algn="l">
              <a:lnSpc>
                <a:spcPts val="2150"/>
              </a:lnSpc>
              <a:buNone/>
            </a:pPr>
            <a:r>
              <a:rPr lang="en-US" sz="1750" b="1" dirty="0">
                <a:solidFill>
                  <a:srgbClr val="FFFFFF"/>
                </a:solidFill>
                <a:latin typeface="Inter Bold" pitchFamily="34" charset="0"/>
                <a:ea typeface="Inter Bold" pitchFamily="34" charset="-122"/>
                <a:cs typeface="Inter Bold" pitchFamily="34" charset="-120"/>
              </a:rPr>
              <a:t>A Review on the Impact of Big Data Analytics in Transforming Agricultural Practices, Food Processing, and Preservation Strategies</a:t>
            </a:r>
            <a:endParaRPr lang="en-US" sz="1750" dirty="0"/>
          </a:p>
        </p:txBody>
      </p:sp>
      <p:sp>
        <p:nvSpPr>
          <p:cNvPr id="5" name="Shape 2"/>
          <p:cNvSpPr/>
          <p:nvPr/>
        </p:nvSpPr>
        <p:spPr>
          <a:xfrm>
            <a:off x="665202" y="2992755"/>
            <a:ext cx="3817501" cy="3060621"/>
          </a:xfrm>
          <a:prstGeom prst="roundRect">
            <a:avLst>
              <a:gd name="adj" fmla="val 4202"/>
            </a:avLst>
          </a:prstGeom>
          <a:solidFill>
            <a:srgbClr val="2B0AFF"/>
          </a:solidFill>
          <a:ln/>
        </p:spPr>
      </p:sp>
      <p:sp>
        <p:nvSpPr>
          <p:cNvPr id="6" name="Text 3"/>
          <p:cNvSpPr/>
          <p:nvPr/>
        </p:nvSpPr>
        <p:spPr>
          <a:xfrm>
            <a:off x="843796" y="3153489"/>
            <a:ext cx="2838807" cy="278963"/>
          </a:xfrm>
          <a:prstGeom prst="rect">
            <a:avLst/>
          </a:prstGeom>
          <a:noFill/>
          <a:ln/>
        </p:spPr>
        <p:txBody>
          <a:bodyPr wrap="none" lIns="0" tIns="0" rIns="0" bIns="0" rtlCol="0" anchor="t"/>
          <a:lstStyle/>
          <a:p>
            <a:pPr marL="0" indent="0" algn="l">
              <a:lnSpc>
                <a:spcPts val="2150"/>
              </a:lnSpc>
              <a:buNone/>
            </a:pPr>
            <a:r>
              <a:rPr lang="en-US" sz="1750" b="1" dirty="0">
                <a:solidFill>
                  <a:srgbClr val="FFFFFF"/>
                </a:solidFill>
                <a:latin typeface="Inter Bold" pitchFamily="34" charset="0"/>
                <a:ea typeface="Inter Bold" pitchFamily="34" charset="-122"/>
                <a:cs typeface="Inter Bold" pitchFamily="34" charset="-120"/>
              </a:rPr>
              <a:t>Kesenjangan Utama (Gap)</a:t>
            </a:r>
            <a:endParaRPr lang="en-US" sz="1750" dirty="0"/>
          </a:p>
        </p:txBody>
      </p:sp>
      <p:sp>
        <p:nvSpPr>
          <p:cNvPr id="7" name="Text 4"/>
          <p:cNvSpPr/>
          <p:nvPr/>
        </p:nvSpPr>
        <p:spPr>
          <a:xfrm>
            <a:off x="843796" y="3593187"/>
            <a:ext cx="3460313" cy="1628775"/>
          </a:xfrm>
          <a:prstGeom prst="rect">
            <a:avLst/>
          </a:prstGeom>
          <a:noFill/>
          <a:ln/>
        </p:spPr>
        <p:txBody>
          <a:bodyPr wrap="square" lIns="0" tIns="0" rIns="0" bIns="0" rtlCol="0" anchor="t"/>
          <a:lstStyle/>
          <a:p>
            <a:pPr marL="0" indent="0" algn="l">
              <a:lnSpc>
                <a:spcPts val="2100"/>
              </a:lnSpc>
              <a:buNone/>
            </a:pPr>
            <a:r>
              <a:rPr lang="en-US" sz="1400" dirty="0">
                <a:solidFill>
                  <a:srgbClr val="E5E0DF"/>
                </a:solidFill>
                <a:latin typeface="Inter" pitchFamily="34" charset="0"/>
                <a:ea typeface="Inter" pitchFamily="34" charset="-122"/>
                <a:cs typeface="Inter" pitchFamily="34" charset="-120"/>
              </a:rPr>
              <a:t>Big Data sudah banyak digunakan di sektor distribusi &amp; retail, namun </a:t>
            </a:r>
            <a:r>
              <a:rPr lang="en-US" sz="1400" b="1" dirty="0">
                <a:solidFill>
                  <a:srgbClr val="E5E0DF"/>
                </a:solidFill>
                <a:latin typeface="Inter" pitchFamily="34" charset="0"/>
                <a:ea typeface="Inter" pitchFamily="34" charset="-122"/>
                <a:cs typeface="Inter" pitchFamily="34" charset="-120"/>
              </a:rPr>
              <a:t>masih minim di produksi pertanian</a:t>
            </a:r>
            <a:r>
              <a:rPr lang="en-US" sz="1400" dirty="0">
                <a:solidFill>
                  <a:srgbClr val="E5E0DF"/>
                </a:solidFill>
                <a:latin typeface="Inter" pitchFamily="34" charset="0"/>
                <a:ea typeface="Inter" pitchFamily="34" charset="-122"/>
                <a:cs typeface="Inter" pitchFamily="34" charset="-120"/>
              </a:rPr>
              <a:t>, belum optimal dalam food processing &amp; preservation, dan kurang dimanfaatkan untuk pengambilan keputusan strategis.</a:t>
            </a:r>
            <a:endParaRPr lang="en-US" sz="1400" dirty="0"/>
          </a:p>
        </p:txBody>
      </p:sp>
      <p:sp>
        <p:nvSpPr>
          <p:cNvPr id="8" name="Text 5"/>
          <p:cNvSpPr/>
          <p:nvPr/>
        </p:nvSpPr>
        <p:spPr>
          <a:xfrm>
            <a:off x="4797504" y="3153489"/>
            <a:ext cx="3560326" cy="557927"/>
          </a:xfrm>
          <a:prstGeom prst="rect">
            <a:avLst/>
          </a:prstGeom>
          <a:noFill/>
          <a:ln/>
        </p:spPr>
        <p:txBody>
          <a:bodyPr wrap="square" lIns="0" tIns="0" rIns="0" bIns="0" rtlCol="0" anchor="t"/>
          <a:lstStyle/>
          <a:p>
            <a:pPr marL="0" indent="0" algn="l">
              <a:lnSpc>
                <a:spcPts val="2150"/>
              </a:lnSpc>
              <a:buNone/>
            </a:pPr>
            <a:r>
              <a:rPr lang="en-US" sz="1750" b="1" dirty="0">
                <a:solidFill>
                  <a:srgbClr val="FFFFFF"/>
                </a:solidFill>
                <a:latin typeface="Inter Bold" pitchFamily="34" charset="0"/>
                <a:ea typeface="Inter Bold" pitchFamily="34" charset="-122"/>
                <a:cs typeface="Inter Bold" pitchFamily="34" charset="-120"/>
              </a:rPr>
              <a:t>Tantangan Sistem Pangan Global</a:t>
            </a:r>
            <a:endParaRPr lang="en-US" sz="1750" dirty="0"/>
          </a:p>
        </p:txBody>
      </p:sp>
      <p:sp>
        <p:nvSpPr>
          <p:cNvPr id="9" name="Text 6"/>
          <p:cNvSpPr/>
          <p:nvPr/>
        </p:nvSpPr>
        <p:spPr>
          <a:xfrm>
            <a:off x="4797504" y="3672958"/>
            <a:ext cx="3560326" cy="2125028"/>
          </a:xfrm>
          <a:prstGeom prst="rect">
            <a:avLst/>
          </a:prstGeom>
          <a:noFill/>
          <a:ln/>
        </p:spPr>
        <p:txBody>
          <a:bodyPr wrap="square" lIns="0" tIns="0" rIns="0" bIns="0" rtlCol="0" anchor="t"/>
          <a:lstStyle/>
          <a:p>
            <a:pPr marL="342900" indent="-342900" algn="l">
              <a:lnSpc>
                <a:spcPts val="2100"/>
              </a:lnSpc>
              <a:buSzPct val="100000"/>
              <a:buChar char="•"/>
            </a:pPr>
            <a:r>
              <a:rPr lang="en-US" sz="1400" dirty="0">
                <a:solidFill>
                  <a:srgbClr val="E5E0DF"/>
                </a:solidFill>
                <a:latin typeface="Inter" pitchFamily="34" charset="0"/>
                <a:ea typeface="Inter" pitchFamily="34" charset="-122"/>
                <a:cs typeface="Inter" pitchFamily="34" charset="-120"/>
              </a:rPr>
              <a:t>Food security dan ketahanan pangan</a:t>
            </a:r>
            <a:endParaRPr lang="en-US" sz="1400" dirty="0"/>
          </a:p>
          <a:p>
            <a:pPr marL="342900" indent="-342900" algn="l">
              <a:lnSpc>
                <a:spcPts val="2100"/>
              </a:lnSpc>
              <a:buSzPct val="100000"/>
              <a:buChar char="•"/>
            </a:pPr>
            <a:r>
              <a:rPr lang="en-US" sz="1400" dirty="0">
                <a:solidFill>
                  <a:srgbClr val="E5E0DF"/>
                </a:solidFill>
                <a:latin typeface="Inter" pitchFamily="34" charset="0"/>
                <a:ea typeface="Inter" pitchFamily="34" charset="-122"/>
                <a:cs typeface="Inter" pitchFamily="34" charset="-120"/>
              </a:rPr>
              <a:t>Dampak perubahan iklim (climate change)</a:t>
            </a:r>
            <a:endParaRPr lang="en-US" sz="1400" dirty="0"/>
          </a:p>
          <a:p>
            <a:pPr marL="342900" indent="-342900" algn="l">
              <a:lnSpc>
                <a:spcPts val="2100"/>
              </a:lnSpc>
              <a:buSzPct val="100000"/>
              <a:buChar char="•"/>
            </a:pPr>
            <a:r>
              <a:rPr lang="en-US" sz="1400" dirty="0">
                <a:solidFill>
                  <a:srgbClr val="E5E0DF"/>
                </a:solidFill>
                <a:latin typeface="Inter" pitchFamily="34" charset="0"/>
                <a:ea typeface="Inter" pitchFamily="34" charset="-122"/>
                <a:cs typeface="Inter" pitchFamily="34" charset="-120"/>
              </a:rPr>
              <a:t>Inefisiensi rantai pasok (supply chain)</a:t>
            </a:r>
            <a:endParaRPr lang="en-US" sz="1400" dirty="0"/>
          </a:p>
          <a:p>
            <a:pPr marL="342900" indent="-342900" algn="l">
              <a:lnSpc>
                <a:spcPts val="2100"/>
              </a:lnSpc>
              <a:buSzPct val="100000"/>
              <a:buChar char="•"/>
            </a:pPr>
            <a:r>
              <a:rPr lang="en-US" sz="1400" dirty="0">
                <a:solidFill>
                  <a:srgbClr val="E5E0DF"/>
                </a:solidFill>
                <a:latin typeface="Inter" pitchFamily="34" charset="0"/>
                <a:ea typeface="Inter" pitchFamily="34" charset="-122"/>
                <a:cs typeface="Inter" pitchFamily="34" charset="-120"/>
              </a:rPr>
              <a:t>Tingginya food waste</a:t>
            </a:r>
            <a:endParaRPr lang="en-US" sz="1400" dirty="0"/>
          </a:p>
          <a:p>
            <a:pPr marL="342900" indent="-342900" algn="l">
              <a:lnSpc>
                <a:spcPts val="2100"/>
              </a:lnSpc>
              <a:buSzPct val="100000"/>
              <a:buChar char="•"/>
            </a:pPr>
            <a:r>
              <a:rPr lang="en-US" sz="1400" dirty="0">
                <a:solidFill>
                  <a:srgbClr val="E5E0DF"/>
                </a:solidFill>
                <a:latin typeface="Inter" pitchFamily="34" charset="0"/>
                <a:ea typeface="Inter" pitchFamily="34" charset="-122"/>
                <a:cs typeface="Inter" pitchFamily="34" charset="-120"/>
              </a:rPr>
              <a:t>Data melimpah (sensor, IoT, satelit) namun belum terintegrasi</a:t>
            </a:r>
            <a:endParaRPr lang="en-US" sz="1400" dirty="0"/>
          </a:p>
        </p:txBody>
      </p:sp>
      <p:sp>
        <p:nvSpPr>
          <p:cNvPr id="10" name="Shape 7"/>
          <p:cNvSpPr/>
          <p:nvPr/>
        </p:nvSpPr>
        <p:spPr>
          <a:xfrm>
            <a:off x="793790" y="6234232"/>
            <a:ext cx="7556421" cy="982266"/>
          </a:xfrm>
          <a:prstGeom prst="roundRect">
            <a:avLst>
              <a:gd name="adj" fmla="val 7638"/>
            </a:avLst>
          </a:prstGeom>
          <a:solidFill>
            <a:srgbClr val="022349"/>
          </a:solidFill>
          <a:ln/>
        </p:spPr>
      </p:sp>
      <p:pic>
        <p:nvPicPr>
          <p:cNvPr id="11" name="Image 1" descr="preencoded.png"/>
          <p:cNvPicPr>
            <a:picLocks noChangeAspect="1"/>
          </p:cNvPicPr>
          <p:nvPr/>
        </p:nvPicPr>
        <p:blipFill>
          <a:blip r:embed="rId4"/>
          <a:stretch>
            <a:fillRect/>
          </a:stretch>
        </p:blipFill>
        <p:spPr>
          <a:xfrm>
            <a:off x="972383" y="6499265"/>
            <a:ext cx="223242" cy="178594"/>
          </a:xfrm>
          <a:prstGeom prst="rect">
            <a:avLst/>
          </a:prstGeom>
        </p:spPr>
      </p:pic>
      <p:sp>
        <p:nvSpPr>
          <p:cNvPr id="12" name="Text 8"/>
          <p:cNvSpPr/>
          <p:nvPr/>
        </p:nvSpPr>
        <p:spPr>
          <a:xfrm>
            <a:off x="1374219" y="6439614"/>
            <a:ext cx="6797397" cy="542925"/>
          </a:xfrm>
          <a:prstGeom prst="rect">
            <a:avLst/>
          </a:prstGeom>
          <a:noFill/>
          <a:ln/>
        </p:spPr>
        <p:txBody>
          <a:bodyPr wrap="square" lIns="0" tIns="0" rIns="0" bIns="0" rtlCol="0" anchor="t"/>
          <a:lstStyle/>
          <a:p>
            <a:pPr marL="0" indent="0" algn="l">
              <a:lnSpc>
                <a:spcPts val="2100"/>
              </a:lnSpc>
              <a:buNone/>
            </a:pPr>
            <a:r>
              <a:rPr lang="en-US" sz="1400" dirty="0">
                <a:solidFill>
                  <a:srgbClr val="FFFFFF"/>
                </a:solidFill>
                <a:latin typeface="Inter" pitchFamily="34" charset="0"/>
                <a:ea typeface="Inter" pitchFamily="34" charset="-122"/>
                <a:cs typeface="Inter" pitchFamily="34" charset="-120"/>
              </a:rPr>
              <a:t>Ada </a:t>
            </a:r>
            <a:r>
              <a:rPr lang="en-US" sz="1400" b="1" dirty="0">
                <a:solidFill>
                  <a:srgbClr val="FFFFFF"/>
                </a:solidFill>
                <a:latin typeface="Inter" pitchFamily="34" charset="0"/>
                <a:ea typeface="Inter" pitchFamily="34" charset="-122"/>
                <a:cs typeface="Inter" pitchFamily="34" charset="-120"/>
              </a:rPr>
              <a:t>gap besar</a:t>
            </a:r>
            <a:r>
              <a:rPr lang="en-US" sz="1400" dirty="0">
                <a:solidFill>
                  <a:srgbClr val="FFFFFF"/>
                </a:solidFill>
                <a:latin typeface="Inter" pitchFamily="34" charset="0"/>
                <a:ea typeface="Inter" pitchFamily="34" charset="-122"/>
                <a:cs typeface="Inter" pitchFamily="34" charset="-120"/>
              </a:rPr>
              <a:t> antara </a:t>
            </a:r>
            <a:r>
              <a:rPr lang="en-US" sz="1400" i="1" dirty="0">
                <a:solidFill>
                  <a:srgbClr val="FFFFFF"/>
                </a:solidFill>
                <a:latin typeface="Inter" pitchFamily="34" charset="0"/>
                <a:ea typeface="Inter" pitchFamily="34" charset="-122"/>
                <a:cs typeface="Inter" pitchFamily="34" charset="-120"/>
              </a:rPr>
              <a:t>ketersediaan data</a:t>
            </a:r>
            <a:r>
              <a:rPr lang="en-US" sz="1400" dirty="0">
                <a:solidFill>
                  <a:srgbClr val="FFFFFF"/>
                </a:solidFill>
                <a:latin typeface="Inter" pitchFamily="34" charset="0"/>
                <a:ea typeface="Inter" pitchFamily="34" charset="-122"/>
                <a:cs typeface="Inter" pitchFamily="34" charset="-120"/>
              </a:rPr>
              <a:t> dan </a:t>
            </a:r>
            <a:r>
              <a:rPr lang="en-US" sz="1400" i="1" dirty="0">
                <a:solidFill>
                  <a:srgbClr val="FFFFFF"/>
                </a:solidFill>
                <a:latin typeface="Inter" pitchFamily="34" charset="0"/>
                <a:ea typeface="Inter" pitchFamily="34" charset="-122"/>
                <a:cs typeface="Inter" pitchFamily="34" charset="-120"/>
              </a:rPr>
              <a:t>pemanfaatan data untuk keputusan cerdas</a:t>
            </a:r>
            <a:r>
              <a:rPr lang="en-US" sz="1400" dirty="0">
                <a:solidFill>
                  <a:srgbClr val="FFFFFF"/>
                </a:solidFill>
                <a:latin typeface="Inter" pitchFamily="34" charset="0"/>
                <a:ea typeface="Inter" pitchFamily="34" charset="-122"/>
                <a:cs typeface="Inter" pitchFamily="34" charset="-120"/>
              </a:rPr>
              <a:t> di sektor pangan global.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8761" y="675534"/>
            <a:ext cx="8814435"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Tujuan Systematic Literature Review</a:t>
            </a:r>
            <a:endParaRPr lang="en-US" sz="3900" dirty="0"/>
          </a:p>
        </p:txBody>
      </p:sp>
      <p:pic>
        <p:nvPicPr>
          <p:cNvPr id="3" name="Image 0" descr="preencoded.png"/>
          <p:cNvPicPr>
            <a:picLocks noChangeAspect="1"/>
          </p:cNvPicPr>
          <p:nvPr/>
        </p:nvPicPr>
        <p:blipFill>
          <a:blip r:embed="rId3"/>
          <a:stretch>
            <a:fillRect/>
          </a:stretch>
        </p:blipFill>
        <p:spPr>
          <a:xfrm>
            <a:off x="793670" y="2322743"/>
            <a:ext cx="3067056" cy="1895403"/>
          </a:xfrm>
          <a:prstGeom prst="rect">
            <a:avLst/>
          </a:prstGeom>
        </p:spPr>
      </p:pic>
      <p:sp>
        <p:nvSpPr>
          <p:cNvPr id="4" name="Text 1"/>
          <p:cNvSpPr/>
          <p:nvPr/>
        </p:nvSpPr>
        <p:spPr>
          <a:xfrm>
            <a:off x="793790" y="446615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Pertanian Modern</a:t>
            </a:r>
            <a:endParaRPr lang="en-US" sz="1950" dirty="0"/>
          </a:p>
        </p:txBody>
      </p:sp>
      <p:sp>
        <p:nvSpPr>
          <p:cNvPr id="5" name="Text 2"/>
          <p:cNvSpPr/>
          <p:nvPr/>
        </p:nvSpPr>
        <p:spPr>
          <a:xfrm>
            <a:off x="793790" y="4895374"/>
            <a:ext cx="4182189" cy="127015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Mengkaji penggunaan Big Data Analytics dalam </a:t>
            </a:r>
            <a:r>
              <a:rPr lang="en-US" sz="1550" b="1" dirty="0">
                <a:solidFill>
                  <a:srgbClr val="E5E0DF"/>
                </a:solidFill>
                <a:latin typeface="Inter" pitchFamily="34" charset="0"/>
                <a:ea typeface="Inter" pitchFamily="34" charset="-122"/>
                <a:cs typeface="Inter" pitchFamily="34" charset="-120"/>
              </a:rPr>
              <a:t>precision agriculture</a:t>
            </a:r>
            <a:r>
              <a:rPr lang="en-US" sz="1550" dirty="0">
                <a:solidFill>
                  <a:srgbClr val="E5E0DF"/>
                </a:solidFill>
                <a:latin typeface="Inter" pitchFamily="34" charset="0"/>
                <a:ea typeface="Inter" pitchFamily="34" charset="-122"/>
                <a:cs typeface="Inter" pitchFamily="34" charset="-120"/>
              </a:rPr>
              <a:t> </a:t>
            </a:r>
            <a:r>
              <a:rPr lang="en-US" sz="1550" dirty="0" err="1">
                <a:solidFill>
                  <a:srgbClr val="E5E0DF"/>
                </a:solidFill>
                <a:latin typeface="Inter" pitchFamily="34" charset="0"/>
                <a:ea typeface="Inter" pitchFamily="34" charset="-122"/>
                <a:cs typeface="Inter" pitchFamily="34" charset="-120"/>
              </a:rPr>
              <a:t>bagaimana</a:t>
            </a:r>
            <a:r>
              <a:rPr lang="en-US" sz="1550" dirty="0">
                <a:solidFill>
                  <a:srgbClr val="E5E0DF"/>
                </a:solidFill>
                <a:latin typeface="Inter" pitchFamily="34" charset="0"/>
                <a:ea typeface="Inter" pitchFamily="34" charset="-122"/>
                <a:cs typeface="Inter" pitchFamily="34" charset="-120"/>
              </a:rPr>
              <a:t> data sensor dan satelit meningkatkan efisiensi produksi pangan.</a:t>
            </a:r>
            <a:endParaRPr lang="en-US" sz="1550" dirty="0"/>
          </a:p>
        </p:txBody>
      </p:sp>
      <p:pic>
        <p:nvPicPr>
          <p:cNvPr id="6" name="Image 1" descr="preencoded.png"/>
          <p:cNvPicPr>
            <a:picLocks noChangeAspect="1"/>
          </p:cNvPicPr>
          <p:nvPr/>
        </p:nvPicPr>
        <p:blipFill>
          <a:blip r:embed="rId4"/>
          <a:stretch>
            <a:fillRect/>
          </a:stretch>
        </p:blipFill>
        <p:spPr>
          <a:xfrm>
            <a:off x="5223986" y="2322742"/>
            <a:ext cx="3067056" cy="1895403"/>
          </a:xfrm>
          <a:prstGeom prst="rect">
            <a:avLst/>
          </a:prstGeom>
        </p:spPr>
      </p:pic>
      <p:sp>
        <p:nvSpPr>
          <p:cNvPr id="7" name="Text 3"/>
          <p:cNvSpPr/>
          <p:nvPr/>
        </p:nvSpPr>
        <p:spPr>
          <a:xfrm>
            <a:off x="5223986" y="4466153"/>
            <a:ext cx="4124206"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Food Processing &amp; Quality Control</a:t>
            </a:r>
            <a:endParaRPr lang="en-US" sz="1950" dirty="0"/>
          </a:p>
        </p:txBody>
      </p:sp>
      <p:sp>
        <p:nvSpPr>
          <p:cNvPr id="8" name="Text 4"/>
          <p:cNvSpPr/>
          <p:nvPr/>
        </p:nvSpPr>
        <p:spPr>
          <a:xfrm>
            <a:off x="5223986" y="4895374"/>
            <a:ext cx="4182308" cy="127015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Menganalisis peran BDA dalam </a:t>
            </a:r>
            <a:r>
              <a:rPr lang="en-US" sz="1550" b="1" dirty="0">
                <a:solidFill>
                  <a:srgbClr val="E5E0DF"/>
                </a:solidFill>
                <a:latin typeface="Inter" pitchFamily="34" charset="0"/>
                <a:ea typeface="Inter" pitchFamily="34" charset="-122"/>
                <a:cs typeface="Inter" pitchFamily="34" charset="-120"/>
              </a:rPr>
              <a:t>pengolahan pangan</a:t>
            </a:r>
            <a:r>
              <a:rPr lang="en-US" sz="1550" dirty="0">
                <a:solidFill>
                  <a:srgbClr val="E5E0DF"/>
                </a:solidFill>
                <a:latin typeface="Inter" pitchFamily="34" charset="0"/>
                <a:ea typeface="Inter" pitchFamily="34" charset="-122"/>
                <a:cs typeface="Inter" pitchFamily="34" charset="-120"/>
              </a:rPr>
              <a:t> dan sistem quality control otomatis untuk memastikan standar keamanan pangan.</a:t>
            </a:r>
            <a:endParaRPr lang="en-US" sz="1550" dirty="0"/>
          </a:p>
        </p:txBody>
      </p:sp>
      <p:pic>
        <p:nvPicPr>
          <p:cNvPr id="9" name="Image 2" descr="preencoded.png"/>
          <p:cNvPicPr>
            <a:picLocks noChangeAspect="1"/>
          </p:cNvPicPr>
          <p:nvPr/>
        </p:nvPicPr>
        <p:blipFill>
          <a:blip r:embed="rId5"/>
          <a:stretch>
            <a:fillRect/>
          </a:stretch>
        </p:blipFill>
        <p:spPr>
          <a:xfrm>
            <a:off x="9654302" y="2322742"/>
            <a:ext cx="3067056" cy="1895403"/>
          </a:xfrm>
          <a:prstGeom prst="rect">
            <a:avLst/>
          </a:prstGeom>
        </p:spPr>
      </p:pic>
      <p:sp>
        <p:nvSpPr>
          <p:cNvPr id="10" name="Text 5"/>
          <p:cNvSpPr/>
          <p:nvPr/>
        </p:nvSpPr>
        <p:spPr>
          <a:xfrm>
            <a:off x="9654302" y="4466153"/>
            <a:ext cx="3256478"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Tantangan &amp; Research Gap</a:t>
            </a:r>
            <a:endParaRPr lang="en-US" sz="1950" dirty="0"/>
          </a:p>
        </p:txBody>
      </p:sp>
      <p:sp>
        <p:nvSpPr>
          <p:cNvPr id="11" name="Text 6"/>
          <p:cNvSpPr/>
          <p:nvPr/>
        </p:nvSpPr>
        <p:spPr>
          <a:xfrm>
            <a:off x="9654302" y="4895374"/>
            <a:ext cx="4182308" cy="127015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Mengidentifikasi </a:t>
            </a:r>
            <a:r>
              <a:rPr lang="en-US" sz="1550" b="1" dirty="0">
                <a:solidFill>
                  <a:srgbClr val="E5E0DF"/>
                </a:solidFill>
                <a:latin typeface="Inter" pitchFamily="34" charset="0"/>
                <a:ea typeface="Inter" pitchFamily="34" charset="-122"/>
                <a:cs typeface="Inter" pitchFamily="34" charset="-120"/>
              </a:rPr>
              <a:t>hambatan adopsi teknologi</a:t>
            </a:r>
            <a:r>
              <a:rPr lang="en-US" sz="1550" dirty="0">
                <a:solidFill>
                  <a:srgbClr val="E5E0DF"/>
                </a:solidFill>
                <a:latin typeface="Inter" pitchFamily="34" charset="0"/>
                <a:ea typeface="Inter" pitchFamily="34" charset="-122"/>
                <a:cs typeface="Inter" pitchFamily="34" charset="-120"/>
              </a:rPr>
              <a:t> dan menentukan arah riset masa depan yang paling mendesak untuk dieksplorasi.</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174790"/>
            <a:ext cx="9056013" cy="403146"/>
          </a:xfrm>
          <a:prstGeom prst="rect">
            <a:avLst/>
          </a:prstGeom>
          <a:noFill/>
          <a:ln/>
        </p:spPr>
        <p:txBody>
          <a:bodyPr wrap="none" lIns="0" tIns="0" rIns="0" bIns="0" rtlCol="0" anchor="t"/>
          <a:lstStyle/>
          <a:p>
            <a:pPr marL="0" indent="0" algn="l">
              <a:lnSpc>
                <a:spcPts val="3150"/>
              </a:lnSpc>
              <a:buNone/>
            </a:pPr>
            <a:r>
              <a:rPr lang="en-US" sz="2500" b="1" dirty="0">
                <a:solidFill>
                  <a:srgbClr val="FFFFFF"/>
                </a:solidFill>
                <a:latin typeface="Inter Bold" pitchFamily="34" charset="0"/>
                <a:ea typeface="Inter Bold" pitchFamily="34" charset="-122"/>
                <a:cs typeface="Inter Bold" pitchFamily="34" charset="-120"/>
              </a:rPr>
              <a:t>Metodologi: Systematic Literature Review (PRISMA 2020)</a:t>
            </a:r>
            <a:endParaRPr lang="en-US" sz="2500" dirty="0"/>
          </a:p>
        </p:txBody>
      </p:sp>
      <p:pic>
        <p:nvPicPr>
          <p:cNvPr id="3" name="Image 0" descr="preencoded.png"/>
          <p:cNvPicPr>
            <a:picLocks noChangeAspect="1"/>
          </p:cNvPicPr>
          <p:nvPr/>
        </p:nvPicPr>
        <p:blipFill>
          <a:blip r:embed="rId3"/>
          <a:stretch>
            <a:fillRect/>
          </a:stretch>
        </p:blipFill>
        <p:spPr>
          <a:xfrm>
            <a:off x="1395921" y="1745575"/>
            <a:ext cx="11938000" cy="3661886"/>
          </a:xfrm>
          <a:prstGeom prst="rect">
            <a:avLst/>
          </a:prstGeom>
        </p:spPr>
      </p:pic>
      <p:sp>
        <p:nvSpPr>
          <p:cNvPr id="4" name="Text 1"/>
          <p:cNvSpPr/>
          <p:nvPr/>
        </p:nvSpPr>
        <p:spPr>
          <a:xfrm>
            <a:off x="4692404" y="4249291"/>
            <a:ext cx="1258784" cy="458527"/>
          </a:xfrm>
          <a:prstGeom prst="rect">
            <a:avLst/>
          </a:prstGeom>
          <a:noFill/>
          <a:ln/>
        </p:spPr>
        <p:txBody>
          <a:bodyPr wrap="square" lIns="0" tIns="0" rIns="0" bIns="0" rtlCol="0" anchor="t"/>
          <a:lstStyle/>
          <a:p>
            <a:pPr marL="0" indent="0" algn="ctr">
              <a:lnSpc>
                <a:spcPts val="1800"/>
              </a:lnSpc>
              <a:buNone/>
            </a:pPr>
            <a:r>
              <a:rPr lang="en-US" sz="1400" b="1" dirty="0">
                <a:solidFill>
                  <a:srgbClr val="E5E0DF"/>
                </a:solidFill>
                <a:latin typeface="Inter Bold" pitchFamily="34" charset="0"/>
                <a:ea typeface="Inter Bold" pitchFamily="34" charset="-122"/>
                <a:cs typeface="Inter Bold" pitchFamily="34" charset="-120"/>
              </a:rPr>
              <a:t>Penyaringan Awal</a:t>
            </a:r>
            <a:endParaRPr lang="en-US" sz="1400" dirty="0"/>
          </a:p>
        </p:txBody>
      </p:sp>
      <p:sp>
        <p:nvSpPr>
          <p:cNvPr id="5" name="Text 2"/>
          <p:cNvSpPr/>
          <p:nvPr/>
        </p:nvSpPr>
        <p:spPr>
          <a:xfrm>
            <a:off x="4692404" y="4773031"/>
            <a:ext cx="1258784" cy="302628"/>
          </a:xfrm>
          <a:prstGeom prst="rect">
            <a:avLst/>
          </a:prstGeom>
          <a:noFill/>
          <a:ln/>
        </p:spPr>
        <p:txBody>
          <a:bodyPr wrap="square" lIns="0" tIns="0" rIns="0" bIns="0" rtlCol="0" anchor="t"/>
          <a:lstStyle/>
          <a:p>
            <a:pPr marL="0" indent="0" algn="ctr">
              <a:lnSpc>
                <a:spcPts val="1150"/>
              </a:lnSpc>
              <a:buNone/>
            </a:pPr>
            <a:r>
              <a:rPr lang="en-US" sz="1150" dirty="0">
                <a:solidFill>
                  <a:srgbClr val="E5E0DF"/>
                </a:solidFill>
                <a:latin typeface="Inter" pitchFamily="34" charset="0"/>
                <a:ea typeface="Inter" pitchFamily="34" charset="-122"/>
                <a:cs typeface="Inter" pitchFamily="34" charset="-120"/>
              </a:rPr>
              <a:t>Filter tahun 2015–2025</a:t>
            </a:r>
            <a:endParaRPr lang="en-US" sz="1150" dirty="0"/>
          </a:p>
        </p:txBody>
      </p:sp>
      <p:sp>
        <p:nvSpPr>
          <p:cNvPr id="6" name="Text 3"/>
          <p:cNvSpPr/>
          <p:nvPr/>
        </p:nvSpPr>
        <p:spPr>
          <a:xfrm>
            <a:off x="8813693" y="4478555"/>
            <a:ext cx="1258784" cy="229264"/>
          </a:xfrm>
          <a:prstGeom prst="rect">
            <a:avLst/>
          </a:prstGeom>
          <a:noFill/>
          <a:ln/>
        </p:spPr>
        <p:txBody>
          <a:bodyPr wrap="none" lIns="0" tIns="0" rIns="0" bIns="0" rtlCol="0" anchor="t"/>
          <a:lstStyle/>
          <a:p>
            <a:pPr marL="0" indent="0" algn="ctr">
              <a:lnSpc>
                <a:spcPts val="1800"/>
              </a:lnSpc>
              <a:buNone/>
            </a:pPr>
            <a:r>
              <a:rPr lang="en-US" sz="1400" b="1" dirty="0">
                <a:solidFill>
                  <a:srgbClr val="FFFFFF"/>
                </a:solidFill>
                <a:latin typeface="Inter Bold" pitchFamily="34" charset="0"/>
                <a:ea typeface="Inter Bold" pitchFamily="34" charset="-122"/>
                <a:cs typeface="Inter Bold" pitchFamily="34" charset="-120"/>
              </a:rPr>
              <a:t>Skrining</a:t>
            </a:r>
            <a:endParaRPr lang="en-US" sz="1400" dirty="0"/>
          </a:p>
        </p:txBody>
      </p:sp>
      <p:sp>
        <p:nvSpPr>
          <p:cNvPr id="7" name="Text 4"/>
          <p:cNvSpPr/>
          <p:nvPr/>
        </p:nvSpPr>
        <p:spPr>
          <a:xfrm>
            <a:off x="8813693" y="4773031"/>
            <a:ext cx="1258784" cy="302628"/>
          </a:xfrm>
          <a:prstGeom prst="rect">
            <a:avLst/>
          </a:prstGeom>
          <a:noFill/>
          <a:ln/>
        </p:spPr>
        <p:txBody>
          <a:bodyPr wrap="square" lIns="0" tIns="0" rIns="0" bIns="0" rtlCol="0" anchor="t"/>
          <a:lstStyle/>
          <a:p>
            <a:pPr marL="0" indent="0" algn="ctr">
              <a:lnSpc>
                <a:spcPts val="1150"/>
              </a:lnSpc>
              <a:buNone/>
            </a:pPr>
            <a:r>
              <a:rPr lang="en-US" sz="1150" dirty="0">
                <a:solidFill>
                  <a:srgbClr val="E5E0DF"/>
                </a:solidFill>
                <a:latin typeface="Inter" pitchFamily="34" charset="0"/>
                <a:ea typeface="Inter" pitchFamily="34" charset="-122"/>
                <a:cs typeface="Inter" pitchFamily="34" charset="-120"/>
              </a:rPr>
              <a:t>Mengevaluasi relevansi</a:t>
            </a:r>
            <a:endParaRPr lang="en-US" sz="1150" dirty="0"/>
          </a:p>
        </p:txBody>
      </p:sp>
      <p:sp>
        <p:nvSpPr>
          <p:cNvPr id="8" name="Text 5"/>
          <p:cNvSpPr/>
          <p:nvPr/>
        </p:nvSpPr>
        <p:spPr>
          <a:xfrm>
            <a:off x="2228464" y="2060347"/>
            <a:ext cx="1258784" cy="229263"/>
          </a:xfrm>
          <a:prstGeom prst="rect">
            <a:avLst/>
          </a:prstGeom>
          <a:noFill/>
          <a:ln/>
        </p:spPr>
        <p:txBody>
          <a:bodyPr wrap="none" lIns="0" tIns="0" rIns="0" bIns="0" rtlCol="0" anchor="t"/>
          <a:lstStyle/>
          <a:p>
            <a:pPr marL="0" indent="0" algn="ctr">
              <a:lnSpc>
                <a:spcPts val="1800"/>
              </a:lnSpc>
              <a:buNone/>
            </a:pPr>
            <a:r>
              <a:rPr lang="en-US" sz="1400" b="1" dirty="0">
                <a:solidFill>
                  <a:srgbClr val="E5E0DF"/>
                </a:solidFill>
                <a:latin typeface="Inter Bold" pitchFamily="34" charset="0"/>
                <a:ea typeface="Inter Bold" pitchFamily="34" charset="-122"/>
                <a:cs typeface="Inter Bold" pitchFamily="34" charset="-120"/>
              </a:rPr>
              <a:t>Pengumpulan</a:t>
            </a:r>
            <a:endParaRPr lang="en-US" sz="1400" dirty="0"/>
          </a:p>
        </p:txBody>
      </p:sp>
      <p:sp>
        <p:nvSpPr>
          <p:cNvPr id="9" name="Text 6"/>
          <p:cNvSpPr/>
          <p:nvPr/>
        </p:nvSpPr>
        <p:spPr>
          <a:xfrm>
            <a:off x="2228464" y="2353702"/>
            <a:ext cx="1258784" cy="302628"/>
          </a:xfrm>
          <a:prstGeom prst="rect">
            <a:avLst/>
          </a:prstGeom>
          <a:noFill/>
          <a:ln/>
        </p:spPr>
        <p:txBody>
          <a:bodyPr wrap="square" lIns="0" tIns="0" rIns="0" bIns="0" rtlCol="0" anchor="t"/>
          <a:lstStyle/>
          <a:p>
            <a:pPr marL="0" indent="0" algn="ctr">
              <a:lnSpc>
                <a:spcPts val="1150"/>
              </a:lnSpc>
              <a:buNone/>
            </a:pPr>
            <a:r>
              <a:rPr lang="en-US" sz="1150" dirty="0">
                <a:solidFill>
                  <a:srgbClr val="E5E0DF"/>
                </a:solidFill>
                <a:latin typeface="Inter" pitchFamily="34" charset="0"/>
                <a:ea typeface="Inter" pitchFamily="34" charset="-122"/>
                <a:cs typeface="Inter" pitchFamily="34" charset="-120"/>
              </a:rPr>
              <a:t>6.323 artikel (Scopus+WoS)</a:t>
            </a:r>
            <a:endParaRPr lang="en-US" sz="1150" dirty="0"/>
          </a:p>
        </p:txBody>
      </p:sp>
      <p:sp>
        <p:nvSpPr>
          <p:cNvPr id="10" name="Text 7"/>
          <p:cNvSpPr/>
          <p:nvPr/>
        </p:nvSpPr>
        <p:spPr>
          <a:xfrm>
            <a:off x="11143152" y="2046917"/>
            <a:ext cx="1258784" cy="229263"/>
          </a:xfrm>
          <a:prstGeom prst="rect">
            <a:avLst/>
          </a:prstGeom>
          <a:noFill/>
          <a:ln/>
        </p:spPr>
        <p:txBody>
          <a:bodyPr wrap="none" lIns="0" tIns="0" rIns="0" bIns="0" rtlCol="0" anchor="t"/>
          <a:lstStyle/>
          <a:p>
            <a:pPr marL="0" indent="0" algn="ctr">
              <a:lnSpc>
                <a:spcPts val="1800"/>
              </a:lnSpc>
              <a:buNone/>
            </a:pPr>
            <a:r>
              <a:rPr lang="en-US" sz="1400" b="1" dirty="0">
                <a:solidFill>
                  <a:srgbClr val="E5E0DF"/>
                </a:solidFill>
                <a:latin typeface="Inter Bold" pitchFamily="34" charset="0"/>
                <a:ea typeface="Inter Bold" pitchFamily="34" charset="-122"/>
                <a:cs typeface="Inter Bold" pitchFamily="34" charset="-120"/>
              </a:rPr>
              <a:t>Seleksi Akhir</a:t>
            </a:r>
            <a:endParaRPr lang="en-US" sz="1400" dirty="0"/>
          </a:p>
        </p:txBody>
      </p:sp>
      <p:sp>
        <p:nvSpPr>
          <p:cNvPr id="11" name="Text 8"/>
          <p:cNvSpPr/>
          <p:nvPr/>
        </p:nvSpPr>
        <p:spPr>
          <a:xfrm>
            <a:off x="11143152" y="2289582"/>
            <a:ext cx="1258784" cy="151314"/>
          </a:xfrm>
          <a:prstGeom prst="rect">
            <a:avLst/>
          </a:prstGeom>
          <a:noFill/>
          <a:ln/>
        </p:spPr>
        <p:txBody>
          <a:bodyPr wrap="none" lIns="0" tIns="0" rIns="0" bIns="0" rtlCol="0" anchor="t"/>
          <a:lstStyle/>
          <a:p>
            <a:pPr marL="0" indent="0" algn="ctr">
              <a:lnSpc>
                <a:spcPts val="1150"/>
              </a:lnSpc>
              <a:buNone/>
            </a:pPr>
            <a:r>
              <a:rPr lang="en-US" sz="1150" dirty="0">
                <a:solidFill>
                  <a:srgbClr val="E5E0DF"/>
                </a:solidFill>
                <a:latin typeface="Inter" pitchFamily="34" charset="0"/>
                <a:ea typeface="Inter" pitchFamily="34" charset="-122"/>
                <a:cs typeface="Inter" pitchFamily="34" charset="-120"/>
              </a:rPr>
              <a:t>181 artikel inti</a:t>
            </a:r>
            <a:endParaRPr lang="en-US" sz="1150" dirty="0"/>
          </a:p>
        </p:txBody>
      </p:sp>
      <p:sp>
        <p:nvSpPr>
          <p:cNvPr id="12" name="Text 9"/>
          <p:cNvSpPr/>
          <p:nvPr/>
        </p:nvSpPr>
        <p:spPr>
          <a:xfrm>
            <a:off x="6735529" y="2076001"/>
            <a:ext cx="1258785" cy="229263"/>
          </a:xfrm>
          <a:prstGeom prst="rect">
            <a:avLst/>
          </a:prstGeom>
          <a:noFill/>
          <a:ln/>
        </p:spPr>
        <p:txBody>
          <a:bodyPr wrap="none" lIns="0" tIns="0" rIns="0" bIns="0" rtlCol="0" anchor="t"/>
          <a:lstStyle/>
          <a:p>
            <a:pPr marL="0" indent="0" algn="ctr">
              <a:lnSpc>
                <a:spcPts val="1800"/>
              </a:lnSpc>
              <a:buNone/>
            </a:pPr>
            <a:r>
              <a:rPr lang="en-US" sz="1400" b="1" dirty="0">
                <a:solidFill>
                  <a:srgbClr val="FFFFFF"/>
                </a:solidFill>
                <a:latin typeface="Inter Bold" pitchFamily="34" charset="0"/>
                <a:ea typeface="Inter Bold" pitchFamily="34" charset="-122"/>
                <a:cs typeface="Inter Bold" pitchFamily="34" charset="-120"/>
              </a:rPr>
              <a:t>Filter Isi</a:t>
            </a:r>
            <a:endParaRPr lang="en-US" sz="1400" dirty="0"/>
          </a:p>
        </p:txBody>
      </p:sp>
      <p:sp>
        <p:nvSpPr>
          <p:cNvPr id="13" name="Text 10"/>
          <p:cNvSpPr/>
          <p:nvPr/>
        </p:nvSpPr>
        <p:spPr>
          <a:xfrm>
            <a:off x="6735529" y="2370477"/>
            <a:ext cx="1258785" cy="302628"/>
          </a:xfrm>
          <a:prstGeom prst="rect">
            <a:avLst/>
          </a:prstGeom>
          <a:noFill/>
          <a:ln/>
        </p:spPr>
        <p:txBody>
          <a:bodyPr wrap="square" lIns="0" tIns="0" rIns="0" bIns="0" rtlCol="0" anchor="t"/>
          <a:lstStyle/>
          <a:p>
            <a:pPr marL="0" indent="0" algn="ctr">
              <a:lnSpc>
                <a:spcPts val="1150"/>
              </a:lnSpc>
              <a:buNone/>
            </a:pPr>
            <a:r>
              <a:rPr lang="en-US" sz="1150" dirty="0">
                <a:solidFill>
                  <a:srgbClr val="E5E0DF"/>
                </a:solidFill>
                <a:latin typeface="Inter" pitchFamily="34" charset="0"/>
                <a:ea typeface="Inter" pitchFamily="34" charset="-122"/>
                <a:cs typeface="Inter" pitchFamily="34" charset="-120"/>
              </a:rPr>
              <a:t>Full-text &amp; peer-reviewed</a:t>
            </a:r>
            <a:endParaRPr lang="en-US" sz="1150" dirty="0"/>
          </a:p>
        </p:txBody>
      </p:sp>
      <p:sp>
        <p:nvSpPr>
          <p:cNvPr id="14" name="Text 11"/>
          <p:cNvSpPr/>
          <p:nvPr/>
        </p:nvSpPr>
        <p:spPr>
          <a:xfrm>
            <a:off x="793790" y="5870853"/>
            <a:ext cx="3236343" cy="403146"/>
          </a:xfrm>
          <a:prstGeom prst="rect">
            <a:avLst/>
          </a:prstGeom>
          <a:noFill/>
          <a:ln/>
        </p:spPr>
        <p:txBody>
          <a:bodyPr wrap="none" lIns="0" tIns="0" rIns="0" bIns="0" rtlCol="0" anchor="t"/>
          <a:lstStyle/>
          <a:p>
            <a:pPr marL="0" indent="0" algn="l">
              <a:lnSpc>
                <a:spcPts val="1550"/>
              </a:lnSpc>
              <a:buNone/>
            </a:pPr>
            <a:r>
              <a:rPr lang="en-US" sz="2400" b="1" dirty="0">
                <a:solidFill>
                  <a:srgbClr val="FFFFFF"/>
                </a:solidFill>
                <a:latin typeface="Inter Bold" pitchFamily="34" charset="0"/>
                <a:ea typeface="Inter Bold" pitchFamily="34" charset="-122"/>
                <a:cs typeface="Inter Bold" pitchFamily="34" charset="-120"/>
              </a:rPr>
              <a:t>Sumber Data &amp; Periode</a:t>
            </a:r>
            <a:endParaRPr lang="en-US" sz="2400" dirty="0"/>
          </a:p>
        </p:txBody>
      </p:sp>
      <p:sp>
        <p:nvSpPr>
          <p:cNvPr id="15" name="Text 12"/>
          <p:cNvSpPr/>
          <p:nvPr/>
        </p:nvSpPr>
        <p:spPr>
          <a:xfrm>
            <a:off x="793790" y="6227088"/>
            <a:ext cx="6364129" cy="970360"/>
          </a:xfrm>
          <a:prstGeom prst="rect">
            <a:avLst/>
          </a:prstGeom>
          <a:noFill/>
          <a:ln/>
        </p:spPr>
        <p:txBody>
          <a:bodyPr wrap="square" lIns="0" tIns="0" rIns="0" bIns="0" rtlCol="0" anchor="t"/>
          <a:lstStyle/>
          <a:p>
            <a:pPr marL="342900" indent="-342900" algn="l">
              <a:lnSpc>
                <a:spcPts val="1300"/>
              </a:lnSpc>
              <a:buSzPct val="100000"/>
              <a:buChar char="•"/>
            </a:pPr>
            <a:r>
              <a:rPr lang="en-US" sz="1600" b="1" dirty="0">
                <a:solidFill>
                  <a:srgbClr val="E5E0DF"/>
                </a:solidFill>
                <a:latin typeface="Inter" pitchFamily="34" charset="0"/>
                <a:ea typeface="Inter" pitchFamily="34" charset="-122"/>
                <a:cs typeface="Inter" pitchFamily="34" charset="-120"/>
              </a:rPr>
              <a:t>Database:</a:t>
            </a:r>
            <a:r>
              <a:rPr lang="en-US" sz="1600" dirty="0">
                <a:solidFill>
                  <a:srgbClr val="E5E0DF"/>
                </a:solidFill>
                <a:latin typeface="Inter" pitchFamily="34" charset="0"/>
                <a:ea typeface="Inter" pitchFamily="34" charset="-122"/>
                <a:cs typeface="Inter" pitchFamily="34" charset="-120"/>
              </a:rPr>
              <a:t> Scopus &amp; Web of Science</a:t>
            </a:r>
          </a:p>
          <a:p>
            <a:pPr marL="342900" indent="-342900" algn="l">
              <a:lnSpc>
                <a:spcPts val="1300"/>
              </a:lnSpc>
              <a:buSzPct val="100000"/>
              <a:buChar char="•"/>
            </a:pPr>
            <a:endParaRPr lang="en-US" sz="1600" dirty="0"/>
          </a:p>
          <a:p>
            <a:pPr marL="342900" indent="-342900" algn="l">
              <a:lnSpc>
                <a:spcPts val="1300"/>
              </a:lnSpc>
              <a:buSzPct val="100000"/>
              <a:buChar char="•"/>
            </a:pPr>
            <a:r>
              <a:rPr lang="en-US" sz="1600" b="1" dirty="0">
                <a:solidFill>
                  <a:srgbClr val="E5E0DF"/>
                </a:solidFill>
                <a:latin typeface="Inter" pitchFamily="34" charset="0"/>
                <a:ea typeface="Inter" pitchFamily="34" charset="-122"/>
                <a:cs typeface="Inter" pitchFamily="34" charset="-120"/>
              </a:rPr>
              <a:t>Rentang:</a:t>
            </a:r>
            <a:r>
              <a:rPr lang="en-US" sz="1600" dirty="0">
                <a:solidFill>
                  <a:srgbClr val="E5E0DF"/>
                </a:solidFill>
                <a:latin typeface="Inter" pitchFamily="34" charset="0"/>
                <a:ea typeface="Inter" pitchFamily="34" charset="-122"/>
                <a:cs typeface="Inter" pitchFamily="34" charset="-120"/>
              </a:rPr>
              <a:t> 2015–2025</a:t>
            </a:r>
          </a:p>
          <a:p>
            <a:pPr marL="342900" indent="-342900" algn="l">
              <a:lnSpc>
                <a:spcPts val="1300"/>
              </a:lnSpc>
              <a:buSzPct val="100000"/>
              <a:buChar char="•"/>
            </a:pPr>
            <a:endParaRPr lang="en-US" sz="1600" dirty="0"/>
          </a:p>
          <a:p>
            <a:pPr marL="342900" indent="-342900" algn="l">
              <a:lnSpc>
                <a:spcPts val="1300"/>
              </a:lnSpc>
              <a:buSzPct val="100000"/>
              <a:buChar char="•"/>
            </a:pPr>
            <a:r>
              <a:rPr lang="en-US" sz="1600" b="1" dirty="0">
                <a:solidFill>
                  <a:srgbClr val="E5E0DF"/>
                </a:solidFill>
                <a:latin typeface="Inter" pitchFamily="34" charset="0"/>
                <a:ea typeface="Inter" pitchFamily="34" charset="-122"/>
                <a:cs typeface="Inter" pitchFamily="34" charset="-120"/>
              </a:rPr>
              <a:t>Total awal:</a:t>
            </a:r>
            <a:r>
              <a:rPr lang="en-US" sz="1600" dirty="0">
                <a:solidFill>
                  <a:srgbClr val="E5E0DF"/>
                </a:solidFill>
                <a:latin typeface="Inter" pitchFamily="34" charset="0"/>
                <a:ea typeface="Inter" pitchFamily="34" charset="-122"/>
                <a:cs typeface="Inter" pitchFamily="34" charset="-120"/>
              </a:rPr>
              <a:t> 6.323 </a:t>
            </a:r>
            <a:r>
              <a:rPr lang="en-US" sz="1600" dirty="0" err="1">
                <a:solidFill>
                  <a:srgbClr val="E5E0DF"/>
                </a:solidFill>
                <a:latin typeface="Inter" pitchFamily="34" charset="0"/>
                <a:ea typeface="Inter" pitchFamily="34" charset="-122"/>
                <a:cs typeface="Inter" pitchFamily="34" charset="-120"/>
              </a:rPr>
              <a:t>artikel</a:t>
            </a:r>
            <a:endParaRPr lang="en-US" sz="1600" dirty="0">
              <a:solidFill>
                <a:srgbClr val="E5E0DF"/>
              </a:solidFill>
              <a:latin typeface="Inter" pitchFamily="34" charset="0"/>
              <a:ea typeface="Inter" pitchFamily="34" charset="-122"/>
              <a:cs typeface="Inter" pitchFamily="34" charset="-120"/>
            </a:endParaRPr>
          </a:p>
          <a:p>
            <a:pPr marL="342900" indent="-342900" algn="l">
              <a:lnSpc>
                <a:spcPts val="1300"/>
              </a:lnSpc>
              <a:buSzPct val="100000"/>
              <a:buChar char="•"/>
            </a:pPr>
            <a:endParaRPr lang="en-US" sz="1600" dirty="0"/>
          </a:p>
          <a:p>
            <a:pPr marL="342900" indent="-342900" algn="l">
              <a:lnSpc>
                <a:spcPts val="1300"/>
              </a:lnSpc>
              <a:buSzPct val="100000"/>
              <a:buChar char="•"/>
            </a:pPr>
            <a:r>
              <a:rPr lang="en-US" sz="1600" b="1" dirty="0">
                <a:solidFill>
                  <a:srgbClr val="E5E0DF"/>
                </a:solidFill>
                <a:latin typeface="Inter" pitchFamily="34" charset="0"/>
                <a:ea typeface="Inter" pitchFamily="34" charset="-122"/>
                <a:cs typeface="Inter" pitchFamily="34" charset="-120"/>
              </a:rPr>
              <a:t>Tersaring:</a:t>
            </a:r>
            <a:r>
              <a:rPr lang="en-US" sz="1600" dirty="0">
                <a:solidFill>
                  <a:srgbClr val="E5E0DF"/>
                </a:solidFill>
                <a:latin typeface="Inter" pitchFamily="34" charset="0"/>
                <a:ea typeface="Inter" pitchFamily="34" charset="-122"/>
                <a:cs typeface="Inter" pitchFamily="34" charset="-120"/>
              </a:rPr>
              <a:t> 711 artikel relevan</a:t>
            </a:r>
            <a:endParaRPr lang="en-US" sz="1600" dirty="0"/>
          </a:p>
          <a:p>
            <a:pPr marL="342900" indent="-342900" algn="l">
              <a:lnSpc>
                <a:spcPts val="1300"/>
              </a:lnSpc>
              <a:buSzPct val="100000"/>
              <a:buChar char="•"/>
            </a:pPr>
            <a:endParaRPr lang="en-US" sz="1600" b="1" dirty="0">
              <a:solidFill>
                <a:srgbClr val="E5E0DF"/>
              </a:solidFill>
              <a:latin typeface="Inter" pitchFamily="34" charset="0"/>
              <a:ea typeface="Inter" pitchFamily="34" charset="-122"/>
              <a:cs typeface="Inter" pitchFamily="34" charset="-120"/>
            </a:endParaRPr>
          </a:p>
          <a:p>
            <a:pPr marL="342900" indent="-342900" algn="l">
              <a:lnSpc>
                <a:spcPts val="1300"/>
              </a:lnSpc>
              <a:buSzPct val="100000"/>
              <a:buChar char="•"/>
            </a:pPr>
            <a:r>
              <a:rPr lang="en-US" sz="1600" b="1" dirty="0">
                <a:solidFill>
                  <a:srgbClr val="E5E0DF"/>
                </a:solidFill>
                <a:latin typeface="Inter" pitchFamily="34" charset="0"/>
                <a:ea typeface="Inter" pitchFamily="34" charset="-122"/>
                <a:cs typeface="Inter" pitchFamily="34" charset="-120"/>
              </a:rPr>
              <a:t>Final:</a:t>
            </a:r>
            <a:r>
              <a:rPr lang="en-US" sz="1600" dirty="0">
                <a:solidFill>
                  <a:srgbClr val="E5E0DF"/>
                </a:solidFill>
                <a:latin typeface="Inter" pitchFamily="34" charset="0"/>
                <a:ea typeface="Inter" pitchFamily="34" charset="-122"/>
                <a:cs typeface="Inter" pitchFamily="34" charset="-120"/>
              </a:rPr>
              <a:t> 181 artikel utama</a:t>
            </a:r>
            <a:endParaRPr lang="en-US" sz="1600" dirty="0"/>
          </a:p>
        </p:txBody>
      </p:sp>
      <p:sp>
        <p:nvSpPr>
          <p:cNvPr id="16" name="Text 13"/>
          <p:cNvSpPr/>
          <p:nvPr/>
        </p:nvSpPr>
        <p:spPr>
          <a:xfrm>
            <a:off x="6582638" y="5800938"/>
            <a:ext cx="4017631" cy="438818"/>
          </a:xfrm>
          <a:prstGeom prst="rect">
            <a:avLst/>
          </a:prstGeom>
          <a:noFill/>
          <a:ln/>
        </p:spPr>
        <p:txBody>
          <a:bodyPr wrap="none" lIns="0" tIns="0" rIns="0" bIns="0" rtlCol="0" anchor="t"/>
          <a:lstStyle/>
          <a:p>
            <a:pPr marL="0" indent="0" algn="l">
              <a:lnSpc>
                <a:spcPts val="1550"/>
              </a:lnSpc>
              <a:buNone/>
            </a:pPr>
            <a:r>
              <a:rPr lang="en-US" sz="2400" b="1" dirty="0">
                <a:solidFill>
                  <a:srgbClr val="FFFFFF"/>
                </a:solidFill>
                <a:latin typeface="Inter Bold" pitchFamily="34" charset="0"/>
                <a:ea typeface="Inter Bold" pitchFamily="34" charset="-122"/>
                <a:cs typeface="Inter Bold" pitchFamily="34" charset="-120"/>
              </a:rPr>
              <a:t>Alat Analisis Bibliometrik</a:t>
            </a:r>
            <a:endParaRPr lang="en-US" sz="2400" dirty="0"/>
          </a:p>
        </p:txBody>
      </p:sp>
      <p:sp>
        <p:nvSpPr>
          <p:cNvPr id="17" name="Text 14"/>
          <p:cNvSpPr/>
          <p:nvPr/>
        </p:nvSpPr>
        <p:spPr>
          <a:xfrm>
            <a:off x="6582638" y="6227088"/>
            <a:ext cx="6356508" cy="970360"/>
          </a:xfrm>
          <a:prstGeom prst="rect">
            <a:avLst/>
          </a:prstGeom>
          <a:noFill/>
          <a:ln/>
        </p:spPr>
        <p:txBody>
          <a:bodyPr wrap="square" lIns="0" tIns="0" rIns="0" bIns="0" rtlCol="0" anchor="t"/>
          <a:lstStyle/>
          <a:p>
            <a:pPr marL="342900" indent="-342900" algn="l">
              <a:lnSpc>
                <a:spcPts val="1300"/>
              </a:lnSpc>
              <a:buSzPct val="100000"/>
              <a:buChar char="•"/>
            </a:pPr>
            <a:r>
              <a:rPr lang="en-US" sz="1600" dirty="0">
                <a:solidFill>
                  <a:srgbClr val="E5E0DF"/>
                </a:solidFill>
                <a:latin typeface="Inter" pitchFamily="34" charset="0"/>
                <a:ea typeface="Inter" pitchFamily="34" charset="-122"/>
                <a:cs typeface="Inter" pitchFamily="34" charset="-120"/>
              </a:rPr>
              <a:t>Analisis </a:t>
            </a:r>
            <a:r>
              <a:rPr lang="en-US" sz="1600" dirty="0" err="1">
                <a:solidFill>
                  <a:srgbClr val="E5E0DF"/>
                </a:solidFill>
                <a:latin typeface="Inter" pitchFamily="34" charset="0"/>
                <a:ea typeface="Inter" pitchFamily="34" charset="-122"/>
                <a:cs typeface="Inter" pitchFamily="34" charset="-120"/>
              </a:rPr>
              <a:t>deskriptif</a:t>
            </a:r>
            <a:r>
              <a:rPr lang="en-US" sz="1600" dirty="0">
                <a:solidFill>
                  <a:srgbClr val="E5E0DF"/>
                </a:solidFill>
                <a:latin typeface="Inter" pitchFamily="34" charset="0"/>
                <a:ea typeface="Inter" pitchFamily="34" charset="-122"/>
                <a:cs typeface="Inter" pitchFamily="34" charset="-120"/>
              </a:rPr>
              <a:t> statistic</a:t>
            </a:r>
          </a:p>
          <a:p>
            <a:pPr marL="342900" indent="-342900" algn="l">
              <a:lnSpc>
                <a:spcPts val="1300"/>
              </a:lnSpc>
              <a:buSzPct val="100000"/>
              <a:buChar char="•"/>
            </a:pPr>
            <a:endParaRPr lang="en-US" sz="1600" dirty="0"/>
          </a:p>
          <a:p>
            <a:pPr marL="342900" indent="-342900" algn="l">
              <a:lnSpc>
                <a:spcPts val="1300"/>
              </a:lnSpc>
              <a:buSzPct val="100000"/>
              <a:buChar char="•"/>
            </a:pPr>
            <a:r>
              <a:rPr lang="en-US" sz="1600" b="1" dirty="0">
                <a:solidFill>
                  <a:srgbClr val="E5E0DF"/>
                </a:solidFill>
                <a:latin typeface="Inter" pitchFamily="34" charset="0"/>
                <a:ea typeface="Inter" pitchFamily="34" charset="-122"/>
                <a:cs typeface="Inter" pitchFamily="34" charset="-120"/>
              </a:rPr>
              <a:t>VOSviewer</a:t>
            </a:r>
            <a:r>
              <a:rPr lang="en-US" sz="1600" dirty="0">
                <a:solidFill>
                  <a:srgbClr val="E5E0DF"/>
                </a:solidFill>
                <a:latin typeface="Inter" pitchFamily="34" charset="0"/>
                <a:ea typeface="Inter" pitchFamily="34" charset="-122"/>
                <a:cs typeface="Inter" pitchFamily="34" charset="-120"/>
              </a:rPr>
              <a:t> — pemetaan </a:t>
            </a:r>
            <a:r>
              <a:rPr lang="en-US" sz="1600" dirty="0" err="1">
                <a:solidFill>
                  <a:srgbClr val="E5E0DF"/>
                </a:solidFill>
                <a:latin typeface="Inter" pitchFamily="34" charset="0"/>
                <a:ea typeface="Inter" pitchFamily="34" charset="-122"/>
                <a:cs typeface="Inter" pitchFamily="34" charset="-120"/>
              </a:rPr>
              <a:t>jaringan</a:t>
            </a:r>
            <a:r>
              <a:rPr lang="en-US" sz="1600" dirty="0">
                <a:solidFill>
                  <a:srgbClr val="E5E0DF"/>
                </a:solidFill>
                <a:latin typeface="Inter" pitchFamily="34" charset="0"/>
                <a:ea typeface="Inter" pitchFamily="34" charset="-122"/>
                <a:cs typeface="Inter" pitchFamily="34" charset="-120"/>
              </a:rPr>
              <a:t> </a:t>
            </a:r>
            <a:r>
              <a:rPr lang="en-US" sz="1600" dirty="0" err="1">
                <a:solidFill>
                  <a:srgbClr val="E5E0DF"/>
                </a:solidFill>
                <a:latin typeface="Inter" pitchFamily="34" charset="0"/>
                <a:ea typeface="Inter" pitchFamily="34" charset="-122"/>
                <a:cs typeface="Inter" pitchFamily="34" charset="-120"/>
              </a:rPr>
              <a:t>sitasi</a:t>
            </a:r>
            <a:endParaRPr lang="en-US" sz="1600" dirty="0">
              <a:solidFill>
                <a:srgbClr val="E5E0DF"/>
              </a:solidFill>
              <a:latin typeface="Inter" pitchFamily="34" charset="0"/>
              <a:ea typeface="Inter" pitchFamily="34" charset="-122"/>
              <a:cs typeface="Inter" pitchFamily="34" charset="-120"/>
            </a:endParaRPr>
          </a:p>
          <a:p>
            <a:pPr marL="342900" indent="-342900" algn="l">
              <a:lnSpc>
                <a:spcPts val="1300"/>
              </a:lnSpc>
              <a:buSzPct val="100000"/>
              <a:buChar char="•"/>
            </a:pPr>
            <a:endParaRPr lang="en-US" sz="1600" dirty="0"/>
          </a:p>
          <a:p>
            <a:pPr marL="342900" indent="-342900" algn="l">
              <a:lnSpc>
                <a:spcPts val="1300"/>
              </a:lnSpc>
              <a:buSzPct val="100000"/>
              <a:buChar char="•"/>
            </a:pPr>
            <a:r>
              <a:rPr lang="en-US" sz="1600" b="1" dirty="0">
                <a:solidFill>
                  <a:srgbClr val="E5E0DF"/>
                </a:solidFill>
                <a:latin typeface="Inter" pitchFamily="34" charset="0"/>
                <a:ea typeface="Inter" pitchFamily="34" charset="-122"/>
                <a:cs typeface="Inter" pitchFamily="34" charset="-120"/>
              </a:rPr>
              <a:t>Biblioshiny (R)</a:t>
            </a:r>
            <a:r>
              <a:rPr lang="en-US" sz="1600" dirty="0">
                <a:solidFill>
                  <a:srgbClr val="E5E0DF"/>
                </a:solidFill>
                <a:latin typeface="Inter" pitchFamily="34" charset="0"/>
                <a:ea typeface="Inter" pitchFamily="34" charset="-122"/>
                <a:cs typeface="Inter" pitchFamily="34" charset="-120"/>
              </a:rPr>
              <a:t> — analisis bibliometrik lanjutan</a:t>
            </a:r>
            <a:endParaRPr lang="en-US" sz="1600" dirty="0"/>
          </a:p>
        </p:txBody>
      </p:sp>
      <p:sp>
        <p:nvSpPr>
          <p:cNvPr id="18" name="Shape 15"/>
          <p:cNvSpPr/>
          <p:nvPr/>
        </p:nvSpPr>
        <p:spPr>
          <a:xfrm>
            <a:off x="5094762" y="7197448"/>
            <a:ext cx="9415863" cy="426006"/>
          </a:xfrm>
          <a:prstGeom prst="roundRect">
            <a:avLst>
              <a:gd name="adj" fmla="val 12719"/>
            </a:avLst>
          </a:prstGeom>
          <a:solidFill>
            <a:srgbClr val="183A13"/>
          </a:solidFill>
          <a:ln/>
        </p:spPr>
      </p:sp>
      <p:pic>
        <p:nvPicPr>
          <p:cNvPr id="19" name="Image 1" descr="preencoded.png"/>
          <p:cNvPicPr>
            <a:picLocks noChangeAspect="1"/>
          </p:cNvPicPr>
          <p:nvPr/>
        </p:nvPicPr>
        <p:blipFill>
          <a:blip r:embed="rId4"/>
          <a:stretch>
            <a:fillRect/>
          </a:stretch>
        </p:blipFill>
        <p:spPr>
          <a:xfrm>
            <a:off x="5094762" y="7299267"/>
            <a:ext cx="235670" cy="188501"/>
          </a:xfrm>
          <a:prstGeom prst="rect">
            <a:avLst/>
          </a:prstGeom>
        </p:spPr>
      </p:pic>
      <p:sp>
        <p:nvSpPr>
          <p:cNvPr id="20" name="Text 16"/>
          <p:cNvSpPr/>
          <p:nvPr/>
        </p:nvSpPr>
        <p:spPr>
          <a:xfrm>
            <a:off x="5424651" y="7341049"/>
            <a:ext cx="9321644" cy="282405"/>
          </a:xfrm>
          <a:prstGeom prst="rect">
            <a:avLst/>
          </a:prstGeom>
          <a:noFill/>
          <a:ln/>
        </p:spPr>
        <p:txBody>
          <a:bodyPr wrap="none" lIns="0" tIns="0" rIns="0" bIns="0" rtlCol="0" anchor="t"/>
          <a:lstStyle/>
          <a:p>
            <a:pPr marL="0" indent="0" algn="l">
              <a:lnSpc>
                <a:spcPts val="1300"/>
              </a:lnSpc>
              <a:buNone/>
            </a:pPr>
            <a:r>
              <a:rPr lang="en-US" sz="1600" dirty="0">
                <a:solidFill>
                  <a:srgbClr val="FFFFFF"/>
                </a:solidFill>
                <a:latin typeface="Inter" pitchFamily="34" charset="0"/>
                <a:ea typeface="Inter" pitchFamily="34" charset="-122"/>
                <a:cs typeface="Inter" pitchFamily="34" charset="-120"/>
              </a:rPr>
              <a:t>Penggunaan PRISMA 2020 menjamin transparansi dan reprodusibilitas proses seleksi literatur.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92731"/>
            <a:ext cx="11688723" cy="620078"/>
          </a:xfrm>
          <a:prstGeom prst="rect">
            <a:avLst/>
          </a:prstGeom>
          <a:noFill/>
          <a:ln/>
        </p:spPr>
        <p:txBody>
          <a:bodyPr wrap="none" lIns="0" tIns="0" rIns="0" bIns="0" rtlCol="0" anchor="t"/>
          <a:lstStyle/>
          <a:p>
            <a:pPr marL="0" indent="0" algn="l">
              <a:lnSpc>
                <a:spcPts val="4850"/>
              </a:lnSpc>
              <a:buNone/>
            </a:pPr>
            <a:r>
              <a:rPr lang="en-US" sz="3900" b="1" dirty="0">
                <a:solidFill>
                  <a:srgbClr val="FFFFFF"/>
                </a:solidFill>
                <a:latin typeface="Inter Bold" pitchFamily="34" charset="0"/>
                <a:ea typeface="Inter Bold" pitchFamily="34" charset="-122"/>
                <a:cs typeface="Inter Bold" pitchFamily="34" charset="-120"/>
              </a:rPr>
              <a:t>Kontribusi Ilmiah: Big Data dalam Sistem Pangan</a:t>
            </a:r>
            <a:endParaRPr lang="en-US" sz="3900" dirty="0"/>
          </a:p>
        </p:txBody>
      </p:sp>
      <p:sp>
        <p:nvSpPr>
          <p:cNvPr id="3" name="Shape 1"/>
          <p:cNvSpPr/>
          <p:nvPr/>
        </p:nvSpPr>
        <p:spPr>
          <a:xfrm>
            <a:off x="793790" y="1909643"/>
            <a:ext cx="4215289" cy="2769513"/>
          </a:xfrm>
          <a:prstGeom prst="roundRect">
            <a:avLst>
              <a:gd name="adj" fmla="val 3962"/>
            </a:avLst>
          </a:prstGeom>
          <a:solidFill>
            <a:srgbClr val="272525"/>
          </a:solidFill>
          <a:ln w="22860">
            <a:solidFill>
              <a:srgbClr val="2A1999"/>
            </a:solidFill>
            <a:prstDash val="solid"/>
          </a:ln>
        </p:spPr>
      </p:sp>
      <p:sp>
        <p:nvSpPr>
          <p:cNvPr id="4" name="Shape 2"/>
          <p:cNvSpPr/>
          <p:nvPr/>
        </p:nvSpPr>
        <p:spPr>
          <a:xfrm>
            <a:off x="770930" y="1909643"/>
            <a:ext cx="91440" cy="2769513"/>
          </a:xfrm>
          <a:prstGeom prst="roundRect">
            <a:avLst>
              <a:gd name="adj" fmla="val 91163"/>
            </a:avLst>
          </a:prstGeom>
          <a:solidFill>
            <a:srgbClr val="2B0AFF"/>
          </a:solidFill>
          <a:ln/>
        </p:spPr>
      </p:sp>
      <p:sp>
        <p:nvSpPr>
          <p:cNvPr id="5" name="Text 3"/>
          <p:cNvSpPr/>
          <p:nvPr/>
        </p:nvSpPr>
        <p:spPr>
          <a:xfrm>
            <a:off x="1083588" y="2130862"/>
            <a:ext cx="3704273" cy="620316"/>
          </a:xfrm>
          <a:prstGeom prst="rect">
            <a:avLst/>
          </a:prstGeom>
          <a:noFill/>
          <a:ln/>
        </p:spPr>
        <p:txBody>
          <a:bodyPr wrap="squar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Gambaran Menyeluruh (Comprehensive Review)</a:t>
            </a:r>
            <a:endParaRPr lang="en-US" sz="1950" dirty="0"/>
          </a:p>
        </p:txBody>
      </p:sp>
      <p:sp>
        <p:nvSpPr>
          <p:cNvPr id="6" name="Text 4"/>
          <p:cNvSpPr/>
          <p:nvPr/>
        </p:nvSpPr>
        <p:spPr>
          <a:xfrm>
            <a:off x="1083588" y="2870240"/>
            <a:ext cx="3704273" cy="1270159"/>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Merangkum bagaimana Big Data Analytics digunakan di seluruh rantai sistem pangan: dari pertanian → pengolahan → distribusi → konsumsi.</a:t>
            </a:r>
            <a:endParaRPr lang="en-US" sz="1550" dirty="0"/>
          </a:p>
        </p:txBody>
      </p:sp>
      <p:sp>
        <p:nvSpPr>
          <p:cNvPr id="7" name="Shape 5"/>
          <p:cNvSpPr/>
          <p:nvPr/>
        </p:nvSpPr>
        <p:spPr>
          <a:xfrm>
            <a:off x="5207437" y="1909643"/>
            <a:ext cx="4215408" cy="2769513"/>
          </a:xfrm>
          <a:prstGeom prst="roundRect">
            <a:avLst>
              <a:gd name="adj" fmla="val 3962"/>
            </a:avLst>
          </a:prstGeom>
          <a:solidFill>
            <a:srgbClr val="272525"/>
          </a:solidFill>
          <a:ln w="22860">
            <a:solidFill>
              <a:srgbClr val="2A1999"/>
            </a:solidFill>
            <a:prstDash val="solid"/>
          </a:ln>
        </p:spPr>
      </p:sp>
      <p:sp>
        <p:nvSpPr>
          <p:cNvPr id="8" name="Shape 6"/>
          <p:cNvSpPr/>
          <p:nvPr/>
        </p:nvSpPr>
        <p:spPr>
          <a:xfrm>
            <a:off x="5184577" y="1909643"/>
            <a:ext cx="91440" cy="2769513"/>
          </a:xfrm>
          <a:prstGeom prst="roundRect">
            <a:avLst>
              <a:gd name="adj" fmla="val 91163"/>
            </a:avLst>
          </a:prstGeom>
          <a:solidFill>
            <a:srgbClr val="2B0AFF"/>
          </a:solidFill>
          <a:ln/>
        </p:spPr>
      </p:sp>
      <p:sp>
        <p:nvSpPr>
          <p:cNvPr id="9" name="Text 7"/>
          <p:cNvSpPr/>
          <p:nvPr/>
        </p:nvSpPr>
        <p:spPr>
          <a:xfrm>
            <a:off x="5497235" y="2130862"/>
            <a:ext cx="3704392" cy="620316"/>
          </a:xfrm>
          <a:prstGeom prst="rect">
            <a:avLst/>
          </a:prstGeom>
          <a:noFill/>
          <a:ln/>
        </p:spPr>
        <p:txBody>
          <a:bodyPr wrap="squar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Penerapan Konkret di Lapangan</a:t>
            </a:r>
            <a:endParaRPr lang="en-US" sz="1950" dirty="0"/>
          </a:p>
        </p:txBody>
      </p:sp>
      <p:sp>
        <p:nvSpPr>
          <p:cNvPr id="10" name="Text 8"/>
          <p:cNvSpPr/>
          <p:nvPr/>
        </p:nvSpPr>
        <p:spPr>
          <a:xfrm>
            <a:off x="5497235" y="2870240"/>
            <a:ext cx="3704392"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Menunjukkan implementasi nyata: precision agriculture, monitoring tanaman &amp; ternak, quality control makanan, dan optimasi supply chain berbasis data.</a:t>
            </a:r>
            <a:endParaRPr lang="en-US" sz="1550" dirty="0"/>
          </a:p>
        </p:txBody>
      </p:sp>
      <p:sp>
        <p:nvSpPr>
          <p:cNvPr id="11" name="Shape 9"/>
          <p:cNvSpPr/>
          <p:nvPr/>
        </p:nvSpPr>
        <p:spPr>
          <a:xfrm>
            <a:off x="9621203" y="1909643"/>
            <a:ext cx="4215289" cy="2769513"/>
          </a:xfrm>
          <a:prstGeom prst="roundRect">
            <a:avLst>
              <a:gd name="adj" fmla="val 3962"/>
            </a:avLst>
          </a:prstGeom>
          <a:solidFill>
            <a:srgbClr val="272525"/>
          </a:solidFill>
          <a:ln w="22860">
            <a:solidFill>
              <a:srgbClr val="2A1999"/>
            </a:solidFill>
            <a:prstDash val="solid"/>
          </a:ln>
        </p:spPr>
      </p:sp>
      <p:sp>
        <p:nvSpPr>
          <p:cNvPr id="12" name="Shape 10"/>
          <p:cNvSpPr/>
          <p:nvPr/>
        </p:nvSpPr>
        <p:spPr>
          <a:xfrm>
            <a:off x="9598343" y="1909643"/>
            <a:ext cx="91440" cy="2769513"/>
          </a:xfrm>
          <a:prstGeom prst="roundRect">
            <a:avLst>
              <a:gd name="adj" fmla="val 91163"/>
            </a:avLst>
          </a:prstGeom>
          <a:solidFill>
            <a:srgbClr val="2B0AFF"/>
          </a:solidFill>
          <a:ln/>
        </p:spPr>
      </p:sp>
      <p:sp>
        <p:nvSpPr>
          <p:cNvPr id="13" name="Text 11"/>
          <p:cNvSpPr/>
          <p:nvPr/>
        </p:nvSpPr>
        <p:spPr>
          <a:xfrm>
            <a:off x="9911001" y="2130862"/>
            <a:ext cx="3544729"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Identifikasi Tantangan Utama</a:t>
            </a:r>
            <a:endParaRPr lang="en-US" sz="1950" dirty="0"/>
          </a:p>
        </p:txBody>
      </p:sp>
      <p:sp>
        <p:nvSpPr>
          <p:cNvPr id="14" name="Text 12"/>
          <p:cNvSpPr/>
          <p:nvPr/>
        </p:nvSpPr>
        <p:spPr>
          <a:xfrm>
            <a:off x="9911001" y="2560082"/>
            <a:ext cx="3704273"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Menegaskan masalah kritis: infrastruktur terbatas, integrasi data yang belum optimal, isu privasi, dan hambatan adopsi teknologi di negara berkembang.</a:t>
            </a:r>
            <a:endParaRPr lang="en-US" sz="1550" dirty="0"/>
          </a:p>
        </p:txBody>
      </p:sp>
      <p:sp>
        <p:nvSpPr>
          <p:cNvPr id="15" name="Shape 13"/>
          <p:cNvSpPr/>
          <p:nvPr/>
        </p:nvSpPr>
        <p:spPr>
          <a:xfrm>
            <a:off x="2990851" y="4798217"/>
            <a:ext cx="4215289" cy="2459355"/>
          </a:xfrm>
          <a:prstGeom prst="roundRect">
            <a:avLst>
              <a:gd name="adj" fmla="val 4462"/>
            </a:avLst>
          </a:prstGeom>
          <a:solidFill>
            <a:srgbClr val="272525"/>
          </a:solidFill>
          <a:ln w="22860">
            <a:solidFill>
              <a:srgbClr val="2A1999"/>
            </a:solidFill>
            <a:prstDash val="solid"/>
          </a:ln>
        </p:spPr>
      </p:sp>
      <p:sp>
        <p:nvSpPr>
          <p:cNvPr id="16" name="Shape 14"/>
          <p:cNvSpPr/>
          <p:nvPr/>
        </p:nvSpPr>
        <p:spPr>
          <a:xfrm>
            <a:off x="2887980" y="4820985"/>
            <a:ext cx="91440" cy="2459355"/>
          </a:xfrm>
          <a:prstGeom prst="roundRect">
            <a:avLst>
              <a:gd name="adj" fmla="val 91163"/>
            </a:avLst>
          </a:prstGeom>
          <a:solidFill>
            <a:srgbClr val="2B0AFF"/>
          </a:solidFill>
          <a:ln/>
        </p:spPr>
      </p:sp>
      <p:sp>
        <p:nvSpPr>
          <p:cNvPr id="17" name="Text 15"/>
          <p:cNvSpPr/>
          <p:nvPr/>
        </p:nvSpPr>
        <p:spPr>
          <a:xfrm>
            <a:off x="3249871" y="5153184"/>
            <a:ext cx="3518416"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Peta Tren Riset (Bibliometrik)</a:t>
            </a:r>
            <a:endParaRPr lang="en-US" sz="1950" dirty="0"/>
          </a:p>
        </p:txBody>
      </p:sp>
      <p:sp>
        <p:nvSpPr>
          <p:cNvPr id="18" name="Text 16"/>
          <p:cNvSpPr/>
          <p:nvPr/>
        </p:nvSpPr>
        <p:spPr>
          <a:xfrm>
            <a:off x="3246358" y="5463342"/>
            <a:ext cx="3704273"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Menyajikan perkembangan penelitian dari tahun ke tahun, negara &amp; peneliti dominan, serta topik yang paling banyak diteliti dalam ekosistem agri-food analytics.</a:t>
            </a:r>
            <a:endParaRPr lang="en-US" sz="1550" dirty="0"/>
          </a:p>
        </p:txBody>
      </p:sp>
      <p:sp>
        <p:nvSpPr>
          <p:cNvPr id="19" name="Shape 17"/>
          <p:cNvSpPr/>
          <p:nvPr/>
        </p:nvSpPr>
        <p:spPr>
          <a:xfrm>
            <a:off x="7582079" y="4798218"/>
            <a:ext cx="4215408" cy="2459355"/>
          </a:xfrm>
          <a:prstGeom prst="roundRect">
            <a:avLst>
              <a:gd name="adj" fmla="val 4462"/>
            </a:avLst>
          </a:prstGeom>
          <a:solidFill>
            <a:srgbClr val="272525"/>
          </a:solidFill>
          <a:ln w="22860">
            <a:solidFill>
              <a:srgbClr val="2A1999"/>
            </a:solidFill>
            <a:prstDash val="solid"/>
          </a:ln>
        </p:spPr>
      </p:sp>
      <p:sp>
        <p:nvSpPr>
          <p:cNvPr id="20" name="Shape 18"/>
          <p:cNvSpPr/>
          <p:nvPr/>
        </p:nvSpPr>
        <p:spPr>
          <a:xfrm>
            <a:off x="7490639" y="4798218"/>
            <a:ext cx="91440" cy="2459355"/>
          </a:xfrm>
          <a:prstGeom prst="roundRect">
            <a:avLst>
              <a:gd name="adj" fmla="val 91163"/>
            </a:avLst>
          </a:prstGeom>
          <a:solidFill>
            <a:srgbClr val="2B0AFF"/>
          </a:solidFill>
          <a:ln/>
        </p:spPr>
      </p:sp>
      <p:sp>
        <p:nvSpPr>
          <p:cNvPr id="21" name="Text 19"/>
          <p:cNvSpPr/>
          <p:nvPr/>
        </p:nvSpPr>
        <p:spPr>
          <a:xfrm>
            <a:off x="7849017" y="5156691"/>
            <a:ext cx="3327202" cy="310158"/>
          </a:xfrm>
          <a:prstGeom prst="rect">
            <a:avLst/>
          </a:prstGeom>
          <a:noFill/>
          <a:ln/>
        </p:spPr>
        <p:txBody>
          <a:bodyPr wrap="none" lIns="0" tIns="0" rIns="0" bIns="0" rtlCol="0" anchor="t"/>
          <a:lstStyle/>
          <a:p>
            <a:pPr marL="0" indent="0" algn="l">
              <a:lnSpc>
                <a:spcPts val="2400"/>
              </a:lnSpc>
              <a:buNone/>
            </a:pPr>
            <a:r>
              <a:rPr lang="en-US" sz="1950" b="1" dirty="0">
                <a:solidFill>
                  <a:srgbClr val="E5E0DF"/>
                </a:solidFill>
                <a:latin typeface="Inter Bold" pitchFamily="34" charset="0"/>
                <a:ea typeface="Inter Bold" pitchFamily="34" charset="-122"/>
                <a:cs typeface="Inter Bold" pitchFamily="34" charset="-120"/>
              </a:rPr>
              <a:t>Arah Penelitian Selanjutnya</a:t>
            </a:r>
            <a:endParaRPr lang="en-US" sz="1950" dirty="0"/>
          </a:p>
        </p:txBody>
      </p:sp>
      <p:sp>
        <p:nvSpPr>
          <p:cNvPr id="22" name="Text 20"/>
          <p:cNvSpPr/>
          <p:nvPr/>
        </p:nvSpPr>
        <p:spPr>
          <a:xfrm>
            <a:off x="7849017" y="5543034"/>
            <a:ext cx="3704392" cy="1587698"/>
          </a:xfrm>
          <a:prstGeom prst="rect">
            <a:avLst/>
          </a:prstGeom>
          <a:noFill/>
          <a:ln/>
        </p:spPr>
        <p:txBody>
          <a:bodyPr wrap="square" lIns="0" tIns="0" rIns="0" bIns="0" rtlCol="0" anchor="t"/>
          <a:lstStyle/>
          <a:p>
            <a:pPr marL="0" indent="0" algn="l">
              <a:lnSpc>
                <a:spcPts val="2500"/>
              </a:lnSpc>
              <a:buNone/>
            </a:pPr>
            <a:r>
              <a:rPr lang="en-US" sz="1550" dirty="0">
                <a:solidFill>
                  <a:srgbClr val="E5E0DF"/>
                </a:solidFill>
                <a:latin typeface="Inter" pitchFamily="34" charset="0"/>
                <a:ea typeface="Inter" pitchFamily="34" charset="-122"/>
                <a:cs typeface="Inter" pitchFamily="34" charset="-120"/>
              </a:rPr>
              <a:t>Memberikan fondasi untuk riset lanjutan pada integrasi sistem data, pemanfaatan AI dalam pertanian, dan pengembangan sistem pangan cerdas yang berkelanjutan.</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70548" y="401122"/>
            <a:ext cx="7361039" cy="445651"/>
          </a:xfrm>
          <a:prstGeom prst="rect">
            <a:avLst/>
          </a:prstGeom>
          <a:noFill/>
          <a:ln/>
        </p:spPr>
        <p:txBody>
          <a:bodyPr wrap="none" lIns="0" tIns="0" rIns="0" bIns="0" rtlCol="0" anchor="t"/>
          <a:lstStyle/>
          <a:p>
            <a:pPr marL="0" indent="0" algn="l">
              <a:lnSpc>
                <a:spcPts val="3500"/>
              </a:lnSpc>
              <a:buNone/>
            </a:pPr>
            <a:r>
              <a:rPr lang="en-US" sz="2800" b="1" dirty="0">
                <a:solidFill>
                  <a:srgbClr val="FFFFFF"/>
                </a:solidFill>
                <a:latin typeface="Inter Bold" pitchFamily="34" charset="0"/>
                <a:ea typeface="Inter Bold" pitchFamily="34" charset="-122"/>
                <a:cs typeface="Inter Bold" pitchFamily="34" charset="-120"/>
              </a:rPr>
              <a:t>Pengembangan Riset ke Depan: Agri-Food</a:t>
            </a:r>
            <a:endParaRPr lang="en-US" sz="2800" dirty="0"/>
          </a:p>
        </p:txBody>
      </p:sp>
      <p:sp>
        <p:nvSpPr>
          <p:cNvPr id="3" name="Text 1"/>
          <p:cNvSpPr/>
          <p:nvPr/>
        </p:nvSpPr>
        <p:spPr>
          <a:xfrm>
            <a:off x="570548" y="1051797"/>
            <a:ext cx="13489305" cy="497799"/>
          </a:xfrm>
          <a:prstGeom prst="rect">
            <a:avLst/>
          </a:prstGeom>
          <a:noFill/>
          <a:ln/>
        </p:spPr>
        <p:txBody>
          <a:bodyPr wrap="none" lIns="0" tIns="0" rIns="0" bIns="0" rtlCol="0" anchor="t"/>
          <a:lstStyle/>
          <a:p>
            <a:pPr marL="0" indent="0" algn="l">
              <a:lnSpc>
                <a:spcPts val="1500"/>
              </a:lnSpc>
              <a:buNone/>
            </a:pPr>
            <a:r>
              <a:rPr lang="en-US" dirty="0">
                <a:solidFill>
                  <a:srgbClr val="E5E0DF"/>
                </a:solidFill>
                <a:latin typeface="Inter" pitchFamily="34" charset="0"/>
                <a:ea typeface="Inter" pitchFamily="34" charset="-122"/>
                <a:cs typeface="Inter" pitchFamily="34" charset="-120"/>
              </a:rPr>
              <a:t>Tujuh arah strategis pengembangan riset untuk mewujudkan sistem pangan yang lebih cerdas, inklusif, dan berkelanjutan.</a:t>
            </a:r>
            <a:endParaRPr lang="en-US" dirty="0"/>
          </a:p>
        </p:txBody>
      </p:sp>
      <p:pic>
        <p:nvPicPr>
          <p:cNvPr id="4" name="Image 0" descr="preencoded.png"/>
          <p:cNvPicPr>
            <a:picLocks noChangeAspect="1"/>
          </p:cNvPicPr>
          <p:nvPr/>
        </p:nvPicPr>
        <p:blipFill>
          <a:blip r:embed="rId3"/>
          <a:stretch>
            <a:fillRect/>
          </a:stretch>
        </p:blipFill>
        <p:spPr>
          <a:xfrm>
            <a:off x="570547" y="1363147"/>
            <a:ext cx="13111585" cy="5852160"/>
          </a:xfrm>
          <a:prstGeom prst="rect">
            <a:avLst/>
          </a:prstGeom>
        </p:spPr>
      </p:pic>
      <p:sp>
        <p:nvSpPr>
          <p:cNvPr id="6" name="Shape 2"/>
          <p:cNvSpPr/>
          <p:nvPr/>
        </p:nvSpPr>
        <p:spPr>
          <a:xfrm>
            <a:off x="570548" y="7330559"/>
            <a:ext cx="13924385" cy="497800"/>
          </a:xfrm>
          <a:prstGeom prst="roundRect">
            <a:avLst>
              <a:gd name="adj" fmla="val 12036"/>
            </a:avLst>
          </a:prstGeom>
          <a:solidFill>
            <a:srgbClr val="0A004D"/>
          </a:solidFill>
          <a:ln/>
        </p:spPr>
      </p:sp>
      <p:pic>
        <p:nvPicPr>
          <p:cNvPr id="7" name="Image 2" descr="preencoded.png"/>
          <p:cNvPicPr>
            <a:picLocks noChangeAspect="1"/>
          </p:cNvPicPr>
          <p:nvPr/>
        </p:nvPicPr>
        <p:blipFill>
          <a:blip r:embed="rId4"/>
          <a:stretch>
            <a:fillRect/>
          </a:stretch>
        </p:blipFill>
        <p:spPr>
          <a:xfrm>
            <a:off x="713184" y="7528679"/>
            <a:ext cx="178237" cy="142637"/>
          </a:xfrm>
          <a:prstGeom prst="rect">
            <a:avLst/>
          </a:prstGeom>
        </p:spPr>
      </p:pic>
      <p:sp>
        <p:nvSpPr>
          <p:cNvPr id="8" name="Text 3"/>
          <p:cNvSpPr/>
          <p:nvPr/>
        </p:nvSpPr>
        <p:spPr>
          <a:xfrm>
            <a:off x="1034058" y="7468672"/>
            <a:ext cx="12883158" cy="196096"/>
          </a:xfrm>
          <a:prstGeom prst="rect">
            <a:avLst/>
          </a:prstGeom>
          <a:noFill/>
          <a:ln/>
        </p:spPr>
        <p:txBody>
          <a:bodyPr wrap="none" lIns="0" tIns="0" rIns="0" bIns="0" rtlCol="0" anchor="t"/>
          <a:lstStyle/>
          <a:p>
            <a:pPr marL="0" indent="0" algn="l">
              <a:lnSpc>
                <a:spcPts val="1500"/>
              </a:lnSpc>
              <a:buNone/>
            </a:pPr>
            <a:r>
              <a:rPr lang="en-US" sz="1200" dirty="0">
                <a:solidFill>
                  <a:srgbClr val="FFFFFF"/>
                </a:solidFill>
                <a:latin typeface="Inter" pitchFamily="34" charset="0"/>
                <a:ea typeface="Inter" pitchFamily="34" charset="-122"/>
                <a:cs typeface="Inter" pitchFamily="34" charset="-120"/>
              </a:rPr>
              <a:t>Ketujuh arah riset ini saling melengkapi dan membentuk ekosistem inovasi agri-food yang </a:t>
            </a:r>
            <a:r>
              <a:rPr lang="en-US" sz="1200" dirty="0" err="1">
                <a:solidFill>
                  <a:srgbClr val="FFFFFF"/>
                </a:solidFill>
                <a:latin typeface="Inter" pitchFamily="34" charset="0"/>
                <a:ea typeface="Inter" pitchFamily="34" charset="-122"/>
                <a:cs typeface="Inter" pitchFamily="34" charset="-120"/>
              </a:rPr>
              <a:t>komprehensif</a:t>
            </a:r>
            <a:r>
              <a:rPr lang="en-US" sz="1200" dirty="0">
                <a:solidFill>
                  <a:srgbClr val="FFFFFF"/>
                </a:solidFill>
                <a:latin typeface="Inter" pitchFamily="34" charset="0"/>
                <a:ea typeface="Inter" pitchFamily="34" charset="-122"/>
                <a:cs typeface="Inter" pitchFamily="34" charset="-120"/>
              </a:rPr>
              <a:t> dari infrastruktur data hingga antarmuka yang ramah pengguna bagi petani.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996</Words>
  <Application>Microsoft Office PowerPoint</Application>
  <PresentationFormat>Custom</PresentationFormat>
  <Paragraphs>131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Inter Bold</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Angger Dimas</cp:lastModifiedBy>
  <cp:revision>4</cp:revision>
  <dcterms:created xsi:type="dcterms:W3CDTF">2026-04-29T22:22:43Z</dcterms:created>
  <dcterms:modified xsi:type="dcterms:W3CDTF">2026-04-29T22:36:52Z</dcterms:modified>
</cp:coreProperties>
</file>