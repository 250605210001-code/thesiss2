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00B5-7AFB-4A01-99FE-FBF686A8E5EC}" type="datetimeFigureOut">
              <a:rPr lang="id-ID" smtClean="0"/>
              <a:t>20/10/2025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0B0EB-2F10-42B0-96C9-D5B2C26858C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68420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00B5-7AFB-4A01-99FE-FBF686A8E5EC}" type="datetimeFigureOut">
              <a:rPr lang="id-ID" smtClean="0"/>
              <a:t>20/10/2025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0B0EB-2F10-42B0-96C9-D5B2C26858C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7994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00B5-7AFB-4A01-99FE-FBF686A8E5EC}" type="datetimeFigureOut">
              <a:rPr lang="id-ID" smtClean="0"/>
              <a:t>20/10/2025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0B0EB-2F10-42B0-96C9-D5B2C26858C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78102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00B5-7AFB-4A01-99FE-FBF686A8E5EC}" type="datetimeFigureOut">
              <a:rPr lang="id-ID" smtClean="0"/>
              <a:t>20/10/2025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0B0EB-2F10-42B0-96C9-D5B2C26858C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03541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00B5-7AFB-4A01-99FE-FBF686A8E5EC}" type="datetimeFigureOut">
              <a:rPr lang="id-ID" smtClean="0"/>
              <a:t>20/10/2025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0B0EB-2F10-42B0-96C9-D5B2C26858C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74377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00B5-7AFB-4A01-99FE-FBF686A8E5EC}" type="datetimeFigureOut">
              <a:rPr lang="id-ID" smtClean="0"/>
              <a:t>20/10/2025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0B0EB-2F10-42B0-96C9-D5B2C26858C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60141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00B5-7AFB-4A01-99FE-FBF686A8E5EC}" type="datetimeFigureOut">
              <a:rPr lang="id-ID" smtClean="0"/>
              <a:t>20/10/2025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0B0EB-2F10-42B0-96C9-D5B2C26858C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75895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00B5-7AFB-4A01-99FE-FBF686A8E5EC}" type="datetimeFigureOut">
              <a:rPr lang="id-ID" smtClean="0"/>
              <a:t>20/10/2025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0B0EB-2F10-42B0-96C9-D5B2C26858C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29206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00B5-7AFB-4A01-99FE-FBF686A8E5EC}" type="datetimeFigureOut">
              <a:rPr lang="id-ID" smtClean="0"/>
              <a:t>20/10/2025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0B0EB-2F10-42B0-96C9-D5B2C26858C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75682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00B5-7AFB-4A01-99FE-FBF686A8E5EC}" type="datetimeFigureOut">
              <a:rPr lang="id-ID" smtClean="0"/>
              <a:t>20/10/2025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0B0EB-2F10-42B0-96C9-D5B2C26858C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23311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00B5-7AFB-4A01-99FE-FBF686A8E5EC}" type="datetimeFigureOut">
              <a:rPr lang="id-ID" smtClean="0"/>
              <a:t>20/10/2025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0B0EB-2F10-42B0-96C9-D5B2C26858C0}" type="slidenum">
              <a:rPr lang="id-ID" smtClean="0"/>
              <a:t>‹#›</a:t>
            </a:fld>
            <a:endParaRPr lang="id-ID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0876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00B5-7AFB-4A01-99FE-FBF686A8E5EC}" type="datetimeFigureOut">
              <a:rPr lang="id-ID" smtClean="0"/>
              <a:t>20/10/2025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0B0EB-2F10-42B0-96C9-D5B2C26858C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36402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00B5-7AFB-4A01-99FE-FBF686A8E5EC}" type="datetimeFigureOut">
              <a:rPr lang="id-ID" smtClean="0"/>
              <a:t>20/10/2025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0B0EB-2F10-42B0-96C9-D5B2C26858C0}" type="slidenum">
              <a:rPr lang="id-ID" smtClean="0"/>
              <a:t>‹#›</a:t>
            </a:fld>
            <a:endParaRPr lang="id-ID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2822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00B5-7AFB-4A01-99FE-FBF686A8E5EC}" type="datetimeFigureOut">
              <a:rPr lang="id-ID" smtClean="0"/>
              <a:t>20/10/2025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0B0EB-2F10-42B0-96C9-D5B2C26858C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369822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00B5-7AFB-4A01-99FE-FBF686A8E5EC}" type="datetimeFigureOut">
              <a:rPr lang="id-ID" smtClean="0"/>
              <a:t>20/10/2025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0B0EB-2F10-42B0-96C9-D5B2C26858C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586644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00B5-7AFB-4A01-99FE-FBF686A8E5EC}" type="datetimeFigureOut">
              <a:rPr lang="id-ID" smtClean="0"/>
              <a:t>20/10/2025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0B0EB-2F10-42B0-96C9-D5B2C26858C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99391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000B5-7AFB-4A01-99FE-FBF686A8E5EC}" type="datetimeFigureOut">
              <a:rPr lang="id-ID" smtClean="0"/>
              <a:t>20/10/2025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CE0B0EB-2F10-42B0-96C9-D5B2C26858C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8806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E4B6F-B0E1-C706-998F-1A5364E36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4683" y="2404531"/>
            <a:ext cx="9608301" cy="1646302"/>
          </a:xfrm>
        </p:spPr>
        <p:txBody>
          <a:bodyPr/>
          <a:lstStyle/>
          <a:p>
            <a:pPr algn="ctr"/>
            <a:r>
              <a:rPr lang="en-US" sz="3200" dirty="0"/>
              <a:t>Hybrid Project Management between Traditional Software Development Lifecycle and Agile Based Product Development for Future Sustainability</a:t>
            </a:r>
            <a:endParaRPr lang="id-ID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A210F-F970-863B-928D-D5C522BC71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5365" y="4375298"/>
            <a:ext cx="7766936" cy="1096899"/>
          </a:xfrm>
        </p:spPr>
        <p:txBody>
          <a:bodyPr/>
          <a:lstStyle/>
          <a:p>
            <a:pPr algn="ctr"/>
            <a:r>
              <a:rPr lang="en-US" dirty="0"/>
              <a:t>250605210001 Adi Cahyono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674258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CF0A0-29D7-0CED-6DAA-9FA60E18D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Identitas</a:t>
            </a:r>
            <a:r>
              <a:rPr lang="en-US" dirty="0"/>
              <a:t> </a:t>
            </a:r>
            <a:r>
              <a:rPr lang="en-US" dirty="0" err="1"/>
              <a:t>Jurnal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F1C35-C494-D478-FADE-86D330107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3537"/>
            <a:ext cx="3980544" cy="3880773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Penulis</a:t>
            </a:r>
            <a:r>
              <a:rPr lang="en-US" dirty="0"/>
              <a:t> : </a:t>
            </a:r>
            <a:r>
              <a:rPr lang="id-ID" dirty="0"/>
              <a:t>Jason Leong, Kiu May Yee, Onalethata Baitsegi, Lingesvaran Palanisamy and R. Kanesaraj Ramasamy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Tahun</a:t>
            </a:r>
            <a:r>
              <a:rPr lang="en-US" b="1" dirty="0"/>
              <a:t> </a:t>
            </a:r>
            <a:r>
              <a:rPr lang="en-US" b="1" dirty="0" err="1"/>
              <a:t>terbit</a:t>
            </a:r>
            <a:r>
              <a:rPr lang="en-US" dirty="0"/>
              <a:t>: 2023</a:t>
            </a:r>
          </a:p>
          <a:p>
            <a:pPr marL="0" indent="0">
              <a:buNone/>
            </a:pPr>
            <a:r>
              <a:rPr lang="en-US" b="1" dirty="0" err="1"/>
              <a:t>Jurnal</a:t>
            </a:r>
            <a:r>
              <a:rPr lang="en-US" dirty="0"/>
              <a:t> : </a:t>
            </a:r>
            <a:r>
              <a:rPr lang="en-US" i="1" dirty="0"/>
              <a:t>Sustainability</a:t>
            </a:r>
          </a:p>
          <a:p>
            <a:pPr marL="0" indent="0">
              <a:buNone/>
            </a:pPr>
            <a:r>
              <a:rPr lang="en-US" b="1" dirty="0"/>
              <a:t>Publisher</a:t>
            </a:r>
            <a:r>
              <a:rPr lang="en-US" dirty="0"/>
              <a:t> : MDPI</a:t>
            </a:r>
            <a:endParaRPr lang="id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06549C-D348-09F8-AB3B-4678C0666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878" y="1743537"/>
            <a:ext cx="7153275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632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F8878-5F8B-5C48-528C-3E061DD91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Tujuan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9A7ED-BA89-A7BA-1960-23B11F941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id-ID" dirty="0"/>
              <a:t>Mengevaluasi </a:t>
            </a:r>
            <a:r>
              <a:rPr lang="id-ID" b="1" dirty="0"/>
              <a:t>keberlanjutan manajemen proyek </a:t>
            </a:r>
            <a:r>
              <a:rPr lang="id-ID" dirty="0"/>
              <a:t>dengan menggabungkan </a:t>
            </a:r>
            <a:r>
              <a:rPr lang="id-ID" b="1" dirty="0"/>
              <a:t>metodologi tradisional (Waterfall, Spiral, V-Model, dll)</a:t>
            </a:r>
            <a:r>
              <a:rPr lang="id-ID" dirty="0"/>
              <a:t> dan </a:t>
            </a:r>
            <a:r>
              <a:rPr lang="id-ID" b="1" dirty="0"/>
              <a:t>metodologi Agile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id-ID" dirty="0"/>
              <a:t>Mengusulkan </a:t>
            </a:r>
            <a:r>
              <a:rPr lang="id-ID" b="1" dirty="0"/>
              <a:t>pendekatan hybrid</a:t>
            </a:r>
            <a:r>
              <a:rPr lang="id-ID" dirty="0"/>
              <a:t> yang memadukan kekuatan keduanya untuk meningkatkan efektivitas proyek perangkat lunak</a:t>
            </a:r>
          </a:p>
        </p:txBody>
      </p:sp>
    </p:spTree>
    <p:extLst>
      <p:ext uri="{BB962C8B-B14F-4D97-AF65-F5344CB8AC3E}">
        <p14:creationId xmlns:p14="http://schemas.microsoft.com/office/powerpoint/2010/main" val="699158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9451F-8111-AB64-2C03-847E94DC9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Metode </a:t>
            </a:r>
            <a:r>
              <a:rPr lang="en-US" dirty="0" err="1"/>
              <a:t>Penelitian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480E7-5480-54D0-E4AC-CF47D112C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id-ID" b="1" dirty="0"/>
              <a:t>Systematic Literature Review (SLR)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id-ID" dirty="0"/>
              <a:t>Sumber data</a:t>
            </a:r>
            <a:r>
              <a:rPr lang="en-US" dirty="0"/>
              <a:t> </a:t>
            </a:r>
            <a:r>
              <a:rPr lang="en-US" dirty="0" err="1"/>
              <a:t>diambil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id-ID" b="1" dirty="0"/>
              <a:t>IEEE, ScienceDirect, ACM, Springer, IGI Global, ResearchGate</a:t>
            </a:r>
            <a:r>
              <a:rPr lang="id-ID" dirty="0"/>
              <a:t>, dan </a:t>
            </a:r>
            <a:r>
              <a:rPr lang="id-ID" b="1" dirty="0"/>
              <a:t>Taylor &amp; Francis</a:t>
            </a:r>
            <a:r>
              <a:rPr lang="en-US" b="1" dirty="0"/>
              <a:t> </a:t>
            </a:r>
            <a:r>
              <a:rPr lang="en-US" dirty="0" err="1"/>
              <a:t>selama</a:t>
            </a:r>
            <a:r>
              <a:rPr lang="en-US" dirty="0"/>
              <a:t> 6 </a:t>
            </a:r>
            <a:r>
              <a:rPr lang="en-US" dirty="0" err="1"/>
              <a:t>tahun</a:t>
            </a:r>
            <a:r>
              <a:rPr lang="en-US" dirty="0"/>
              <a:t> </a:t>
            </a:r>
            <a:r>
              <a:rPr lang="en-US" dirty="0" err="1"/>
              <a:t>terakhir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666823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666BE-9276-8395-AEDF-7B3E07865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Pertanyaan Penelitian (RQ)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15B19-2777-9989-0E54-193FBC02D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id-ID" dirty="0"/>
              <a:t>Apa saja metode yang digunakan dalam manajemen proyek tradisional dan Agile?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id-ID" dirty="0"/>
              <a:t>Bagaimana penerapan manajemen perubahan (change management) tradisional diintegrasikan ke Agile?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id-ID" dirty="0"/>
              <a:t>Bagaimana Agile mengelola aspek </a:t>
            </a:r>
            <a:r>
              <a:rPr lang="id-ID" b="1" dirty="0"/>
              <a:t>waktu dan biaya</a:t>
            </a:r>
            <a:r>
              <a:rPr lang="id-ID" dirty="0"/>
              <a:t> dalam manajemen proyek?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id-ID" dirty="0"/>
              <a:t>Mengapa diperlukan pendekatan </a:t>
            </a:r>
            <a:r>
              <a:rPr lang="id-ID" b="1" dirty="0"/>
              <a:t>hybrid</a:t>
            </a:r>
            <a:r>
              <a:rPr lang="id-ID" dirty="0"/>
              <a:t> antara Agile dan metode tradisional?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928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F34D-CEE6-C663-F538-7C5455D71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Pembahasan</a:t>
            </a:r>
            <a:endParaRPr lang="id-ID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ACE526-DA6B-EC35-5DEF-10D07A501F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3029156"/>
              </p:ext>
            </p:extLst>
          </p:nvPr>
        </p:nvGraphicFramePr>
        <p:xfrm>
          <a:off x="677863" y="2181066"/>
          <a:ext cx="10383426" cy="3291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461142">
                  <a:extLst>
                    <a:ext uri="{9D8B030D-6E8A-4147-A177-3AD203B41FA5}">
                      <a16:colId xmlns:a16="http://schemas.microsoft.com/office/drawing/2014/main" val="1028431267"/>
                    </a:ext>
                  </a:extLst>
                </a:gridCol>
                <a:gridCol w="3461142">
                  <a:extLst>
                    <a:ext uri="{9D8B030D-6E8A-4147-A177-3AD203B41FA5}">
                      <a16:colId xmlns:a16="http://schemas.microsoft.com/office/drawing/2014/main" val="1957366587"/>
                    </a:ext>
                  </a:extLst>
                </a:gridCol>
                <a:gridCol w="3461142">
                  <a:extLst>
                    <a:ext uri="{9D8B030D-6E8A-4147-A177-3AD203B41FA5}">
                      <a16:colId xmlns:a16="http://schemas.microsoft.com/office/drawing/2014/main" val="38445230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d-ID" b="1" dirty="0"/>
                        <a:t>Aspek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d-ID" b="1" dirty="0"/>
                        <a:t>Tradisional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d-ID" b="1" dirty="0"/>
                        <a:t>Agile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5033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d-ID" dirty="0"/>
                        <a:t>Pendekatan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d-ID"/>
                        <a:t>Linear, terstruktur (Waterfall, Spiral, V-Model)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/>
                        <a:t>Iteratif dan adaptif (Scrum, XP, Kanban)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2221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d-ID"/>
                        <a:t>Fleksibilitas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d-ID"/>
                        <a:t>Rendah terhadap perubahan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d-ID"/>
                        <a:t>Sangat fleksibel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1483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d-ID"/>
                        <a:t>Kualitas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d-ID"/>
                        <a:t>Terjamin karena dokumentasi ketat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d-ID"/>
                        <a:t>Lebih dinamis, fokus pada kolaborasi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218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d-ID"/>
                        <a:t>Risiko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Analisis risiko di awal proyek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d-ID"/>
                        <a:t>Risiko dikelola tiap iterasi/sprint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331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d-ID"/>
                        <a:t>Komunikasi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d-ID"/>
                        <a:t>Formal, dokumen dominan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n-NO" dirty="0"/>
                        <a:t>Interaksi langsung dan umpan balik cepat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002838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4F39B6D3-3ED7-F022-1D3C-9A181D99CC23}"/>
              </a:ext>
            </a:extLst>
          </p:cNvPr>
          <p:cNvSpPr txBox="1">
            <a:spLocks/>
          </p:cNvSpPr>
          <p:nvPr/>
        </p:nvSpPr>
        <p:spPr>
          <a:xfrm>
            <a:off x="677334" y="1644417"/>
            <a:ext cx="8596668" cy="41131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d-ID" dirty="0"/>
              <a:t>Perbandingan antara Metode Tradisional dan Agile</a:t>
            </a:r>
          </a:p>
        </p:txBody>
      </p:sp>
    </p:spTree>
    <p:extLst>
      <p:ext uri="{BB962C8B-B14F-4D97-AF65-F5344CB8AC3E}">
        <p14:creationId xmlns:p14="http://schemas.microsoft.com/office/powerpoint/2010/main" val="3968808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3DE02-1B51-F05A-96F3-1EA0AA29F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AA8E8-5E4E-E72D-36B0-215A75E33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Pembahasan</a:t>
            </a:r>
            <a:r>
              <a:rPr lang="en-US" dirty="0"/>
              <a:t> </a:t>
            </a:r>
            <a:r>
              <a:rPr lang="en-US" dirty="0" err="1"/>
              <a:t>lanjutan</a:t>
            </a:r>
            <a:endParaRPr lang="id-ID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2022F24-6C0F-BDFC-FB71-1B7EAD3C0CD5}"/>
              </a:ext>
            </a:extLst>
          </p:cNvPr>
          <p:cNvSpPr txBox="1">
            <a:spLocks/>
          </p:cNvSpPr>
          <p:nvPr/>
        </p:nvSpPr>
        <p:spPr>
          <a:xfrm>
            <a:off x="677334" y="1644417"/>
            <a:ext cx="8596668" cy="41131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d-ID" dirty="0"/>
              <a:t>Integrasi Manajemen Perubahan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DD51BF-19AC-B904-4151-B4E1504A4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id-ID" dirty="0"/>
              <a:t>Agile memandang perubahan sebagai bagian alami proyek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id-ID" dirty="0"/>
              <a:t>Mengurangi birokrasi dokumen yang kaku seperti pada Waterfall.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id-ID" dirty="0"/>
              <a:t>perubahan yang terlalu sering bisa memperpanjang waktu dan biaya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179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5B9D9-2E92-923F-F6BE-93F2B0AFC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CE1D3-6040-60EE-0899-77D0E3E74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Pembahasan</a:t>
            </a:r>
            <a:r>
              <a:rPr lang="en-US" dirty="0"/>
              <a:t> </a:t>
            </a:r>
            <a:r>
              <a:rPr lang="en-US" dirty="0" err="1"/>
              <a:t>lanjutan</a:t>
            </a:r>
            <a:endParaRPr lang="id-ID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D175E28-E93D-8872-D085-49F84A35EE78}"/>
              </a:ext>
            </a:extLst>
          </p:cNvPr>
          <p:cNvSpPr txBox="1">
            <a:spLocks/>
          </p:cNvSpPr>
          <p:nvPr/>
        </p:nvSpPr>
        <p:spPr>
          <a:xfrm>
            <a:off x="677334" y="1644417"/>
            <a:ext cx="8596668" cy="41131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d-ID" dirty="0"/>
              <a:t>Pengelolaan Waktu dan Biaya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83A250-0266-02B9-E6D0-6666927C5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id-ID" dirty="0"/>
              <a:t>Agile menggunakan </a:t>
            </a:r>
            <a:r>
              <a:rPr lang="id-ID" i="1" dirty="0"/>
              <a:t>estimation tools</a:t>
            </a:r>
            <a:r>
              <a:rPr lang="id-ID" dirty="0"/>
              <a:t> seperti </a:t>
            </a:r>
            <a:r>
              <a:rPr lang="id-ID" b="1" dirty="0"/>
              <a:t>Planning Poker</a:t>
            </a:r>
            <a:r>
              <a:rPr lang="id-ID" dirty="0"/>
              <a:t>, </a:t>
            </a:r>
            <a:r>
              <a:rPr lang="id-ID" b="1" dirty="0"/>
              <a:t>Fibonacci Scale</a:t>
            </a:r>
            <a:r>
              <a:rPr lang="id-ID" dirty="0"/>
              <a:t>, dan </a:t>
            </a:r>
            <a:r>
              <a:rPr lang="id-ID" b="1" dirty="0"/>
              <a:t>User Story Points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id-ID" dirty="0"/>
              <a:t>Estimasi bersifat kolaboratif, berbasis tim, bukan individu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id-ID" dirty="0"/>
              <a:t>Faktor penghambat: anggota tim baru, perubahan alat, tanggung jawab ganda, dan keterlambatan umpan balik stakeholder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467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B2A2B-1683-3EB1-273F-F43E752F1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Kesimpulan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76BF0-0191-3148-F25E-1A02B0F0A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id-ID" dirty="0"/>
              <a:t>Kombinasi </a:t>
            </a:r>
            <a:r>
              <a:rPr lang="id-ID" b="1" dirty="0"/>
              <a:t>Agile + Tradisional (Hybrid)</a:t>
            </a:r>
            <a:r>
              <a:rPr lang="id-ID" dirty="0"/>
              <a:t> lebih efektif untuk keberlanjutan proyek perangkat lunak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id-ID" dirty="0"/>
              <a:t>Agile mempercepat waktu rilis, meningkatkan kualitas, dan memudahkan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id-ID" dirty="0"/>
              <a:t>Pendekatan hybrid mampu menyeimbangkan efisiensi biaya tradisional dengan fleksibilitas Agileaptasi terhadap perubahan bisnis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id-ID" dirty="0"/>
              <a:t>kesuksesan bergantung pada kesiapan SDM, proses, dan budaya organisasi yang mendukung</a:t>
            </a:r>
          </a:p>
        </p:txBody>
      </p:sp>
    </p:spTree>
    <p:extLst>
      <p:ext uri="{BB962C8B-B14F-4D97-AF65-F5344CB8AC3E}">
        <p14:creationId xmlns:p14="http://schemas.microsoft.com/office/powerpoint/2010/main" val="66107004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66</TotalTime>
  <Words>369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Hybrid Project Management between Traditional Software Development Lifecycle and Agile Based Product Development for Future Sustainability</vt:lpstr>
      <vt:lpstr>Identitas Jurnal</vt:lpstr>
      <vt:lpstr>Tujuan</vt:lpstr>
      <vt:lpstr>Metode Penelitian</vt:lpstr>
      <vt:lpstr>Pertanyaan Penelitian (RQ)</vt:lpstr>
      <vt:lpstr>Pembahasan</vt:lpstr>
      <vt:lpstr>Pembahasan lanjutan</vt:lpstr>
      <vt:lpstr>Pembahasan lanjutan</vt:lpstr>
      <vt:lpstr>Kesimpulan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</dc:creator>
  <cp:lastModifiedBy>adi</cp:lastModifiedBy>
  <cp:revision>3</cp:revision>
  <dcterms:created xsi:type="dcterms:W3CDTF">2025-10-20T03:57:38Z</dcterms:created>
  <dcterms:modified xsi:type="dcterms:W3CDTF">2025-10-20T05:04:29Z</dcterms:modified>
</cp:coreProperties>
</file>