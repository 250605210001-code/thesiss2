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61" r:id="rId8"/>
    <p:sldId id="260" r:id="rId9"/>
    <p:sldId id="276" r:id="rId10"/>
    <p:sldId id="271" r:id="rId11"/>
    <p:sldId id="267" r:id="rId12"/>
    <p:sldId id="275" r:id="rId13"/>
  </p:sldIdLst>
  <p:sldSz cx="12192000" cy="6858000"/>
  <p:notesSz cx="6858000" cy="9144000"/>
  <p:defaultTextStyle>
    <a:defPPr rtl="0"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Penulis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718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1BF87F-531B-4BDC-A663-C6A67C7BEC47}" type="datetime1">
              <a:rPr lang="id-ID" smtClean="0"/>
              <a:t>03/11/2025</a:t>
            </a:fld>
            <a:endParaRPr lang="id-ID" dirty="0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 noProof="0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8E6FE-7462-41B9-93AA-C863C0ADF1B6}" type="datetime1">
              <a:rPr lang="id-ID" smtClean="0"/>
              <a:pPr/>
              <a:t>03/11/2025</a:t>
            </a:fld>
            <a:endParaRPr lang="id-ID" dirty="0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d-ID" noProof="0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 noProof="0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9841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4305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5156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338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C669-39B8-2727-1E68-1742C6F3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94548577-30F6-DDF4-076A-E13928A29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EA0B4A20-DB6B-A85B-F8F3-31CCE4D43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6E87E7BE-A596-4BDD-77A6-6580F68FC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3056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7688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3596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noProof="0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556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d-ID" noProof="0"/>
          </a:p>
        </p:txBody>
      </p:sp>
      <p:sp>
        <p:nvSpPr>
          <p:cNvPr id="4" name="Persegi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/>
          </a:p>
        </p:txBody>
      </p:sp>
      <p:sp>
        <p:nvSpPr>
          <p:cNvPr id="11" name="Bentuk bebas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9" name="Bentuk bebas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grpSp>
        <p:nvGrpSpPr>
          <p:cNvPr id="6" name="Gr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Bentuk bebas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  <p:sp>
          <p:nvSpPr>
            <p:cNvPr id="16" name="Bentuk bebas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</p:grpSp>
      <p:sp>
        <p:nvSpPr>
          <p:cNvPr id="22" name="Bentuk bebas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8" name="Bentuk bebas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Bentuk bebas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5" name="Bentuk bebas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>
              <a:latin typeface="+mn-lt"/>
            </a:endParaRPr>
          </a:p>
        </p:txBody>
      </p:sp>
      <p:sp>
        <p:nvSpPr>
          <p:cNvPr id="6" name="Bentuk bebas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Bentuk bebas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  <p:sp>
          <p:nvSpPr>
            <p:cNvPr id="8" name="Bentuk bebas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</p:grp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51A9B3F0-40B4-402B-BD3D-2ECBD63B1A7A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Bagi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rsegi panjang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/>
          </a:p>
        </p:txBody>
      </p:sp>
      <p:sp>
        <p:nvSpPr>
          <p:cNvPr id="12" name="Bentuk bebas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4" name="Bentuk bebas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5" name="Bentuk bebas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3" name="Judul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d-ID" noProof="0"/>
              <a:t>Klik untuk mengedit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C66938A1-13E2-4EB3-A9CB-9E58C4A52052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Judul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entuk bebas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d-ID" noProof="0"/>
          </a:p>
        </p:txBody>
      </p:sp>
      <p:grpSp>
        <p:nvGrpSpPr>
          <p:cNvPr id="6" name="Gr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Bentuk bebas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  <p:sp>
          <p:nvSpPr>
            <p:cNvPr id="16" name="Bentuk bebas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</p:grpSp>
      <p:sp>
        <p:nvSpPr>
          <p:cNvPr id="17" name="Bentuk bebas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8" name="Bentuk bebas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Bentuk bebas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5" name="Bentuk bebas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E39C280-D1CE-4C14-BB73-A42EFC7AA47C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ga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Bentuk bebas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  <p:sp>
          <p:nvSpPr>
            <p:cNvPr id="14" name="Bentuk bebas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</p:grpSp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CF46B1F-6981-4F1A-BBFE-32021A818C89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tip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8" name="Tampungan Teks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id-ID" noProof="0"/>
              <a:t>“</a:t>
            </a:r>
          </a:p>
        </p:txBody>
      </p:sp>
      <p:sp>
        <p:nvSpPr>
          <p:cNvPr id="10" name="Tampungan Teks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</p:txBody>
      </p:sp>
      <p:sp>
        <p:nvSpPr>
          <p:cNvPr id="9" name="Tampungan Teks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id-ID" noProof="0"/>
              <a:t>”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4E9CC79-66B9-422C-A06E-4D4DCD64D4AF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/>
          </a:p>
        </p:txBody>
      </p:sp>
      <p:sp>
        <p:nvSpPr>
          <p:cNvPr id="31" name="Judul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6" name="Tampungan Gamba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10" name="Tampungan Teks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11" name="Tampungan Teks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7" name="Tampungan Gamba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12" name="Tampungan Teks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13" name="Tampungan Teks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8" name="Tampungan Gamba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14" name="Tampungan Teks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15" name="Tampungan Teks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9" name="Tampungan Gamba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16" name="Tampungan Teks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17" name="Tampungan Teks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B48DF3E-AD03-4E2F-9529-7FF1401E86D2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  <p:sp>
        <p:nvSpPr>
          <p:cNvPr id="19" name="Bentuk bebas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1" name="Bentuk bebas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5" name="Bentuk bebas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7" name="Bentuk bebas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8" name="Bentuk bebas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9" name="Bentuk bebas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uruh 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Judul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6" name="Tampungan Gamba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31" name="Tampungan Teks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32" name="Tampungan Teks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33" name="Tampungan Gamba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34" name="Tampungan Teks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35" name="Tampungan Teks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36" name="Tampungan Gamba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37" name="Tampungan Teks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38" name="Tampungan Teks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39" name="Tampungan Gamba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40" name="Tampungan Teks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41" name="Tampungan Teks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42" name="Tampungan Gamba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43" name="Tampungan Teks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44" name="Tampungan Teks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45" name="Tampungan Gamba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46" name="Tampungan Teks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47" name="Tampungan Teks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48" name="Tampungan Gamba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49" name="Tampungan Teks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50" name="Tampungan Teks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51" name="Tampungan Gamba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52" name="Tampungan Teks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Nama</a:t>
            </a:r>
          </a:p>
        </p:txBody>
      </p:sp>
      <p:sp>
        <p:nvSpPr>
          <p:cNvPr id="53" name="Tampungan Teks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d-ID" noProof="0"/>
              <a:t>Judul</a:t>
            </a:r>
          </a:p>
        </p:txBody>
      </p:sp>
      <p:sp>
        <p:nvSpPr>
          <p:cNvPr id="18" name="Tampungan Tanggal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313E8A0-0BEB-4298-AEE4-B7CCF6490583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22" name="Tampungan Kaki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23" name="Tampungan Nomor Slide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aris wakt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entuk bebas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5" name="Bentuk bebas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5FB06667-F309-4D31-9192-FA935AFD6E2C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Bentuk bebas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5" name="Bentuk bebas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6" name="Bentuk bebas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Bentuk bebas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  <p:sp>
          <p:nvSpPr>
            <p:cNvPr id="8" name="Bentuk bebas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</p:grp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864F080E-00EF-45FB-879B-543FC5219789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  <p:sp>
        <p:nvSpPr>
          <p:cNvPr id="13" name="Tampungan Konten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4" name="Tampungan Konten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5" name="Tampungan Konten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Bentuk bebas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5" name="Bentuk bebas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>
              <a:latin typeface="+mn-lt"/>
            </a:endParaRPr>
          </a:p>
        </p:txBody>
      </p:sp>
      <p:sp>
        <p:nvSpPr>
          <p:cNvPr id="6" name="Bentuk bebas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>
              <a:latin typeface="+mn-lt"/>
            </a:endParaRPr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Bentuk bebas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  <p:sp>
          <p:nvSpPr>
            <p:cNvPr id="8" name="Bentuk bebas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>
                <a:latin typeface="+mn-lt"/>
              </a:endParaRPr>
            </a:p>
          </p:txBody>
        </p:sp>
      </p:grpSp>
      <p:sp>
        <p:nvSpPr>
          <p:cNvPr id="10" name="Tampungan Tanggal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FED39403-5B82-4458-B314-3455B2B980C6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11" name="Tampungan Kaki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13" name="Tampungan Konten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4" name="Tampungan Konten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5" name="Tampungan Konten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6" name="Tampungan Konten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7" name="Tampungan Konten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12" name="Tampungan Nomor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Akh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d-ID" noProof="0"/>
          </a:p>
        </p:txBody>
      </p:sp>
      <p:sp>
        <p:nvSpPr>
          <p:cNvPr id="4" name="Persegi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/>
          </a:p>
        </p:txBody>
      </p:sp>
      <p:grpSp>
        <p:nvGrpSpPr>
          <p:cNvPr id="6" name="Gr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Bentuk bebas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  <p:sp>
          <p:nvSpPr>
            <p:cNvPr id="16" name="Bentuk bebas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id-ID" noProof="0"/>
            </a:p>
          </p:txBody>
        </p:sp>
      </p:grpSp>
      <p:sp>
        <p:nvSpPr>
          <p:cNvPr id="22" name="Bentuk bebas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  <p:sp>
        <p:nvSpPr>
          <p:cNvPr id="17" name="Bentuk bebas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id-ID" noProof="0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id-ID" noProof="0"/>
              <a:t>Klik untuk mengedit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C829E6E2-2665-481C-9621-3949D48D67CF}" type="datetime1">
              <a:rPr lang="id-ID" noProof="0" smtClean="0"/>
              <a:t>03/11/2025</a:t>
            </a:fld>
            <a:endParaRPr lang="id-ID" noProof="0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id-ID" noProof="0"/>
              <a:t>JUDUL PRESENTASI</a:t>
            </a:r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d-ID" noProof="0" smtClean="0"/>
              <a:pPr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268" y="1854866"/>
            <a:ext cx="10616468" cy="2387600"/>
          </a:xfrm>
        </p:spPr>
        <p:txBody>
          <a:bodyPr rtlCol="0"/>
          <a:lstStyle/>
          <a:p>
            <a:pPr rtl="0"/>
            <a:r>
              <a:rPr lang="en-US" dirty="0"/>
              <a:t>Improvements for the Planning Process in the Scrum Method</a:t>
            </a:r>
            <a:endParaRPr lang="id-ID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9179" y="5003134"/>
            <a:ext cx="5213642" cy="806675"/>
          </a:xfrm>
        </p:spPr>
        <p:txBody>
          <a:bodyPr rtlCol="0"/>
          <a:lstStyle/>
          <a:p>
            <a:pPr algn="ctr" rtl="0"/>
            <a:r>
              <a:rPr lang="id-ID" dirty="0"/>
              <a:t>250605210001 Adi Cahyono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59" y="423589"/>
            <a:ext cx="4569631" cy="1325563"/>
          </a:xfrm>
        </p:spPr>
        <p:txBody>
          <a:bodyPr rtlCol="0"/>
          <a:lstStyle/>
          <a:p>
            <a:pPr rtl="0"/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Jurnal</a:t>
            </a:r>
            <a:endParaRPr lang="id-ID" dirty="0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id-ID" smtClean="0"/>
              <a:pPr/>
              <a:t>2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E160FB-290D-EDC7-9767-8ED99F60B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77" y="2037953"/>
            <a:ext cx="4395713" cy="3366815"/>
          </a:xfrm>
        </p:spPr>
        <p:txBody>
          <a:bodyPr/>
          <a:lstStyle/>
          <a:p>
            <a:r>
              <a:rPr lang="id-ID" sz="1600" b="1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Penulis</a:t>
            </a:r>
            <a:r>
              <a:rPr lang="id-ID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Miroslav Žáček, Adéla Hamplová, Jan Tyrychtr, Ivan Vrana</a:t>
            </a:r>
            <a:endParaRPr lang="en-US" sz="160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d-ID" sz="1600" b="1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 terbit</a:t>
            </a:r>
            <a:r>
              <a:rPr lang="id-ID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202</a:t>
            </a:r>
            <a:r>
              <a:rPr lang="en-US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d-ID" sz="1600" b="1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Jurnal</a:t>
            </a:r>
            <a:r>
              <a:rPr lang="id-ID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id-ID" sz="1600" i="1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Sciences</a:t>
            </a:r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d-ID" sz="1600" b="1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Publisher</a:t>
            </a:r>
            <a:r>
              <a:rPr lang="id-ID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MDPI</a:t>
            </a:r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id-ID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B5AF72-7638-B532-B91C-9D82BE72E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65" y="712390"/>
            <a:ext cx="7361135" cy="543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id-ID" dirty="0"/>
              <a:t>Pendahuluan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rtl="0"/>
            <a:r>
              <a:rPr lang="en-US" dirty="0"/>
              <a:t>L</a:t>
            </a:r>
            <a:r>
              <a:rPr lang="id-ID" dirty="0"/>
              <a:t>ingkungan pengembangan perangkat lunak yang dinamis, metodologi agile seperti Scrum sangat penting untuk memastikan proyek berjalan efektif dan adaptif terhadap perubahan kebutuhan pengguna</a:t>
            </a:r>
            <a:r>
              <a:rPr lang="en-US" dirty="0"/>
              <a:t>. </a:t>
            </a:r>
            <a:r>
              <a:rPr lang="en-US" dirty="0" err="1"/>
              <a:t>Penentuan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sprint </a:t>
            </a:r>
            <a:r>
              <a:rPr lang="en-US" dirty="0" err="1"/>
              <a:t>sering</a:t>
            </a:r>
            <a:r>
              <a:rPr lang="en-US" dirty="0"/>
              <a:t> kali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sistematis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matematis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menimbulkan</a:t>
            </a:r>
            <a:r>
              <a:rPr lang="en-US" dirty="0"/>
              <a:t> </a:t>
            </a:r>
            <a:r>
              <a:rPr lang="en-US" dirty="0" err="1"/>
              <a:t>ketidakkonsistenan</a:t>
            </a:r>
            <a:r>
              <a:rPr lang="en-US" dirty="0"/>
              <a:t>, bias, dan </a:t>
            </a:r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, yang </a:t>
            </a:r>
            <a:r>
              <a:rPr lang="en-US" dirty="0" err="1"/>
              <a:t>berujung</a:t>
            </a:r>
            <a:r>
              <a:rPr lang="en-US" dirty="0"/>
              <a:t> pada </a:t>
            </a:r>
            <a:r>
              <a:rPr lang="en-US" dirty="0" err="1"/>
              <a:t>keterlambatan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dan </a:t>
            </a:r>
            <a:r>
              <a:rPr lang="en-US" dirty="0" err="1"/>
              <a:t>ketidakpuasan</a:t>
            </a:r>
            <a:r>
              <a:rPr lang="en-US" dirty="0"/>
              <a:t> </a:t>
            </a:r>
            <a:r>
              <a:rPr lang="en-US" dirty="0" err="1"/>
              <a:t>klien</a:t>
            </a:r>
            <a:endParaRPr lang="id-ID" dirty="0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id-ID" smtClean="0"/>
              <a:pPr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Tujuan</a:t>
            </a:r>
            <a:endParaRPr lang="id-ID" dirty="0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6DB30D50-1377-244D-A1A4-32FB836C1F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51879A71-2180-4EBA-91E8-7FA7510286B3}" type="datetime1">
              <a:rPr lang="id-ID" smtClean="0"/>
              <a:t>03/11/2025</a:t>
            </a:fld>
            <a:endParaRPr lang="id-ID" dirty="0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50A86E01-62BB-5145-A6C3-515717DD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d-ID" smtClean="0"/>
              <a:pPr rtl="0"/>
              <a:t>4</a:t>
            </a:fld>
            <a:endParaRPr lang="id-ID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FC9C3F-AC94-1F29-F7D9-5F0860CE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d-ID" dirty="0"/>
              <a:t>Mengoptimalkan proses perencanaan sprint dalam Scrum dengan mengintegrasikan metode matematis BeCoMe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Mengurangi subjektivitas dan konflik dalam pengambilan keputusan tim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Meningkatkan efisiensi dan akurasi pemilihan tugas sprint dengan pendekatan berbasis data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</a:t>
            </a:r>
            <a:r>
              <a:rPr lang="id-ID" dirty="0"/>
              <a:t>emberikan kerangka alternatif bagi manajer proyek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id-ID" dirty="0"/>
              <a:t> membuat keputusan yang lebih objektif tanpa menghilangkan prinsip fleksibilitas agile</a:t>
            </a:r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351768"/>
            <a:ext cx="9779183" cy="1325563"/>
          </a:xfrm>
        </p:spPr>
        <p:txBody>
          <a:bodyPr rtlCol="0"/>
          <a:lstStyle/>
          <a:p>
            <a:pPr rtl="0"/>
            <a:r>
              <a:rPr lang="en-US" dirty="0"/>
              <a:t>Metode</a:t>
            </a:r>
            <a:endParaRPr lang="id-ID" dirty="0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A79A912-225F-BE40-9F3E-025552444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id-ID"/>
              <a:t>JUDUL PRESENTASI</a:t>
            </a:r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d-ID" smtClean="0"/>
              <a:pPr rtl="0"/>
              <a:t>5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63934A-1B80-1B30-C454-5F8801C3F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d-ID" dirty="0"/>
              <a:t>Menggabungkan pendapat ahli menggunakan skala Likert (0–100);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Perhitungan sederhana bisa dilakukan di Excel;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Memberikan hasil kuantitatif yang dapat dijadikan dasar keputusan tim</a:t>
            </a:r>
          </a:p>
        </p:txBody>
      </p:sp>
      <p:sp>
        <p:nvSpPr>
          <p:cNvPr id="9" name="Judul 1">
            <a:extLst>
              <a:ext uri="{FF2B5EF4-FFF2-40B4-BE49-F238E27FC236}">
                <a16:creationId xmlns:a16="http://schemas.microsoft.com/office/drawing/2014/main" id="{55BF4E66-D4C3-AB07-3F0A-7CFE1BA21322}"/>
              </a:ext>
            </a:extLst>
          </p:cNvPr>
          <p:cNvSpPr txBox="1">
            <a:spLocks/>
          </p:cNvSpPr>
          <p:nvPr/>
        </p:nvSpPr>
        <p:spPr>
          <a:xfrm>
            <a:off x="1167492" y="966336"/>
            <a:ext cx="5970727" cy="8745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Soft Systems Methodology (SSM)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31DB-02DE-CA76-23F8-69B9F3AD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51E25AF-ABC9-DFDA-0164-0E88DABD7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351768"/>
            <a:ext cx="9779183" cy="1325563"/>
          </a:xfrm>
        </p:spPr>
        <p:txBody>
          <a:bodyPr rtlCol="0"/>
          <a:lstStyle/>
          <a:p>
            <a:pPr rtl="0"/>
            <a:r>
              <a:rPr lang="en-US" dirty="0"/>
              <a:t>Metode </a:t>
            </a:r>
            <a:r>
              <a:rPr lang="en-US" sz="2400" dirty="0" err="1"/>
              <a:t>lanjutan</a:t>
            </a:r>
            <a:endParaRPr lang="id-ID" dirty="0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2CDA7DA-F35D-7E1F-7998-3DED39D63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d-ID" smtClean="0"/>
              <a:pPr rtl="0"/>
              <a:t>6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7D2348-9281-7104-9B12-11270423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d-ID" dirty="0"/>
              <a:t>Identifikasi masalah menggunakan Rich Picture;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Analisis komponen dengan CATWOE;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Pembuatan Conceptual Model;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Perbandingan model dengan realitas;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Implementasi solusi yang “secara sosial dapat diterima”</a:t>
            </a:r>
          </a:p>
        </p:txBody>
      </p:sp>
      <p:sp>
        <p:nvSpPr>
          <p:cNvPr id="9" name="Judul 1">
            <a:extLst>
              <a:ext uri="{FF2B5EF4-FFF2-40B4-BE49-F238E27FC236}">
                <a16:creationId xmlns:a16="http://schemas.microsoft.com/office/drawing/2014/main" id="{D35F5EC8-F4FF-3510-C966-E35289431B8D}"/>
              </a:ext>
            </a:extLst>
          </p:cNvPr>
          <p:cNvSpPr txBox="1">
            <a:spLocks/>
          </p:cNvSpPr>
          <p:nvPr/>
        </p:nvSpPr>
        <p:spPr>
          <a:xfrm>
            <a:off x="1167492" y="966336"/>
            <a:ext cx="7652043" cy="8745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Metode </a:t>
            </a:r>
            <a:r>
              <a:rPr lang="en-US" sz="2800" dirty="0" err="1"/>
              <a:t>BeCoMe</a:t>
            </a:r>
            <a:r>
              <a:rPr lang="en-US" sz="2800" dirty="0"/>
              <a:t> (Best Compromise Method)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94817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rtlCol="0"/>
          <a:lstStyle/>
          <a:p>
            <a:pPr rtl="0"/>
            <a:r>
              <a:rPr lang="en-US" dirty="0" err="1"/>
              <a:t>Pembahasan</a:t>
            </a:r>
            <a:endParaRPr lang="id-ID" dirty="0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987CCF58-9B83-4A4F-8CA9-3D9C9BB7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id-ID" smtClean="0"/>
              <a:pPr rtl="0"/>
              <a:t>7</a:t>
            </a:fld>
            <a:endParaRPr lang="id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AFF227-8678-4096-FB33-E7F63138C152}"/>
              </a:ext>
            </a:extLst>
          </p:cNvPr>
          <p:cNvSpPr txBox="1"/>
          <p:nvPr/>
        </p:nvSpPr>
        <p:spPr>
          <a:xfrm>
            <a:off x="501446" y="1723484"/>
            <a:ext cx="9188245" cy="4615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Dalam paper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menunjukan</a:t>
            </a:r>
            <a:r>
              <a:rPr lang="en-US" dirty="0"/>
              <a:t> </a:t>
            </a:r>
            <a:r>
              <a:rPr lang="id-ID" dirty="0"/>
              <a:t>hasil studi kasus pada perusahaan perangkat lunak dengan 126 karyawan yang menerapkan Scrum. Tim proyek mengalami konflik dalam menentukan tugas sprint keempat.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Dengan menerapkan BeCoMe, konflik dapat diselesaikan secara objektif melalui perhitungan matematis yang menggabungkan opini seluruh anggota tim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Ditemukan kompromi optimal 9 tugas untuk sprint berikutnya (berbeda dengan keputusan awal 13 tugas yang didominasi oleh manajer proyek).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Metode ini membantu meningkatkan motivasi, rasa keadilan, dan partisipasi tim.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BeCoMe juga dibandingkan dengan Weighted Shortest Job First (WSJF) — hasilnya menunjukkan bahwa BeCoMe lebih unggul dalam aspek konsensus tim dan objektivitas pemilihan tugas</a:t>
            </a:r>
          </a:p>
        </p:txBody>
      </p:sp>
    </p:spTree>
    <p:extLst>
      <p:ext uri="{BB962C8B-B14F-4D97-AF65-F5344CB8AC3E}">
        <p14:creationId xmlns:p14="http://schemas.microsoft.com/office/powerpoint/2010/main" val="333569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en-US" dirty="0"/>
              <a:t>Kesimpulan</a:t>
            </a:r>
            <a:endParaRPr lang="id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 rtl="0">
              <a:buFont typeface="+mj-lt"/>
              <a:buAutoNum type="arabicPeriod"/>
            </a:pPr>
            <a:r>
              <a:rPr lang="id-ID" dirty="0"/>
              <a:t>Proses perencanaan sprint dalam Scrum masih rentan terhadap bias, subjektivitas, dan konflik interpersonal.</a:t>
            </a:r>
            <a:endParaRPr lang="en-US" dirty="0"/>
          </a:p>
          <a:p>
            <a:pPr marL="457200" indent="-457200" rtl="0">
              <a:buFont typeface="+mj-lt"/>
              <a:buAutoNum type="arabicPeriod"/>
            </a:pPr>
            <a:r>
              <a:rPr lang="id-ID" dirty="0"/>
              <a:t>Integrasi metode BeCoMe menawarkan pendekatan yang lebih objektif, terstruktur, dan inklusif.</a:t>
            </a:r>
            <a:endParaRPr lang="en-US" dirty="0"/>
          </a:p>
          <a:p>
            <a:pPr marL="457200" indent="-457200" rtl="0">
              <a:buFont typeface="+mj-lt"/>
              <a:buAutoNum type="arabicPeriod"/>
            </a:pPr>
            <a:r>
              <a:rPr lang="id-ID" dirty="0"/>
              <a:t>BeCoMe dapat digunakan sebagai alat bantu keputusan, bukan pengganti fleksibilitas agile.Studi kasus membuktikan peningkatan efektivitas dan konsensus tim.</a:t>
            </a:r>
            <a:endParaRPr lang="en-US" dirty="0"/>
          </a:p>
          <a:p>
            <a:pPr marL="457200" indent="-457200" rtl="0">
              <a:buFont typeface="+mj-lt"/>
              <a:buAutoNum type="arabicPeriod"/>
            </a:pPr>
            <a:r>
              <a:rPr lang="id-ID" dirty="0"/>
              <a:t>Penelitian lanjutan diperlukan untuk mengukur dampak BeCoMe secara empiris terhadap keberhasilan proyek agile</a:t>
            </a:r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id-ID" smtClean="0"/>
              <a:pPr rtl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2178" y="1476325"/>
            <a:ext cx="6220278" cy="2387600"/>
          </a:xfrm>
        </p:spPr>
        <p:txBody>
          <a:bodyPr rtlCol="0"/>
          <a:lstStyle/>
          <a:p>
            <a:pPr rtl="0"/>
            <a:r>
              <a:rPr lang="id-ID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69_TF45331398_Win32" id="{F0444880-C702-4261-A48F-CB5967707C8F}" vid="{4E136AF5-FC91-4907-8B2C-104F28C7A544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Presentasi universal</Template>
  <TotalTime>31</TotalTime>
  <Words>412</Words>
  <Application>Microsoft Office PowerPoint</Application>
  <PresentationFormat>Widescreen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Tema Office</vt:lpstr>
      <vt:lpstr>Improvements for the Planning Process in the Scrum Method</vt:lpstr>
      <vt:lpstr>Identitas Jurnal</vt:lpstr>
      <vt:lpstr>Pendahuluan</vt:lpstr>
      <vt:lpstr>Tujuan</vt:lpstr>
      <vt:lpstr>Metode</vt:lpstr>
      <vt:lpstr>Metode lanjutan</vt:lpstr>
      <vt:lpstr>Pembahasan</vt:lpstr>
      <vt:lpstr>Kesimpulan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</dc:creator>
  <cp:lastModifiedBy>adi</cp:lastModifiedBy>
  <cp:revision>1</cp:revision>
  <dcterms:created xsi:type="dcterms:W3CDTF">2025-11-03T02:11:24Z</dcterms:created>
  <dcterms:modified xsi:type="dcterms:W3CDTF">2025-11-03T02:42:36Z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