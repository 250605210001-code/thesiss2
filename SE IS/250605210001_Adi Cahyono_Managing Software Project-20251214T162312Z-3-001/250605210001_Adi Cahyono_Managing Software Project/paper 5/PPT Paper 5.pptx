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33162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6367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106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683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5863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2290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8672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3823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3475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19624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4721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4769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3389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0905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8386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88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8C70B-120C-416D-AE85-EBB0688C3186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F17B649-71A5-48C7-9C96-B511CFB686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6785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13075-FB94-853A-7499-D6B055435C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D" sz="2800" dirty="0"/>
              <a:t>EVALUASI ALAT PENDUKUNG PADA MANAJEMEN PROYEK PERANGKAT LUNAK : UNTUK PENGEMBANGAN PERANGKAT LUNAK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E7B62-2B62-ED95-A880-DE5D3F3E82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NIM: 250605210001</a:t>
            </a:r>
          </a:p>
          <a:p>
            <a:r>
              <a:rPr lang="pl-PL" dirty="0"/>
              <a:t>NAMA: ADI CAHYONO</a:t>
            </a:r>
          </a:p>
        </p:txBody>
      </p:sp>
    </p:spTree>
    <p:extLst>
      <p:ext uri="{BB962C8B-B14F-4D97-AF65-F5344CB8AC3E}">
        <p14:creationId xmlns:p14="http://schemas.microsoft.com/office/powerpoint/2010/main" val="381615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6F140-8E71-4FDD-B336-453BD99D2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Identitas</a:t>
            </a:r>
            <a:r>
              <a:rPr lang="en-US" dirty="0"/>
              <a:t> Jurnal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44BF5-9290-B08C-AD00-B0B70DCE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4475"/>
            <a:ext cx="5266266" cy="3880773"/>
          </a:xfrm>
        </p:spPr>
        <p:txBody>
          <a:bodyPr/>
          <a:lstStyle/>
          <a:p>
            <a:pPr marL="0" indent="0">
              <a:buNone/>
            </a:pPr>
            <a:r>
              <a:rPr lang="en-ID" dirty="0" err="1"/>
              <a:t>Jurnal</a:t>
            </a:r>
            <a:r>
              <a:rPr lang="en-ID" dirty="0"/>
              <a:t> : </a:t>
            </a:r>
            <a:r>
              <a:rPr lang="en-ID" dirty="0" err="1"/>
              <a:t>AnoaTIK</a:t>
            </a:r>
            <a:r>
              <a:rPr lang="en-ID" dirty="0"/>
              <a:t>: </a:t>
            </a:r>
            <a:r>
              <a:rPr lang="en-ID" dirty="0" err="1"/>
              <a:t>Jurnal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dan </a:t>
            </a:r>
            <a:r>
              <a:rPr lang="en-ID" dirty="0" err="1"/>
              <a:t>Komputer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Penulis</a:t>
            </a:r>
            <a:r>
              <a:rPr lang="en-ID" dirty="0"/>
              <a:t> : Muhammad Andrean Hidayatullah, </a:t>
            </a:r>
            <a:r>
              <a:rPr lang="en-ID" dirty="0" err="1"/>
              <a:t>Ageng</a:t>
            </a:r>
            <a:r>
              <a:rPr lang="en-ID" dirty="0"/>
              <a:t>, Muhammad 'Ainul </a:t>
            </a:r>
            <a:r>
              <a:rPr lang="en-ID" dirty="0" err="1"/>
              <a:t>Yaqin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Terbit</a:t>
            </a:r>
            <a:r>
              <a:rPr lang="en-ID" dirty="0"/>
              <a:t> : Vol. 2 No. 1 (2024)</a:t>
            </a:r>
          </a:p>
          <a:p>
            <a:pPr marL="0" indent="0">
              <a:buNone/>
            </a:pPr>
            <a:r>
              <a:rPr lang="en-ID" dirty="0" err="1"/>
              <a:t>Penerbit</a:t>
            </a:r>
            <a:r>
              <a:rPr lang="en-ID" dirty="0"/>
              <a:t> : </a:t>
            </a:r>
            <a:r>
              <a:rPr lang="sv-SE" dirty="0"/>
              <a:t>Program Studi Ilmu Komputer Fakultas Matematika dan Ilmu Pengetahuan Alam Universitas Halu Oleo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C3750B-8C16-9633-2475-B1CD6D40A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514475"/>
            <a:ext cx="5859719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64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9FB1-70D3-9F08-B580-17EAC0B03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Pendahuluan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3B590-4876-721F-1C84-5AF2C9008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aspek</a:t>
            </a:r>
            <a:r>
              <a:rPr lang="en-ID" dirty="0"/>
              <a:t> fundamental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modern, </a:t>
            </a:r>
            <a:r>
              <a:rPr lang="en-ID" dirty="0" err="1"/>
              <a:t>terutama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meningkatnya</a:t>
            </a:r>
            <a:r>
              <a:rPr lang="en-ID" dirty="0"/>
              <a:t> </a:t>
            </a:r>
            <a:r>
              <a:rPr lang="en-ID" dirty="0" err="1"/>
              <a:t>kompleksitas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dan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koordinasi</a:t>
            </a:r>
            <a:r>
              <a:rPr lang="en-ID" dirty="0"/>
              <a:t> </a:t>
            </a:r>
            <a:r>
              <a:rPr lang="en-ID" dirty="0" err="1"/>
              <a:t>tim</a:t>
            </a:r>
            <a:r>
              <a:rPr lang="en-ID" dirty="0"/>
              <a:t> yang </a:t>
            </a:r>
            <a:r>
              <a:rPr lang="en-ID" dirty="0" err="1"/>
              <a:t>efektif</a:t>
            </a:r>
            <a:r>
              <a:rPr lang="en-ID" dirty="0"/>
              <a:t>. </a:t>
            </a:r>
            <a:r>
              <a:rPr lang="en-ID" dirty="0" err="1"/>
              <a:t>Pentingnya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bantu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perencanaan</a:t>
            </a:r>
            <a:r>
              <a:rPr lang="en-ID" dirty="0"/>
              <a:t>, </a:t>
            </a:r>
            <a:r>
              <a:rPr lang="en-ID" dirty="0" err="1"/>
              <a:t>pelacakan</a:t>
            </a:r>
            <a:r>
              <a:rPr lang="en-ID" dirty="0"/>
              <a:t>, </a:t>
            </a:r>
            <a:r>
              <a:rPr lang="en-ID" dirty="0" err="1"/>
              <a:t>dokumentasi</a:t>
            </a:r>
            <a:r>
              <a:rPr lang="en-ID" dirty="0"/>
              <a:t>, dan </a:t>
            </a:r>
            <a:r>
              <a:rPr lang="en-ID" dirty="0" err="1"/>
              <a:t>kolaborasi</a:t>
            </a:r>
            <a:r>
              <a:rPr lang="en-ID" dirty="0"/>
              <a:t>. </a:t>
            </a: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pemilihan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bantu</a:t>
            </a:r>
            <a:r>
              <a:rPr lang="en-ID" dirty="0"/>
              <a:t> yang </a:t>
            </a:r>
            <a:r>
              <a:rPr lang="en-ID" dirty="0" err="1"/>
              <a:t>tepat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tantangan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perbedaan</a:t>
            </a:r>
            <a:r>
              <a:rPr lang="en-ID" dirty="0"/>
              <a:t> </a:t>
            </a:r>
            <a:r>
              <a:rPr lang="en-ID" dirty="0" err="1"/>
              <a:t>skala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,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kolaborasi</a:t>
            </a:r>
            <a:r>
              <a:rPr lang="en-ID" dirty="0"/>
              <a:t>, dan </a:t>
            </a:r>
            <a:r>
              <a:rPr lang="en-ID" dirty="0" err="1"/>
              <a:t>keterbatasan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pada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5406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872E-E4D6-5233-2828-C163738F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Tujuan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F6F20-D10D-0480-02F0-0FAD81D61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Mengevaluasi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bantu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kriteria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 yang </a:t>
            </a:r>
            <a:r>
              <a:rPr lang="en-ID" dirty="0" err="1"/>
              <a:t>disusun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skema</a:t>
            </a:r>
            <a:r>
              <a:rPr lang="en-ID" dirty="0"/>
              <a:t> </a:t>
            </a:r>
            <a:r>
              <a:rPr lang="en-ID" dirty="0" err="1"/>
              <a:t>karakterisasi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SDLC.</a:t>
            </a:r>
          </a:p>
          <a:p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yang paling </a:t>
            </a:r>
            <a:r>
              <a:rPr lang="en-ID" dirty="0" err="1"/>
              <a:t>efektif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menilai</a:t>
            </a:r>
            <a:r>
              <a:rPr lang="en-ID" dirty="0"/>
              <a:t> </a:t>
            </a:r>
            <a:r>
              <a:rPr lang="en-ID" dirty="0" err="1"/>
              <a:t>kemudahan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, </a:t>
            </a:r>
            <a:r>
              <a:rPr lang="en-ID" dirty="0" err="1"/>
              <a:t>fitur</a:t>
            </a:r>
            <a:r>
              <a:rPr lang="en-ID" dirty="0"/>
              <a:t>,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integrasi</a:t>
            </a:r>
            <a:r>
              <a:rPr lang="en-ID" dirty="0"/>
              <a:t>, </a:t>
            </a:r>
            <a:r>
              <a:rPr lang="en-ID" dirty="0" err="1"/>
              <a:t>fleksibilitas</a:t>
            </a:r>
            <a:r>
              <a:rPr lang="en-ID" dirty="0"/>
              <a:t>, </a:t>
            </a:r>
            <a:r>
              <a:rPr lang="en-ID" dirty="0" err="1"/>
              <a:t>skalabilitas</a:t>
            </a:r>
            <a:r>
              <a:rPr lang="en-ID" dirty="0"/>
              <a:t>, dan </a:t>
            </a:r>
            <a:r>
              <a:rPr lang="en-ID" dirty="0" err="1"/>
              <a:t>dukungan</a:t>
            </a:r>
            <a:r>
              <a:rPr lang="en-ID" dirty="0"/>
              <a:t> </a:t>
            </a:r>
            <a:r>
              <a:rPr lang="en-ID" dirty="0" err="1"/>
              <a:t>teknis</a:t>
            </a:r>
            <a:r>
              <a:rPr lang="en-ID" dirty="0"/>
              <a:t>.</a:t>
            </a:r>
          </a:p>
          <a:p>
            <a:r>
              <a:rPr lang="en-ID" dirty="0" err="1"/>
              <a:t>Mencari</a:t>
            </a:r>
            <a:r>
              <a:rPr lang="en-ID" dirty="0"/>
              <a:t> </a:t>
            </a:r>
            <a:r>
              <a:rPr lang="en-ID" dirty="0" err="1"/>
              <a:t>rekomendasi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terbaik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konteks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6684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22AF1-A464-5129-321D-A5263D573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Metode dan </a:t>
            </a:r>
            <a:r>
              <a:rPr lang="en-US" dirty="0" err="1"/>
              <a:t>Subjek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36460-E5B5-83AC-9E15-602D8435F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Systematic Literature Review (SLR)</a:t>
            </a:r>
          </a:p>
          <a:p>
            <a:r>
              <a:rPr lang="en-ID" dirty="0" err="1"/>
              <a:t>Subjek</a:t>
            </a:r>
            <a:r>
              <a:rPr lang="en-ID" dirty="0"/>
              <a:t> </a:t>
            </a:r>
            <a:r>
              <a:rPr lang="en-ID" dirty="0" err="1"/>
              <a:t>evaluasi</a:t>
            </a:r>
            <a:r>
              <a:rPr lang="en-ID" dirty="0"/>
              <a:t> </a:t>
            </a:r>
            <a:r>
              <a:rPr lang="en-ID" dirty="0" err="1"/>
              <a:t>mencakup</a:t>
            </a:r>
            <a:r>
              <a:rPr lang="en-ID" dirty="0"/>
              <a:t> lima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:</a:t>
            </a:r>
          </a:p>
          <a:p>
            <a:pPr>
              <a:buFont typeface="+mj-lt"/>
              <a:buAutoNum type="arabicPeriod"/>
            </a:pPr>
            <a:r>
              <a:rPr lang="en-ID" dirty="0"/>
              <a:t>Asana</a:t>
            </a:r>
          </a:p>
          <a:p>
            <a:pPr>
              <a:buFont typeface="+mj-lt"/>
              <a:buAutoNum type="arabicPeriod"/>
            </a:pPr>
            <a:r>
              <a:rPr lang="en-ID" dirty="0"/>
              <a:t>Jira</a:t>
            </a:r>
          </a:p>
          <a:p>
            <a:pPr>
              <a:buFont typeface="+mj-lt"/>
              <a:buAutoNum type="arabicPeriod"/>
            </a:pPr>
            <a:r>
              <a:rPr lang="en-ID" dirty="0"/>
              <a:t>Microsoft Project</a:t>
            </a:r>
          </a:p>
          <a:p>
            <a:pPr>
              <a:buFont typeface="+mj-lt"/>
              <a:buAutoNum type="arabicPeriod"/>
            </a:pPr>
            <a:r>
              <a:rPr lang="en-ID" dirty="0"/>
              <a:t>Docker</a:t>
            </a:r>
          </a:p>
          <a:p>
            <a:pPr>
              <a:buFont typeface="+mj-lt"/>
              <a:buAutoNum type="arabicPeriod"/>
            </a:pPr>
            <a:r>
              <a:rPr lang="en-ID" dirty="0"/>
              <a:t>Trello</a:t>
            </a:r>
          </a:p>
        </p:txBody>
      </p:sp>
    </p:spTree>
    <p:extLst>
      <p:ext uri="{BB962C8B-B14F-4D97-AF65-F5344CB8AC3E}">
        <p14:creationId xmlns:p14="http://schemas.microsoft.com/office/powerpoint/2010/main" val="2660277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B6595-49F7-8B4B-F647-311A299B8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Pembahasan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B9C50-8E9E-6F2F-2393-599BDAAD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0091"/>
            <a:ext cx="8596668" cy="4581272"/>
          </a:xfrm>
        </p:spPr>
        <p:txBody>
          <a:bodyPr>
            <a:normAutofit lnSpcReduction="10000"/>
          </a:bodyPr>
          <a:lstStyle/>
          <a:p>
            <a:r>
              <a:rPr lang="en-ID" dirty="0"/>
              <a:t>Asana: </a:t>
            </a:r>
            <a:r>
              <a:rPr lang="en-ID" dirty="0" err="1"/>
              <a:t>unggul</a:t>
            </a:r>
            <a:r>
              <a:rPr lang="en-ID" dirty="0"/>
              <a:t> pada </a:t>
            </a:r>
            <a:r>
              <a:rPr lang="en-ID" dirty="0" err="1"/>
              <a:t>aspek</a:t>
            </a:r>
            <a:r>
              <a:rPr lang="en-ID" dirty="0"/>
              <a:t> </a:t>
            </a:r>
            <a:r>
              <a:rPr lang="en-ID" dirty="0" err="1"/>
              <a:t>perencanaan</a:t>
            </a:r>
            <a:r>
              <a:rPr lang="en-ID" dirty="0"/>
              <a:t>, </a:t>
            </a:r>
            <a:r>
              <a:rPr lang="en-ID" dirty="0" err="1"/>
              <a:t>analisis</a:t>
            </a:r>
            <a:r>
              <a:rPr lang="en-ID" dirty="0"/>
              <a:t>, dan </a:t>
            </a:r>
            <a:r>
              <a:rPr lang="en-ID" dirty="0" err="1"/>
              <a:t>kolaborasi</a:t>
            </a:r>
            <a:r>
              <a:rPr lang="en-ID" dirty="0"/>
              <a:t>; </a:t>
            </a:r>
            <a:r>
              <a:rPr lang="en-ID" dirty="0" err="1"/>
              <a:t>cocok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tim</a:t>
            </a:r>
            <a:r>
              <a:rPr lang="en-ID" dirty="0"/>
              <a:t> non-</a:t>
            </a:r>
            <a:r>
              <a:rPr lang="en-ID" dirty="0" err="1"/>
              <a:t>teknis</a:t>
            </a:r>
            <a:r>
              <a:rPr lang="en-ID" dirty="0"/>
              <a:t>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pada </a:t>
            </a:r>
            <a:r>
              <a:rPr lang="en-ID" dirty="0" err="1"/>
              <a:t>integrasi</a:t>
            </a:r>
            <a:r>
              <a:rPr lang="en-ID" dirty="0"/>
              <a:t> </a:t>
            </a:r>
            <a:r>
              <a:rPr lang="en-ID" dirty="0" err="1"/>
              <a:t>teknis</a:t>
            </a:r>
            <a:r>
              <a:rPr lang="en-ID" dirty="0"/>
              <a:t> dan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.</a:t>
            </a:r>
          </a:p>
          <a:p>
            <a:r>
              <a:rPr lang="en-ID" dirty="0"/>
              <a:t>Jira: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paling </a:t>
            </a:r>
            <a:r>
              <a:rPr lang="en-ID" dirty="0" err="1"/>
              <a:t>lengkap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, </a:t>
            </a:r>
            <a:r>
              <a:rPr lang="en-ID" dirty="0" err="1"/>
              <a:t>terutama</a:t>
            </a:r>
            <a:r>
              <a:rPr lang="en-ID" dirty="0"/>
              <a:t> pada </a:t>
            </a:r>
            <a:r>
              <a:rPr lang="en-ID" dirty="0" err="1"/>
              <a:t>manajemen</a:t>
            </a:r>
            <a:r>
              <a:rPr lang="en-ID" dirty="0"/>
              <a:t> backlog, sprint, bug tracking,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kinerja</a:t>
            </a:r>
            <a:r>
              <a:rPr lang="en-ID" dirty="0"/>
              <a:t>, </a:t>
            </a:r>
            <a:r>
              <a:rPr lang="en-ID" dirty="0" err="1"/>
              <a:t>integrasi</a:t>
            </a:r>
            <a:r>
              <a:rPr lang="en-ID" dirty="0"/>
              <a:t> platform,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dokumentasi</a:t>
            </a:r>
            <a:r>
              <a:rPr lang="en-ID" dirty="0"/>
              <a:t>. Skor </a:t>
            </a:r>
            <a:r>
              <a:rPr lang="en-ID" dirty="0" err="1"/>
              <a:t>tertinggi</a:t>
            </a:r>
            <a:r>
              <a:rPr lang="en-ID" dirty="0"/>
              <a:t> di </a:t>
            </a:r>
            <a:r>
              <a:rPr lang="en-ID" dirty="0" err="1"/>
              <a:t>hampir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aspek</a:t>
            </a:r>
            <a:r>
              <a:rPr lang="en-ID" dirty="0"/>
              <a:t>.</a:t>
            </a:r>
          </a:p>
          <a:p>
            <a:r>
              <a:rPr lang="en-ID" dirty="0"/>
              <a:t>Microsoft Project: </a:t>
            </a:r>
            <a:r>
              <a:rPr lang="en-ID" dirty="0" err="1"/>
              <a:t>kuat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perencanaan</a:t>
            </a:r>
            <a:r>
              <a:rPr lang="en-ID" dirty="0"/>
              <a:t>, </a:t>
            </a:r>
            <a:r>
              <a:rPr lang="en-ID" dirty="0" err="1"/>
              <a:t>penjadwalan</a:t>
            </a:r>
            <a:r>
              <a:rPr lang="en-ID" dirty="0"/>
              <a:t>, dan </a:t>
            </a:r>
            <a:r>
              <a:rPr lang="en-ID" dirty="0" err="1"/>
              <a:t>pelaporan</a:t>
            </a:r>
            <a:r>
              <a:rPr lang="en-ID" dirty="0"/>
              <a:t>,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optimal pada </a:t>
            </a:r>
            <a:r>
              <a:rPr lang="en-ID" dirty="0" err="1"/>
              <a:t>integrasi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dan </a:t>
            </a:r>
            <a:r>
              <a:rPr lang="en-ID" dirty="0" err="1"/>
              <a:t>otomatisasi</a:t>
            </a:r>
            <a:r>
              <a:rPr lang="en-ID" dirty="0"/>
              <a:t> </a:t>
            </a:r>
            <a:r>
              <a:rPr lang="en-ID" dirty="0" err="1"/>
              <a:t>teknis</a:t>
            </a:r>
            <a:r>
              <a:rPr lang="en-ID" dirty="0"/>
              <a:t>.</a:t>
            </a:r>
          </a:p>
          <a:p>
            <a:r>
              <a:rPr lang="en-ID" dirty="0"/>
              <a:t>Docker: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kuat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tools deployment dan </a:t>
            </a:r>
            <a:r>
              <a:rPr lang="en-ID" dirty="0" err="1"/>
              <a:t>implementasi</a:t>
            </a:r>
            <a:r>
              <a:rPr lang="en-ID" dirty="0"/>
              <a:t>;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penuh</a:t>
            </a:r>
            <a:r>
              <a:rPr lang="en-ID" dirty="0"/>
              <a:t>.</a:t>
            </a:r>
          </a:p>
          <a:p>
            <a:r>
              <a:rPr lang="en-ID" dirty="0"/>
              <a:t>Trello: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dan </a:t>
            </a:r>
            <a:r>
              <a:rPr lang="en-ID" dirty="0" err="1"/>
              <a:t>fleksibel</a:t>
            </a:r>
            <a:r>
              <a:rPr lang="en-ID" dirty="0"/>
              <a:t>, </a:t>
            </a:r>
            <a:r>
              <a:rPr lang="en-ID" dirty="0" err="1"/>
              <a:t>namun</a:t>
            </a:r>
            <a:r>
              <a:rPr lang="en-ID" dirty="0"/>
              <a:t> minim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lanjut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pelacakan</a:t>
            </a:r>
            <a:r>
              <a:rPr lang="en-ID" dirty="0"/>
              <a:t> bug, </a:t>
            </a:r>
            <a:r>
              <a:rPr lang="en-ID" dirty="0" err="1"/>
              <a:t>integrasi</a:t>
            </a:r>
            <a:r>
              <a:rPr lang="en-ID" dirty="0"/>
              <a:t> </a:t>
            </a:r>
            <a:r>
              <a:rPr lang="en-ID" dirty="0" err="1"/>
              <a:t>mendalam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kinerja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dirty="0"/>
              <a:t>Hasil </a:t>
            </a:r>
            <a:r>
              <a:rPr lang="en-ID" dirty="0" err="1"/>
              <a:t>penilaian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: </a:t>
            </a:r>
            <a:r>
              <a:rPr lang="sv-SE" dirty="0"/>
              <a:t>Jira mendapat skor terbaik (8,99), </a:t>
            </a:r>
            <a:r>
              <a:rPr lang="nl-NL" dirty="0"/>
              <a:t>Docker (7,26), Asana (6,49), Microsoft Project (5,71), dan Trello (5,18).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38136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0D78-4437-59BB-FAED-6F3CECC95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Kesimpulan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BD9D3-31DF-F9DF-3A34-03907AB4D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keberhasilan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sangat </a:t>
            </a:r>
            <a:r>
              <a:rPr lang="en-ID" dirty="0" err="1"/>
              <a:t>dipengaruhi</a:t>
            </a:r>
            <a:r>
              <a:rPr lang="en-ID" dirty="0"/>
              <a:t> oleh </a:t>
            </a:r>
            <a:r>
              <a:rPr lang="en-ID" dirty="0" err="1"/>
              <a:t>pemilihan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bantu</a:t>
            </a:r>
            <a:r>
              <a:rPr lang="en-ID" dirty="0"/>
              <a:t> yang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.</a:t>
            </a:r>
          </a:p>
          <a:p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evaluasi</a:t>
            </a:r>
            <a:r>
              <a:rPr lang="en-ID" dirty="0"/>
              <a:t> </a:t>
            </a:r>
            <a:r>
              <a:rPr lang="en-ID" dirty="0" err="1"/>
              <a:t>sistematis</a:t>
            </a:r>
            <a:r>
              <a:rPr lang="en-ID" dirty="0"/>
              <a:t>, Jira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terbaik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paling </a:t>
            </a:r>
            <a:r>
              <a:rPr lang="en-ID" dirty="0" err="1"/>
              <a:t>lengkap</a:t>
            </a:r>
            <a:r>
              <a:rPr lang="en-ID" dirty="0"/>
              <a:t>,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fase</a:t>
            </a:r>
            <a:r>
              <a:rPr lang="en-ID" dirty="0"/>
              <a:t> SDLC, dan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integrasi</a:t>
            </a:r>
            <a:r>
              <a:rPr lang="en-ID" dirty="0"/>
              <a:t> </a:t>
            </a:r>
            <a:r>
              <a:rPr lang="en-ID" dirty="0" err="1"/>
              <a:t>teknis</a:t>
            </a:r>
            <a:r>
              <a:rPr lang="en-ID" dirty="0"/>
              <a:t> yang </a:t>
            </a:r>
            <a:r>
              <a:rPr lang="en-ID" dirty="0" err="1"/>
              <a:t>kuat</a:t>
            </a:r>
            <a:r>
              <a:rPr lang="en-ID" dirty="0"/>
              <a:t>.</a:t>
            </a:r>
          </a:p>
          <a:p>
            <a:r>
              <a:rPr lang="en-ID" dirty="0"/>
              <a:t>Asana dan Microsoft Project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layak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konteks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, </a:t>
            </a:r>
            <a:r>
              <a:rPr lang="en-ID" dirty="0" err="1"/>
              <a:t>sementara</a:t>
            </a:r>
            <a:r>
              <a:rPr lang="en-ID" dirty="0"/>
              <a:t> Docker dan Trello </a:t>
            </a:r>
            <a:r>
              <a:rPr lang="en-ID" dirty="0" err="1"/>
              <a:t>dinilai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komprehensif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penuh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611393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38</TotalTime>
  <Words>442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EVALUASI ALAT PENDUKUNG PADA MANAJEMEN PROYEK PERANGKAT LUNAK : UNTUK PENGEMBANGAN PERANGKAT LUNAK</vt:lpstr>
      <vt:lpstr>Identitas Jurnal</vt:lpstr>
      <vt:lpstr>Pendahuluan</vt:lpstr>
      <vt:lpstr>Tujuan</vt:lpstr>
      <vt:lpstr>Metode dan Subjek</vt:lpstr>
      <vt:lpstr>Pembahasan</vt:lpstr>
      <vt:lpstr>Kesimpulan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Fakultas Ekonomi</dc:creator>
  <cp:lastModifiedBy>Fakultas Ekonomi</cp:lastModifiedBy>
  <cp:revision>4</cp:revision>
  <dcterms:created xsi:type="dcterms:W3CDTF">2025-12-01T01:56:37Z</dcterms:created>
  <dcterms:modified xsi:type="dcterms:W3CDTF">2025-12-01T02:35:15Z</dcterms:modified>
</cp:coreProperties>
</file>